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heshForResu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92608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2628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1F5F9"/>
                </a:solidFill>
              </a:defRPr>
            </a:pPr>
            <a:r>
              <a:t>Bangalore, India</a:t>
            </a:r>
          </a:p>
          <a:p>
            <a:pPr>
              <a:spcAft>
                <a:spcPts val="400"/>
              </a:spcAft>
              <a:defRPr sz="1150">
                <a:solidFill>
                  <a:srgbClr val="CBD5E1"/>
                </a:solidFill>
              </a:defRPr>
            </a:pPr>
            <a:r>
              <a:t>+91 9535253329 / 7022407280</a:t>
            </a:r>
          </a:p>
          <a:p>
            <a:pPr>
              <a:spcAft>
                <a:spcPts val="400"/>
              </a:spcAft>
              <a:defRPr sz="1150">
                <a:solidFill>
                  <a:srgbClr val="38BDF8"/>
                </a:solidFill>
              </a:defRPr>
            </a:pPr>
            <a:r>
              <a:t>hid.mahesh@gmail.com</a:t>
            </a:r>
          </a:p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</a:defRPr>
            </a:pPr>
            <a:r>
              <a:t>hegdemahesh.in</a:t>
            </a:r>
          </a:p>
          <a:p>
            <a:pPr>
              <a:defRPr sz="1050">
                <a:solidFill>
                  <a:srgbClr val="38BDF8"/>
                </a:solidFill>
              </a:defRPr>
            </a:pPr>
            <a:r>
              <a:t>linkedin.com/in/maheshchandrahegde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749808"/>
            <a:ext cx="7479792" cy="5577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FFFFF"/>
                </a:solidFill>
              </a:defRPr>
            </a:pPr>
            <a:r>
              <a:t>Maheshchandra Hegde</a:t>
            </a:r>
          </a:p>
          <a:p>
            <a:pPr>
              <a:spcAft>
                <a:spcPts val="1400"/>
              </a:spcAft>
              <a:defRPr sz="1350" b="1">
                <a:solidFill>
                  <a:srgbClr val="38BDF8"/>
                </a:solidFill>
              </a:defRPr>
            </a:pPr>
            <a:r>
              <a:t>Founder &amp; Technology Leader at Technoayan Digital Transformation Services Pvt. Ltd. | Building AI‑driven 3D asset platforms and 3d computing solutions @srushtilabs.com</a:t>
            </a:r>
          </a:p>
          <a:p>
            <a:pPr>
              <a:spcAft>
                <a:spcPts val="1200"/>
              </a:spcAft>
              <a:defRPr sz="1150">
                <a:solidFill>
                  <a:srgbClr val="E2E8F0"/>
                </a:solidFill>
              </a:defRPr>
            </a:pPr>
            <a:r>
              <a:t>Innovative technologist and product strategist with 18+ years of experience architecting end-to-end digital products, interactive 3D experiences, and domain-specific SaaS platforms. Co-Founder and Technology Leader at Technoyana Digital Transformation Services Pvt. Ltd., driving product architecture and creative tech vision across flagship divisions:</a:t>
            </a:r>
            <a:br/>
            <a:br/>
            <a:r>
              <a:t>• Twitan.com — AI-driven sports tournament management APP &amp; operational SaaS suite (Shutlify badminton OS).</a:t>
            </a:r>
            <a:br/>
            <a:r>
              <a:t>• Srushtilabs.com — Generative AI &amp; modular 3D computing platform for games, simulations, and 3D visualization.</a:t>
            </a:r>
            <a:br/>
            <a:br/>
            <a:r>
              <a:t>Founder &amp; CTO with a postgraduate degree in Human Interface Design and Development (M.S. in Computing, Robert Gordon University, UK) and an engineering background in Electronics &amp; Communication (B.E.). Expertise spans modern web/mobile stacks (React, TypeScript, Angular, Web Components, Node.js, Firebase), interactive 3D/PBR pipelines, and design-to-code automation.</a:t>
            </a:r>
          </a:p>
          <a:p>
            <a:pPr>
              <a:defRPr sz="1100" i="1">
                <a:solidFill>
                  <a:srgbClr val="38BDF8"/>
                </a:solidFill>
              </a:defRPr>
            </a:pPr>
            <a:r>
              <a:t>Architectural Heritage: Growing up assisting my architect father in his studio provided my earliest practical foundation in architectural drawings, building elevations, spatial planning, and CAD drafting—fostering a lifelong synergy between software systems and 3D spatial tech.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Technoyana &amp; SrushtiLabs: Generative 3D Platforms &amp; Spatial Computing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Voxelforge AI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Modular 3D Generative AI Platform | srushtilabs.com/voxelforge/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Role &amp; Entity: </a:t>
            </a:r>
            <a:r>
              <a:rPr b="0" sz="1200">
                <a:solidFill>
                  <a:srgbClr val="475569"/>
                </a:solidFill>
              </a:rPr>
              <a:t>Founder &amp; CTO at SrushtiLabs (Technoyana Digital Transformation Services Pvt. Ltd.).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Core Product: </a:t>
            </a:r>
            <a:r>
              <a:rPr b="0" sz="1200">
                <a:solidFill>
                  <a:srgbClr val="475569"/>
                </a:solidFill>
              </a:rPr>
              <a:t>Developed Voxelforge AI, a generative AI product creating modular 3D assets based on user prompt inputs.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Gaming &amp; Visualization: </a:t>
            </a:r>
            <a:r>
              <a:rPr b="0" sz="1200">
                <a:solidFill>
                  <a:srgbClr val="475569"/>
                </a:solidFill>
              </a:rPr>
              <a:t>Produces game-ready, low-poly modular 3D models and bundles optimized for immediate integration into Unreal Engine, Unity, and real-time WebGL engines.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Prototyping Speed: </a:t>
            </a:r>
            <a:r>
              <a:rPr b="0" sz="1200">
                <a:solidFill>
                  <a:srgbClr val="475569"/>
                </a:solidFill>
              </a:rPr>
              <a:t>Automates prompt-to-3D geometry conversion, texture baking, and polygon reduction, cutting 3D asset turnaround from days to minutes.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Live Application: </a:t>
            </a:r>
            <a:r>
              <a:rPr b="0" sz="1200">
                <a:solidFill>
                  <a:srgbClr val="475569"/>
                </a:solidFill>
              </a:rPr>
              <a:t>Fully deployed and operational at srushtilabs.com/voxelforge/.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Ayam3d (Ayam = Dimension)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Parametric AI 3D Model Generation | ayam3d.in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Concept &amp; Vision: </a:t>
            </a:r>
            <a:r>
              <a:rPr b="0" sz="1200">
                <a:solidFill>
                  <a:srgbClr val="475569"/>
                </a:solidFill>
              </a:rPr>
              <a:t>Extended the Voxelforge concept into Ayam3d ('Ayam' meaning Dimension), focusing on parametric-based 3D model generation from natural language prompts.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Instant Generation: </a:t>
            </a:r>
            <a:r>
              <a:rPr b="0" sz="1200">
                <a:solidFill>
                  <a:srgbClr val="475569"/>
                </a:solidFill>
              </a:rPr>
              <a:t>Emphasizes generating structured 3D models in seconds utilizing custom trained AI models and geometric constraint solvers.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Investor Interest: </a:t>
            </a:r>
            <a:r>
              <a:rPr b="0" sz="1200">
                <a:solidFill>
                  <a:srgbClr val="475569"/>
                </a:solidFill>
              </a:rPr>
              <a:t>Successfully generated early investor interest, validating the market demand for real-time generative 3D synthesis.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Active Development: </a:t>
            </a:r>
            <a:r>
              <a:rPr b="0" sz="1200">
                <a:solidFill>
                  <a:srgbClr val="475569"/>
                </a:solidFill>
              </a:rPr>
              <a:t>Currently under active development; actively seeking partners and promoters to help scale the AI pipeline.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Application Reference: </a:t>
            </a:r>
            <a:r>
              <a:rPr b="0" sz="1200">
                <a:solidFill>
                  <a:srgbClr val="475569"/>
                </a:solidFill>
              </a:rPr>
              <a:t>Preliminary concept documentation available at ayam3d.in.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Cyient / PHILIPS: Intellispace Critical Care &amp; Anesthesia (ICCA)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42062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Philips ICCA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Intellispace Critical Care &amp; Anesthesia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Role: </a:t>
            </a:r>
            <a:r>
              <a:rPr b="0" sz="1200">
                <a:solidFill>
                  <a:srgbClr val="475569"/>
                </a:solidFill>
              </a:rPr>
              <a:t>Senior Technology Leader (React / NodeJS)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Tenure: </a:t>
            </a:r>
            <a:r>
              <a:rPr b="0" sz="1200">
                <a:solidFill>
                  <a:srgbClr val="475569"/>
                </a:solidFill>
              </a:rPr>
              <a:t>Nov 2023 – Mar 2025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Client &amp; Facility: </a:t>
            </a:r>
            <a:r>
              <a:rPr b="0" sz="1200">
                <a:solidFill>
                  <a:srgbClr val="475569"/>
                </a:solidFill>
              </a:rPr>
              <a:t>Cyient Limited for Philips Healthcare, Bangalore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Operational Reality: </a:t>
            </a:r>
            <a:r>
              <a:rPr b="0" sz="1200">
                <a:solidFill>
                  <a:srgbClr val="475569"/>
                </a:solidFill>
              </a:rPr>
              <a:t>Mission-critical hospital ICU and anesthesia suites operating continuously 24/7 with zero margin for error.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Delivery Mandate: </a:t>
            </a:r>
            <a:r>
              <a:rPr b="0" sz="1200">
                <a:solidFill>
                  <a:srgbClr val="475569"/>
                </a:solidFill>
              </a:rPr>
              <a:t>Delivered clinical software passing all stringent quality, reliability, and security gates established by Philips and hospital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89888"/>
            <a:ext cx="612648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1. Rigorous Quality Benchmarks &amp; Zero-Downtime Reliability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Successfully delivered the software to meet demanding medical quality requirements set by Philips and healthcare providers. Architected fail-safe clinical data rendering with zero memory leaks, ensuring bedside patient monitoring displays remain completely responsive across multi-day continuous operations.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2. Comprehensive Security Architecture &amp; Policy Enforcement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Enforced strict enterprise cybersecurity measures as per Philips global policies: integrated Multi-Factor Authentication (MFA), protected against Cross-Site Scripting (XSS) and injection vulnerabilities, enforced role-based access control (RBAC), and maintained immutable audit logs for sensitive patient medical data.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3. End-to-End Best Practices &amp; Scalable Modular Delivery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Led the end-to-end technical execution—from architectural design and modular component breakdown to automated test suites and production deployment. Delivered a fully supported software product backed by complete documentation and service support protocols.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Ness Digital Engineering &amp; Moonraft Innovation Labs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Ness Digital Engineering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Senior Analyst / Tech Lead | Oct 2019 – Apr 2020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Project Focus: </a:t>
            </a:r>
            <a:r>
              <a:rPr b="0" sz="1200">
                <a:solidFill>
                  <a:srgbClr val="475569"/>
                </a:solidFill>
              </a:rPr>
              <a:t>Entertainment Management Application for a major client.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Technology Stack: </a:t>
            </a:r>
            <a:r>
              <a:rPr b="0" sz="1200">
                <a:solidFill>
                  <a:srgbClr val="475569"/>
                </a:solidFill>
              </a:rPr>
              <a:t>Angular, TypeScript, AWS cloud infrastructure, Node.js.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System Architecture: </a:t>
            </a:r>
            <a:r>
              <a:rPr b="0" sz="1200">
                <a:solidFill>
                  <a:srgbClr val="475569"/>
                </a:solidFill>
              </a:rPr>
              <a:t>Architected the complete single-page application structure, establishing clean state management and secure API communication layers.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Standards &amp; Best Practices: </a:t>
            </a:r>
            <a:r>
              <a:rPr b="0" sz="1200">
                <a:solidFill>
                  <a:srgbClr val="475569"/>
                </a:solidFill>
              </a:rPr>
              <a:t>Enforced accessibility standards (WCAG), code quality linters, and strict frontend security guidelines across the engineering team.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Technical Leadership: </a:t>
            </a:r>
            <a:r>
              <a:rPr b="0" sz="1200">
                <a:solidFill>
                  <a:srgbClr val="475569"/>
                </a:solidFill>
              </a:rPr>
              <a:t>Led the development squad through agile sprints, code reviews, and end-to-end technical deployment to client environments on schedule.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Moonraft Innovation Labs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UI Architect | May 2019 – Jul 2019 (UST Global Specialized Unit)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Enterprise Design System: </a:t>
            </a:r>
            <a:r>
              <a:rPr b="0" sz="1200">
                <a:solidFill>
                  <a:srgbClr val="475569"/>
                </a:solidFill>
              </a:rPr>
              <a:t>Architected and engineered a centralized cross-framework UI Design System using LitElement Web Components, React, AngularJS, Node.js, and npm packaging.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Eliminated Duplication: </a:t>
            </a:r>
            <a:r>
              <a:rPr b="0" sz="1200">
                <a:solidFill>
                  <a:srgbClr val="475569"/>
                </a:solidFill>
              </a:rPr>
              <a:t>Stored all standardized UI components in a central repository, preventing teams from reinventing the wheel for new client projects.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Unified Look &amp; Feel: </a:t>
            </a:r>
            <a:r>
              <a:rPr b="0" sz="1200">
                <a:solidFill>
                  <a:srgbClr val="475569"/>
                </a:solidFill>
              </a:rPr>
              <a:t>Guaranteed visual consistency and brand coherence across all digital products from a single, shared codebase.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Automated Upgradability: </a:t>
            </a:r>
            <a:r>
              <a:rPr b="0" sz="1200">
                <a:solidFill>
                  <a:srgbClr val="475569"/>
                </a:solidFill>
              </a:rPr>
              <a:t>When the core component library is updated, client projects automatically inherit updates and enhancements via standard package management.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Luxury Hotel Mobile App: </a:t>
            </a:r>
            <a:r>
              <a:rPr b="0" sz="1200">
                <a:solidFill>
                  <a:srgbClr val="475569"/>
                </a:solidFill>
              </a:rPr>
              <a:t>Led mobile application development for a premier Indian hotel group (TLC Group of Hotels) built using Ionic and Angular.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UST Global / CISCO: Stadium Vision Director Migration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42062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Cisco Stadium Vision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Stadium Vision Director Enterprise Platform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Role: </a:t>
            </a:r>
            <a:r>
              <a:rPr b="0" sz="1200">
                <a:solidFill>
                  <a:srgbClr val="475569"/>
                </a:solidFill>
              </a:rPr>
              <a:t>Senior Analyst &amp; Associate Project Manager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Tenure: </a:t>
            </a:r>
            <a:r>
              <a:rPr b="0" sz="1200">
                <a:solidFill>
                  <a:srgbClr val="475569"/>
                </a:solidFill>
              </a:rPr>
              <a:t>Feb 2015 – Feb 2019 (4+ Years Dedicated Tenure)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Client: </a:t>
            </a:r>
            <a:r>
              <a:rPr b="0" sz="1200">
                <a:solidFill>
                  <a:srgbClr val="475569"/>
                </a:solidFill>
              </a:rPr>
              <a:t>Cisco Systems India Private Limited via UST Global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Product Scope: </a:t>
            </a:r>
            <a:r>
              <a:rPr b="0" sz="1200">
                <a:solidFill>
                  <a:srgbClr val="475569"/>
                </a:solidFill>
              </a:rPr>
              <a:t>Centralized digital media, live video distribution, and dynamic stadium display management deployed at major international sporting arenas.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Core Mandate: </a:t>
            </a:r>
            <a:r>
              <a:rPr b="0" sz="1200">
                <a:solidFill>
                  <a:srgbClr val="475569"/>
                </a:solidFill>
              </a:rPr>
              <a:t>Modernize a massive legacy application suite with numerous active sub-applications and active global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89888"/>
            <a:ext cx="612648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1. Phased Zero-Downtime Migration from Legacy Flash/Flex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The platform was originally built using Adobe Flash, Flex, and ActionScript. Took technical leadership in architecting and executing a phased migration to modern Angular and React modules without interrupting active stadium operations or breaking existing client workflows.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2. Hybrid Interoperability &amp; Multi-Stack Engineering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Maintained seamless interoperability between legacy components and modernized Single Page Application (SPA) modules using TypeScript, Angular, React, and Node.js backend services until complete deprecation was achieved.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3. Sub-Application Management &amp; Sustained Excellence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Governed multiple parallel UI sub-applications serving venue operators, technicians, and broadcast controllers. Awarded multiple Certificates of Excellence by UST Global (2015, 2016, 2018) for client-first commitment and outstanding delivery.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ThoughtFocus Technologies: Aftermarket Parts 3D Explorer &amp; Enterprise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Aftermarket Parts Explorer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UI Architect &amp; Tech Lead | Oct 2011 – Mar 2014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Platform Scope: </a:t>
            </a:r>
            <a:r>
              <a:rPr b="0" sz="1200">
                <a:solidFill>
                  <a:srgbClr val="475569"/>
                </a:solidFill>
              </a:rPr>
              <a:t>Massive parts marketplace serving aftermarket automotive &amp; industrial parts vendors and buyers.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Scale &amp; Catalog: </a:t>
            </a:r>
            <a:r>
              <a:rPr b="0" sz="1200">
                <a:solidFill>
                  <a:srgbClr val="475569"/>
                </a:solidFill>
              </a:rPr>
              <a:t>Supported millions of parts across hundreds of manufacturer catalogs with deep search capabilities.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Interactive 3D Viewer: </a:t>
            </a:r>
            <a:r>
              <a:rPr b="0" sz="1200">
                <a:solidFill>
                  <a:srgbClr val="475569"/>
                </a:solidFill>
              </a:rPr>
              <a:t>Architected an interactive 3D interface allowing buyers to inspect 3D models and dimensions of thousands of components before purchase.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Full E-Commerce Flow: </a:t>
            </a:r>
            <a:r>
              <a:rPr b="0" sz="1200">
                <a:solidFill>
                  <a:srgbClr val="475569"/>
                </a:solidFill>
              </a:rPr>
              <a:t>Integrated shopping cart, quotation workflows, and secure payment gateway integrations.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Technologies Used: </a:t>
            </a:r>
            <a:r>
              <a:rPr b="0" sz="1200">
                <a:solidFill>
                  <a:srgbClr val="475569"/>
                </a:solidFill>
              </a:rPr>
              <a:t>Adobe Flex, ActionScript, Mate architectural framework, HTML, CSS, and backend data services.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Enterprise UI Solutions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Prototyping &amp; Multi-Client Solutions Delivery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Design-to-Code Pipeline: </a:t>
            </a:r>
            <a:r>
              <a:rPr b="0" sz="1200">
                <a:solidFill>
                  <a:srgbClr val="475569"/>
                </a:solidFill>
              </a:rPr>
              <a:t>Established an early user involvement process—validating concepts with interactive mockups and prototypes prior to delivery.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Enterprise Search App: </a:t>
            </a:r>
            <a:r>
              <a:rPr b="0" sz="1200">
                <a:solidFill>
                  <a:srgbClr val="475569"/>
                </a:solidFill>
              </a:rPr>
              <a:t>Guided team to design and bootstrap a high-speed enterprise search application with advanced filtering and metadata indexing.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Dairy / Milk Corporation App: </a:t>
            </a:r>
            <a:r>
              <a:rPr b="0" sz="1200">
                <a:solidFill>
                  <a:srgbClr val="475569"/>
                </a:solidFill>
              </a:rPr>
              <a:t>Led the architecture and delivery of an operational management application for a large milk corporation handling distribution and supply logistics.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Technology Stack: </a:t>
            </a:r>
            <a:r>
              <a:rPr b="0" sz="1200">
                <a:solidFill>
                  <a:srgbClr val="475569"/>
                </a:solidFill>
              </a:rPr>
              <a:t>HTML, CSS, JavaScript, TypeScript, Adobe Flex, Flash, and early Single-Page Application patterns.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Mentorship &amp; Guidance: </a:t>
            </a:r>
            <a:r>
              <a:rPr b="0" sz="1200">
                <a:solidFill>
                  <a:srgbClr val="475569"/>
                </a:solidFill>
              </a:rPr>
              <a:t>Coached junior engineers on clean modular UI architecture and user-centered design standards.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Cisco &amp; Vodafone BMS Dashboards &amp; Technoyana Specialized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Cisco &amp; Vodafone Dashboards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Building Management Systems (BMS) Unified Interface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Facility Dashboard at Cisco: </a:t>
            </a:r>
            <a:r>
              <a:rPr b="0" sz="1200">
                <a:solidFill>
                  <a:srgbClr val="475569"/>
                </a:solidFill>
              </a:rPr>
              <a:t>Designed and developed an interactive facility dashboard at Cisco Systems campus as a full-time consultant (2009–2010).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Unified BMS Control: </a:t>
            </a:r>
            <a:r>
              <a:rPr b="0" sz="1200">
                <a:solidFill>
                  <a:srgbClr val="475569"/>
                </a:solidFill>
              </a:rPr>
              <a:t>Connected to and visualized diverse Building Management Systems: Air Handling Units (AHUs), Variable Refrigerant Volume (VRVs), industrial chillers, and power meters.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Environmental Telemetry: </a:t>
            </a:r>
            <a:r>
              <a:rPr b="0" sz="1200">
                <a:solidFill>
                  <a:srgbClr val="475569"/>
                </a:solidFill>
              </a:rPr>
              <a:t>Provided facility managers with real-time operational status, thermal mapping, energy consumption, and alarm thresholds.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Formal Cisco Recognition: </a:t>
            </a:r>
            <a:r>
              <a:rPr b="0" sz="1200">
                <a:solidFill>
                  <a:srgbClr val="475569"/>
                </a:solidFill>
              </a:rPr>
              <a:t>Received official Certificate of Appreciation from Cisco leadership in 2010 for outstanding visualization and operational utility.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Vodafone Solutions: </a:t>
            </a:r>
            <a:r>
              <a:rPr b="0" sz="1200">
                <a:solidFill>
                  <a:srgbClr val="475569"/>
                </a:solidFill>
              </a:rPr>
              <a:t>Delivered specialized data visualization dashboards for Vodafone operations to monitor network and facility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Specialized Engineering Projects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CAD/CAM, CNC, 3D Visualization &amp; Mobile Products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Architectural Visualization: </a:t>
            </a:r>
            <a:r>
              <a:rPr b="0" sz="1200">
                <a:solidFill>
                  <a:srgbClr val="475569"/>
                </a:solidFill>
              </a:rPr>
              <a:t>Delivered multiple architectural 3D visualizations, spatial renderings, and walkthroughs for commercial and real estate projects.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CAD/CAM &amp; CNC Development: </a:t>
            </a:r>
            <a:r>
              <a:rPr b="0" sz="1200">
                <a:solidFill>
                  <a:srgbClr val="475569"/>
                </a:solidFill>
              </a:rPr>
              <a:t>Led customized CNC machine development and automated CAD/CAM toolpath pipelines, bridging physical fabrication with digital software.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SellAny Mobile Marketplace: </a:t>
            </a:r>
            <a:r>
              <a:rPr b="0" sz="1200">
                <a:solidFill>
                  <a:srgbClr val="475569"/>
                </a:solidFill>
              </a:rPr>
              <a:t>Built and launched 'SellAny'—a consumer mobile application allowing users to list and sell items effortlessly.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Payment Parking Mobile App: </a:t>
            </a:r>
            <a:r>
              <a:rPr b="0" sz="1200">
                <a:solidFill>
                  <a:srgbClr val="475569"/>
                </a:solidFill>
              </a:rPr>
              <a:t>Led an engineering team to develop an automated parking payment mobile application with real-time slot occupancy tracking.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Flight Simulation Visuals (CAE): </a:t>
            </a:r>
            <a:r>
              <a:rPr b="0" sz="1200">
                <a:solidFill>
                  <a:srgbClr val="475569"/>
                </a:solidFill>
              </a:rPr>
              <a:t>Visual Database Developer creating 3D terrain and aircraft simulation databases under locked 60 FPS budgets.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Comprehensive Skillset Matrix Across 18+ Years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284C7"/>
                </a:solidFill>
              </a:defRPr>
            </a:pPr>
            <a:r>
              <a:t>1. Scalable Frontend &amp; Modular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React, Angular, TypeScript, JavaScript, Node.js, Web Components (LitElement).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Architected Enterprise UI Design Systems used across diverse development teams.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State management, micro-frontends, REST, WebSockets, and streaming telemetry.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4-year zero-downtime migration of Cisco Stadium Vision from Flash/Flex to Angular/React.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E7490"/>
                </a:solidFill>
              </a:defRPr>
            </a:pPr>
            <a:r>
              <a:t>2. Spatial 3D, CAD &amp; Generative AI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Voxelforge AI (generative modular 3D for Unreal/Unity/WebGL) &amp; Ayam3d (parametric 3D).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Architectural 3D visualization, animated walkthroughs, and CAD/CAM CNC machine development.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Flight simulator 3D terrain and aircraft databases under locked 60 FPS budgets (CAE).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Interactive 3D parts inspection explorer supporting millions of catalog components.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13632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D97706"/>
                </a:solidFill>
              </a:defRPr>
            </a:pPr>
            <a:r>
              <a:t>3. High Reliability &amp; Operational Security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Delivered Philips ICU healthcare software meeting stringent clinical safety benchmarks.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Strict cybersecurity enforcement: Multi-factor authentication (MFA), XSS mitigation, RBAC.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Offline-first mobile architecture (IndexedDB/Service Workers) with conflict-free cloud sync.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Building Management System (BMS) unified interface for AHUs, chillers, and telemetry (Cisco).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913632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109563"/>
                </a:solidFill>
              </a:defRPr>
            </a:pPr>
            <a:r>
              <a:t>4. Agile Leadership &amp; Startup Delivery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Founder/Co-Founder: Technoyana, Twitan.com, SrushtiLabs, InnoBrik.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Associate Project Manager at UST Global; managed cross-functional squads for Cisco.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Early user prototyping, design-to-code pipelines, and active stakeholder governance.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Honored with Cisco Appreciation (2010) and 3 UST Global Excellence Awards (2015, 2016, 2018).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72865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Design and Engineering Synthesis: </a:t>
            </a:r>
            <a:r>
              <a:rPr b="0" sz="1250">
                <a:solidFill>
                  <a:srgbClr val="E2E8F0"/>
                </a:solidFill>
              </a:rPr>
              <a:t>Holding a postgraduate degree in Human Interface Design (M.S. in Computing, UK) combined with an engineering degree in Electronics and Communication (B.E.), I bring a rare, balanced capability spanning both human-centered UX design and deep technical software architecture.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Proven Breadth Across Startup Velocity &amp; Enterprise Scale: </a:t>
            </a:r>
            <a:r>
              <a:rPr b="0" sz="1250">
                <a:solidFill>
                  <a:srgbClr val="E2E8F0"/>
                </a:solidFill>
              </a:rPr>
              <a:t>My 18+ years of experience encompass leading agile, high-velocity startup product incubation (Technoyana, SrushtiLabs, Twitan, InnoBrik) as well as managing complex multi-year enterprise projects with stringent quality, security, and uptime mandates (Philips ICU Healthcare, Cisco Systems, UST Global, Ness).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Handling Products Across Every Stage of the Lifecycle: </a:t>
            </a:r>
            <a:r>
              <a:rPr b="0" sz="1250">
                <a:solidFill>
                  <a:srgbClr val="E2E8F0"/>
                </a:solidFill>
              </a:rPr>
              <a:t>Demonstrated expertise across every product phase: early discovery prototypes, building reusable design systems, legacy system migrations (Flash to Angular/React), production deployment, security compliance, and long-term customer support.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Pledge for Self-Training &amp; Certification: </a:t>
            </a:r>
            <a:r>
              <a:rPr b="0" sz="1250">
                <a:solidFill>
                  <a:srgbClr val="E2E8F0"/>
                </a:solidFill>
              </a:rPr>
              <a:t>I am fully committed to the success of the organization and team. As per the specific operational requirements of the Senior Manager – IT role, I pledge to proactively upskill myself and complete any required enterprise certifications (e.g., Cloud Architecture, ITIL, Cybersecurity, or project governance) to align completely with team goals and project needs.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Maheshchandra Hegde  |  hid.mahesh@gmail.com  |  +91 9535253329 / 7022407280  |  hegdemahesh.in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