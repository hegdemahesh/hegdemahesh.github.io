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274320" cy="4663440"/>
          </a:xfrm>
          <a:prstGeom prst="rect">
            <a:avLst/>
          </a:prstGeom>
          <a:solidFill>
            <a:srgbClr val="CC22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0" y="1188720"/>
            <a:ext cx="10058400" cy="2926080"/>
          </a:xfrm>
          <a:prstGeom prst="rect">
            <a:avLst/>
          </a:prstGeom>
          <a:noFill/>
        </p:spPr>
        <p:txBody>
          <a:bodyPr wrap="square">
            <a:spAutoFit/>
          </a:bodyPr>
          <a:lstStyle/>
          <a:p>
            <a:pPr>
              <a:spcAft>
                <a:spcPts val="1400"/>
              </a:spcAft>
              <a:defRPr sz="1300" b="1">
                <a:solidFill>
                  <a:srgbClr val="94A3B8"/>
                </a:solidFill>
              </a:defRPr>
            </a:pPr>
            <a:r>
              <a:t>OBAYASHI CORPORATION  |  FINAL INTERVIEW SUBMISSION</a:t>
            </a:r>
          </a:p>
          <a:p>
            <a:pPr>
              <a:spcAft>
                <a:spcPts val="1200"/>
              </a:spcAft>
              <a:defRPr sz="2800" b="1">
                <a:solidFill>
                  <a:srgbClr val="FFFFFF"/>
                </a:solidFill>
              </a:defRPr>
            </a:pPr>
            <a:r>
              <a:t>Executive Work Experience &amp; Strategic IT Capability Presentation</a:t>
            </a:r>
          </a:p>
          <a:p>
            <a:pPr>
              <a:spcAft>
                <a:spcPts val="800"/>
              </a:spcAft>
              <a:defRPr sz="1700" b="1">
                <a:solidFill>
                  <a:srgbClr val="38BDF8"/>
                </a:solidFill>
              </a:defRPr>
            </a:pPr>
            <a:r>
              <a:t>Candidate: Maheshchandra Hegde  |  Position: Senior Manager – IT</a:t>
            </a:r>
          </a:p>
          <a:p>
            <a:pPr>
              <a:defRPr sz="1250">
                <a:solidFill>
                  <a:srgbClr val="CBD5E1"/>
                </a:solidFill>
              </a:defRPr>
            </a:pPr>
            <a:r>
              <a:t>A comprehensive portfolio mapping enterprise technology leadership, mission-critical infrastructure, 3D visualization / spatial AI engineering (Voxelforge AI, ayam3d), and operational resilience to Obayashi's global engineering mandates.</a:t>
            </a:r>
          </a:p>
        </p:txBody>
      </p:sp>
      <p:sp>
        <p:nvSpPr>
          <p:cNvPr id="5" name="Rounded Rectangle 4"/>
          <p:cNvSpPr/>
          <p:nvPr/>
        </p:nvSpPr>
        <p:spPr>
          <a:xfrm>
            <a:off x="1280160" y="4480560"/>
            <a:ext cx="2514600" cy="1234440"/>
          </a:xfrm>
          <a:prstGeom prst="roundRect">
            <a:avLst/>
          </a:prstGeom>
          <a:solidFill>
            <a:srgbClr val="182B49"/>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417320" y="4617720"/>
            <a:ext cx="2240280" cy="960120"/>
          </a:xfrm>
          <a:prstGeom prst="rect">
            <a:avLst/>
          </a:prstGeom>
          <a:noFill/>
        </p:spPr>
        <p:txBody>
          <a:bodyPr wrap="square">
            <a:spAutoFit/>
          </a:bodyPr>
          <a:lstStyle/>
          <a:p>
            <a:pPr>
              <a:spcAft>
                <a:spcPts val="400"/>
              </a:spcAft>
              <a:defRPr sz="1200" b="1">
                <a:solidFill>
                  <a:srgbClr val="FFFFFF"/>
                </a:solidFill>
              </a:defRPr>
            </a:pPr>
            <a:r>
              <a:t>IT Operations &amp; Infra</a:t>
            </a:r>
          </a:p>
          <a:p>
            <a:pPr>
              <a:defRPr sz="950">
                <a:solidFill>
                  <a:srgbClr val="94A3B8"/>
                </a:solidFill>
              </a:defRPr>
            </a:pPr>
            <a:r>
              <a:t>High availability, hybrid cloud, disaster recovery &amp; multi-site continuity</a:t>
            </a:r>
          </a:p>
        </p:txBody>
      </p:sp>
      <p:sp>
        <p:nvSpPr>
          <p:cNvPr id="7" name="Rounded Rectangle 6"/>
          <p:cNvSpPr/>
          <p:nvPr/>
        </p:nvSpPr>
        <p:spPr>
          <a:xfrm>
            <a:off x="4014216" y="4480560"/>
            <a:ext cx="2514600" cy="1234440"/>
          </a:xfrm>
          <a:prstGeom prst="roundRect">
            <a:avLst/>
          </a:prstGeom>
          <a:solidFill>
            <a:srgbClr val="182B49"/>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51376" y="4617720"/>
            <a:ext cx="2240280" cy="960120"/>
          </a:xfrm>
          <a:prstGeom prst="rect">
            <a:avLst/>
          </a:prstGeom>
          <a:noFill/>
        </p:spPr>
        <p:txBody>
          <a:bodyPr wrap="square">
            <a:spAutoFit/>
          </a:bodyPr>
          <a:lstStyle/>
          <a:p>
            <a:pPr>
              <a:spcAft>
                <a:spcPts val="400"/>
              </a:spcAft>
              <a:defRPr sz="1200" b="1">
                <a:solidFill>
                  <a:srgbClr val="FFFFFF"/>
                </a:solidFill>
              </a:defRPr>
            </a:pPr>
            <a:r>
              <a:t>Cybersecurity &amp; Risk</a:t>
            </a:r>
          </a:p>
          <a:p>
            <a:pPr>
              <a:defRPr sz="950">
                <a:solidFill>
                  <a:srgbClr val="94A3B8"/>
                </a:solidFill>
              </a:defRPr>
            </a:pPr>
            <a:r>
              <a:t>Zero Trust, access controls, vulnerability mitigation &amp; ISO compliance</a:t>
            </a:r>
          </a:p>
        </p:txBody>
      </p:sp>
      <p:sp>
        <p:nvSpPr>
          <p:cNvPr id="9" name="Rounded Rectangle 8"/>
          <p:cNvSpPr/>
          <p:nvPr/>
        </p:nvSpPr>
        <p:spPr>
          <a:xfrm>
            <a:off x="6748272" y="4480560"/>
            <a:ext cx="2514600" cy="1234440"/>
          </a:xfrm>
          <a:prstGeom prst="roundRect">
            <a:avLst/>
          </a:prstGeom>
          <a:solidFill>
            <a:srgbClr val="182B49"/>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85432" y="4617720"/>
            <a:ext cx="2240280" cy="960120"/>
          </a:xfrm>
          <a:prstGeom prst="rect">
            <a:avLst/>
          </a:prstGeom>
          <a:noFill/>
        </p:spPr>
        <p:txBody>
          <a:bodyPr wrap="square">
            <a:spAutoFit/>
          </a:bodyPr>
          <a:lstStyle/>
          <a:p>
            <a:pPr>
              <a:spcAft>
                <a:spcPts val="400"/>
              </a:spcAft>
              <a:defRPr sz="1200" b="1">
                <a:solidFill>
                  <a:srgbClr val="FFFFFF"/>
                </a:solidFill>
              </a:defRPr>
            </a:pPr>
            <a:r>
              <a:t>3D Visualization &amp; AI</a:t>
            </a:r>
          </a:p>
          <a:p>
            <a:pPr>
              <a:defRPr sz="950">
                <a:solidFill>
                  <a:srgbClr val="94A3B8"/>
                </a:solidFill>
              </a:defRPr>
            </a:pPr>
            <a:r>
              <a:t>50+ 3D/CAD projects, Voxelforge AI, ayam3d, spatial digital twins</a:t>
            </a:r>
          </a:p>
        </p:txBody>
      </p:sp>
      <p:sp>
        <p:nvSpPr>
          <p:cNvPr id="11" name="Rounded Rectangle 10"/>
          <p:cNvSpPr/>
          <p:nvPr/>
        </p:nvSpPr>
        <p:spPr>
          <a:xfrm>
            <a:off x="9482328" y="4480560"/>
            <a:ext cx="2514600" cy="1234440"/>
          </a:xfrm>
          <a:prstGeom prst="roundRect">
            <a:avLst/>
          </a:prstGeom>
          <a:solidFill>
            <a:srgbClr val="182B49"/>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19488" y="4617720"/>
            <a:ext cx="2240280" cy="960120"/>
          </a:xfrm>
          <a:prstGeom prst="rect">
            <a:avLst/>
          </a:prstGeom>
          <a:noFill/>
        </p:spPr>
        <p:txBody>
          <a:bodyPr wrap="square">
            <a:spAutoFit/>
          </a:bodyPr>
          <a:lstStyle/>
          <a:p>
            <a:pPr>
              <a:spcAft>
                <a:spcPts val="400"/>
              </a:spcAft>
              <a:defRPr sz="1200" b="1">
                <a:solidFill>
                  <a:srgbClr val="FFFFFF"/>
                </a:solidFill>
              </a:defRPr>
            </a:pPr>
            <a:r>
              <a:t>Vendor &amp; Budget Control</a:t>
            </a:r>
          </a:p>
          <a:p>
            <a:pPr>
              <a:defRPr sz="950">
                <a:solidFill>
                  <a:srgbClr val="94A3B8"/>
                </a:solidFill>
              </a:defRPr>
            </a:pPr>
            <a:r>
              <a:t>SLA governance, contract management, resource optimization &amp; CapEx/OpEx</a:t>
            </a:r>
          </a:p>
        </p:txBody>
      </p:sp>
      <p:sp>
        <p:nvSpPr>
          <p:cNvPr id="13" name="TextBox 12"/>
          <p:cNvSpPr txBox="1"/>
          <p:nvPr/>
        </p:nvSpPr>
        <p:spPr>
          <a:xfrm>
            <a:off x="731520" y="6446520"/>
            <a:ext cx="10728655" cy="320040"/>
          </a:xfrm>
          <a:prstGeom prst="rect">
            <a:avLst/>
          </a:prstGeom>
          <a:noFill/>
        </p:spPr>
        <p:txBody>
          <a:bodyPr wrap="none" lIns="0" rIns="0" tIns="0" bIns="0">
            <a:spAutoFit/>
          </a:bodyPr>
          <a:lstStyle/>
          <a:p>
            <a:pPr>
              <a:defRPr sz="900">
                <a:solidFill>
                  <a:srgbClr val="94A3B8"/>
                </a:solidFill>
              </a:defRPr>
            </a:pPr>
            <a:r>
              <a:t>Obayashi Corporation · Senior Manager – IT Candidate Portfolio | Maheshchandra Hegde · Slide 1 of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74320"/>
          </a:xfrm>
          <a:prstGeom prst="rect">
            <a:avLst/>
          </a:prstGeom>
          <a:noFill/>
        </p:spPr>
        <p:txBody>
          <a:bodyPr wrap="square" lIns="0" rIns="0" tIns="0" bIns="0">
            <a:spAutoFit/>
          </a:bodyPr>
          <a:lstStyle/>
          <a:p>
            <a:pPr>
              <a:defRPr sz="1100" b="1">
                <a:solidFill>
                  <a:srgbClr val="004E96"/>
                </a:solidFill>
              </a:defRPr>
            </a:pPr>
            <a:r>
              <a:t>EXECUTIVE PROFILE</a:t>
            </a:r>
          </a:p>
        </p:txBody>
      </p:sp>
      <p:sp>
        <p:nvSpPr>
          <p:cNvPr id="4" name="TextBox 3"/>
          <p:cNvSpPr txBox="1"/>
          <p:nvPr/>
        </p:nvSpPr>
        <p:spPr>
          <a:xfrm>
            <a:off x="731520" y="658368"/>
            <a:ext cx="10698480" cy="502920"/>
          </a:xfrm>
          <a:prstGeom prst="rect">
            <a:avLst/>
          </a:prstGeom>
          <a:noFill/>
        </p:spPr>
        <p:txBody>
          <a:bodyPr wrap="square" lIns="0" rIns="0" tIns="0" bIns="0">
            <a:spAutoFit/>
          </a:bodyPr>
          <a:lstStyle/>
          <a:p>
            <a:pPr>
              <a:defRPr sz="2100" b="1">
                <a:solidFill>
                  <a:srgbClr val="0F1E36"/>
                </a:solidFill>
              </a:defRPr>
            </a:pPr>
            <a:r>
              <a:t>Strategic Leadership Profile &amp; Alignment with Obayashi Corporation</a:t>
            </a:r>
          </a:p>
        </p:txBody>
      </p:sp>
      <p:sp>
        <p:nvSpPr>
          <p:cNvPr id="5" name="Rectangle 4"/>
          <p:cNvSpPr/>
          <p:nvPr/>
        </p:nvSpPr>
        <p:spPr>
          <a:xfrm>
            <a:off x="731520" y="1234440"/>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384048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45920"/>
            <a:ext cx="3383280" cy="4389120"/>
          </a:xfrm>
          <a:prstGeom prst="rect">
            <a:avLst/>
          </a:prstGeom>
          <a:noFill/>
        </p:spPr>
        <p:txBody>
          <a:bodyPr wrap="square">
            <a:spAutoFit/>
          </a:bodyPr>
          <a:lstStyle/>
          <a:p>
            <a:pPr>
              <a:spcAft>
                <a:spcPts val="400"/>
              </a:spcAft>
              <a:defRPr sz="1800" b="1">
                <a:solidFill>
                  <a:srgbClr val="0F1E36"/>
                </a:solidFill>
              </a:defRPr>
            </a:pPr>
            <a:r>
              <a:t>Maheshchandra Hegde</a:t>
            </a:r>
          </a:p>
          <a:p>
            <a:pPr>
              <a:spcAft>
                <a:spcPts val="1200"/>
              </a:spcAft>
              <a:defRPr sz="1100" b="1">
                <a:solidFill>
                  <a:srgbClr val="004E96"/>
                </a:solidFill>
              </a:defRPr>
            </a:pPr>
            <a:r>
              <a:t>Technology Leader · Systems Architect · 3D Spatial Expert</a:t>
            </a:r>
          </a:p>
          <a:p>
            <a:pPr>
              <a:defRPr b="1" sz="1000">
                <a:solidFill>
                  <a:srgbClr val="0F1E36"/>
                </a:solidFill>
              </a:defRPr>
            </a:pPr>
            <a:r>
              <a:t>• Total Experience: </a:t>
            </a:r>
          </a:p>
          <a:p>
            <a:pPr>
              <a:spcAft>
                <a:spcPts val="600"/>
              </a:spcAft>
              <a:defRPr sz="950">
                <a:solidFill>
                  <a:srgbClr val="64748B"/>
                </a:solidFill>
              </a:defRPr>
            </a:pPr>
            <a:r>
              <a:t>  20+ Years leading enterprise IT, systems architectures &amp; digital delivery</a:t>
            </a:r>
          </a:p>
          <a:p>
            <a:pPr>
              <a:defRPr b="1" sz="1000">
                <a:solidFill>
                  <a:srgbClr val="0F1E36"/>
                </a:solidFill>
              </a:defRPr>
            </a:pPr>
            <a:r>
              <a:t>• Education: </a:t>
            </a:r>
          </a:p>
          <a:p>
            <a:pPr>
              <a:spcAft>
                <a:spcPts val="600"/>
              </a:spcAft>
              <a:defRPr sz="950">
                <a:solidFill>
                  <a:srgbClr val="64748B"/>
                </a:solidFill>
              </a:defRPr>
            </a:pPr>
            <a:r>
              <a:t>  MS in Computing (Robert Gordon Univ., UK) · B.E. in Electronics &amp; Communication</a:t>
            </a:r>
          </a:p>
          <a:p>
            <a:pPr>
              <a:defRPr b="1" sz="1000">
                <a:solidFill>
                  <a:srgbClr val="0F1E36"/>
                </a:solidFill>
              </a:defRPr>
            </a:pPr>
            <a:r>
              <a:t>• Key Tenures: </a:t>
            </a:r>
          </a:p>
          <a:p>
            <a:pPr>
              <a:spcAft>
                <a:spcPts val="600"/>
              </a:spcAft>
              <a:defRPr sz="950">
                <a:solidFill>
                  <a:srgbClr val="64748B"/>
                </a:solidFill>
              </a:defRPr>
            </a:pPr>
            <a:r>
              <a:t>  Cyient (Philips Critical Care), Technoyana, UST Global (Cisco Systems), CAE Simulation, Cognizant</a:t>
            </a:r>
          </a:p>
          <a:p>
            <a:pPr>
              <a:defRPr b="1" sz="1000">
                <a:solidFill>
                  <a:srgbClr val="0F1E36"/>
                </a:solidFill>
              </a:defRPr>
            </a:pPr>
            <a:r>
              <a:t>• Dual Mastery: </a:t>
            </a:r>
          </a:p>
          <a:p>
            <a:pPr>
              <a:spcAft>
                <a:spcPts val="600"/>
              </a:spcAft>
              <a:defRPr sz="950">
                <a:solidFill>
                  <a:srgbClr val="64748B"/>
                </a:solidFill>
              </a:defRPr>
            </a:pPr>
            <a:r>
              <a:t>  Enterprise IT Infrastructure / Cyber + 3D Visualization, CAD, BIM alignment &amp; Spatial AI</a:t>
            </a:r>
          </a:p>
          <a:p>
            <a:pPr>
              <a:defRPr b="1" sz="1000">
                <a:solidFill>
                  <a:srgbClr val="0F1E36"/>
                </a:solidFill>
              </a:defRPr>
            </a:pPr>
            <a:r>
              <a:t>• Industry Domain: </a:t>
            </a:r>
          </a:p>
          <a:p>
            <a:pPr>
              <a:spcAft>
                <a:spcPts val="600"/>
              </a:spcAft>
              <a:defRPr sz="950">
                <a:solidFill>
                  <a:srgbClr val="64748B"/>
                </a:solidFill>
              </a:defRPr>
            </a:pPr>
            <a:r>
              <a:t>  High-Reliability Healthcare, Enterprise Networking Dashboards, 3D Graphics &amp; SaaS</a:t>
            </a:r>
          </a:p>
        </p:txBody>
      </p:sp>
      <p:sp>
        <p:nvSpPr>
          <p:cNvPr id="8" name="Rounded Rectangle 7"/>
          <p:cNvSpPr/>
          <p:nvPr/>
        </p:nvSpPr>
        <p:spPr>
          <a:xfrm>
            <a:off x="4800600" y="1463040"/>
            <a:ext cx="6656832" cy="10789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983480" y="1572768"/>
            <a:ext cx="6291072" cy="859536"/>
          </a:xfrm>
          <a:prstGeom prst="rect">
            <a:avLst/>
          </a:prstGeom>
          <a:noFill/>
        </p:spPr>
        <p:txBody>
          <a:bodyPr wrap="square">
            <a:spAutoFit/>
          </a:bodyPr>
          <a:lstStyle/>
          <a:p>
            <a:pPr>
              <a:spcAft>
                <a:spcPts val="300"/>
              </a:spcAft>
              <a:defRPr sz="1200" b="1">
                <a:solidFill>
                  <a:srgbClr val="004E96"/>
                </a:solidFill>
              </a:defRPr>
            </a:pPr>
            <a:r>
              <a:t>1. Multi-Site Infrastructure &amp; High Availability</a:t>
            </a:r>
          </a:p>
          <a:p>
            <a:pPr>
              <a:defRPr sz="950">
                <a:solidFill>
                  <a:srgbClr val="1E293B"/>
                </a:solidFill>
              </a:defRPr>
            </a:pPr>
            <a:r>
              <a:t>Proven expertise running mission-critical platforms demanding 99.95%+ uptime. Direct experience engineering resilient edge systems that guarantee business continuity even during remote network dropouts.</a:t>
            </a:r>
          </a:p>
        </p:txBody>
      </p:sp>
      <p:sp>
        <p:nvSpPr>
          <p:cNvPr id="10" name="Rounded Rectangle 9"/>
          <p:cNvSpPr/>
          <p:nvPr/>
        </p:nvSpPr>
        <p:spPr>
          <a:xfrm>
            <a:off x="4800600" y="2688336"/>
            <a:ext cx="6656832" cy="10789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798064"/>
            <a:ext cx="6291072" cy="859536"/>
          </a:xfrm>
          <a:prstGeom prst="rect">
            <a:avLst/>
          </a:prstGeom>
          <a:noFill/>
        </p:spPr>
        <p:txBody>
          <a:bodyPr wrap="square">
            <a:spAutoFit/>
          </a:bodyPr>
          <a:lstStyle/>
          <a:p>
            <a:pPr>
              <a:spcAft>
                <a:spcPts val="300"/>
              </a:spcAft>
              <a:defRPr sz="1200" b="1">
                <a:solidFill>
                  <a:srgbClr val="004E96"/>
                </a:solidFill>
              </a:defRPr>
            </a:pPr>
            <a:r>
              <a:t>2. Cybersecurity Governance &amp; Risk Mitigation</a:t>
            </a:r>
          </a:p>
          <a:p>
            <a:pPr>
              <a:defRPr sz="950">
                <a:solidFill>
                  <a:srgbClr val="1E293B"/>
                </a:solidFill>
              </a:defRPr>
            </a:pPr>
            <a:r>
              <a:t>Strict adherence to compliance frameworks, role-based access governance (RBAC), data protection policies, secure CI/CD pipelines, and active threat vulnerability management.</a:t>
            </a:r>
          </a:p>
        </p:txBody>
      </p:sp>
      <p:sp>
        <p:nvSpPr>
          <p:cNvPr id="12" name="Rounded Rectangle 11"/>
          <p:cNvSpPr/>
          <p:nvPr/>
        </p:nvSpPr>
        <p:spPr>
          <a:xfrm>
            <a:off x="4800600" y="3913632"/>
            <a:ext cx="6656832" cy="10789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83480" y="4023360"/>
            <a:ext cx="6291072" cy="859536"/>
          </a:xfrm>
          <a:prstGeom prst="rect">
            <a:avLst/>
          </a:prstGeom>
          <a:noFill/>
        </p:spPr>
        <p:txBody>
          <a:bodyPr wrap="square">
            <a:spAutoFit/>
          </a:bodyPr>
          <a:lstStyle/>
          <a:p>
            <a:pPr>
              <a:spcAft>
                <a:spcPts val="300"/>
              </a:spcAft>
              <a:defRPr sz="1200" b="1">
                <a:solidFill>
                  <a:srgbClr val="004E96"/>
                </a:solidFill>
              </a:defRPr>
            </a:pPr>
            <a:r>
              <a:t>3. 3D Spatial Computing &amp; Digital Construction Synergy</a:t>
            </a:r>
          </a:p>
          <a:p>
            <a:pPr>
              <a:defRPr sz="950">
                <a:solidFill>
                  <a:srgbClr val="1E293B"/>
                </a:solidFill>
              </a:defRPr>
            </a:pPr>
            <a:r>
              <a:t>Rare blend of enterprise IT governance and hands-on 3D visualization expertise (50+ projects, Voxelforge AI, ayam3d), directly bridging traditional IT with Obayashi's BIM and Digital Twin roadmaps.</a:t>
            </a:r>
          </a:p>
        </p:txBody>
      </p:sp>
      <p:sp>
        <p:nvSpPr>
          <p:cNvPr id="14" name="Rounded Rectangle 13"/>
          <p:cNvSpPr/>
          <p:nvPr/>
        </p:nvSpPr>
        <p:spPr>
          <a:xfrm>
            <a:off x="4800600" y="5138928"/>
            <a:ext cx="6656832" cy="10789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83480" y="5248656"/>
            <a:ext cx="6291072" cy="859536"/>
          </a:xfrm>
          <a:prstGeom prst="rect">
            <a:avLst/>
          </a:prstGeom>
          <a:noFill/>
        </p:spPr>
        <p:txBody>
          <a:bodyPr wrap="square">
            <a:spAutoFit/>
          </a:bodyPr>
          <a:lstStyle/>
          <a:p>
            <a:pPr>
              <a:spcAft>
                <a:spcPts val="300"/>
              </a:spcAft>
              <a:defRPr sz="1200" b="1">
                <a:solidFill>
                  <a:srgbClr val="004E96"/>
                </a:solidFill>
              </a:defRPr>
            </a:pPr>
            <a:r>
              <a:t>4. Team Empowerment, Vendor Governance &amp; Fiscal Discipline</a:t>
            </a:r>
          </a:p>
          <a:p>
            <a:pPr>
              <a:defRPr sz="950">
                <a:solidFill>
                  <a:srgbClr val="1E293B"/>
                </a:solidFill>
              </a:defRPr>
            </a:pPr>
            <a:r>
              <a:t>Led cross-functional squads of engineers, QA, and analysts. Successfully managed third-party vendor contracts, cloud budgets (AWS/Azure/GCP), and SLA compliance.</a:t>
            </a:r>
          </a:p>
        </p:txBody>
      </p:sp>
      <p:sp>
        <p:nvSpPr>
          <p:cNvPr id="16" name="TextBox 15"/>
          <p:cNvSpPr txBox="1"/>
          <p:nvPr/>
        </p:nvSpPr>
        <p:spPr>
          <a:xfrm>
            <a:off x="731520" y="6446520"/>
            <a:ext cx="10728655" cy="320040"/>
          </a:xfrm>
          <a:prstGeom prst="rect">
            <a:avLst/>
          </a:prstGeom>
          <a:noFill/>
        </p:spPr>
        <p:txBody>
          <a:bodyPr wrap="none" lIns="0" rIns="0" tIns="0" bIns="0">
            <a:spAutoFit/>
          </a:bodyPr>
          <a:lstStyle/>
          <a:p>
            <a:pPr>
              <a:defRPr sz="900">
                <a:solidFill>
                  <a:srgbClr val="64748B"/>
                </a:solidFill>
              </a:defRPr>
            </a:pPr>
            <a:r>
              <a:t>Obayashi Corporation · Senior Manager – IT Candidate Portfolio | Maheshchandra Hegde · Slide 2 of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74320"/>
          </a:xfrm>
          <a:prstGeom prst="rect">
            <a:avLst/>
          </a:prstGeom>
          <a:noFill/>
        </p:spPr>
        <p:txBody>
          <a:bodyPr wrap="square" lIns="0" rIns="0" tIns="0" bIns="0">
            <a:spAutoFit/>
          </a:bodyPr>
          <a:lstStyle/>
          <a:p>
            <a:pPr>
              <a:defRPr sz="1100" b="1">
                <a:solidFill>
                  <a:srgbClr val="004E96"/>
                </a:solidFill>
              </a:defRPr>
            </a:pPr>
            <a:r>
              <a:t>PROJECT EXPERIENCE 1</a:t>
            </a:r>
          </a:p>
        </p:txBody>
      </p:sp>
      <p:sp>
        <p:nvSpPr>
          <p:cNvPr id="4" name="TextBox 3"/>
          <p:cNvSpPr txBox="1"/>
          <p:nvPr/>
        </p:nvSpPr>
        <p:spPr>
          <a:xfrm>
            <a:off x="731520" y="658368"/>
            <a:ext cx="10698480" cy="502920"/>
          </a:xfrm>
          <a:prstGeom prst="rect">
            <a:avLst/>
          </a:prstGeom>
          <a:noFill/>
        </p:spPr>
        <p:txBody>
          <a:bodyPr wrap="square" lIns="0" rIns="0" tIns="0" bIns="0">
            <a:spAutoFit/>
          </a:bodyPr>
          <a:lstStyle/>
          <a:p>
            <a:pPr>
              <a:defRPr sz="2100" b="1">
                <a:solidFill>
                  <a:srgbClr val="0F1E36"/>
                </a:solidFill>
              </a:defRPr>
            </a:pPr>
            <a:r>
              <a:t>Project Overview: Mission-Critical Clinical Systems (Philips / Cyient)</a:t>
            </a:r>
          </a:p>
        </p:txBody>
      </p:sp>
      <p:sp>
        <p:nvSpPr>
          <p:cNvPr id="5" name="Rectangle 4"/>
          <p:cNvSpPr/>
          <p:nvPr/>
        </p:nvSpPr>
        <p:spPr>
          <a:xfrm>
            <a:off x="731520" y="1234440"/>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393192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45920"/>
            <a:ext cx="3474720" cy="4389120"/>
          </a:xfrm>
          <a:prstGeom prst="rect">
            <a:avLst/>
          </a:prstGeom>
          <a:noFill/>
        </p:spPr>
        <p:txBody>
          <a:bodyPr wrap="square">
            <a:spAutoFit/>
          </a:bodyPr>
          <a:lstStyle/>
          <a:p>
            <a:pPr>
              <a:spcAft>
                <a:spcPts val="400"/>
              </a:spcAft>
              <a:defRPr sz="1700" b="1">
                <a:solidFill>
                  <a:srgbClr val="0F1E36"/>
                </a:solidFill>
              </a:defRPr>
            </a:pPr>
            <a:r>
              <a:t>Philips ICCA</a:t>
            </a:r>
          </a:p>
          <a:p>
            <a:pPr>
              <a:spcAft>
                <a:spcPts val="1000"/>
              </a:spcAft>
              <a:defRPr sz="1100" b="1">
                <a:solidFill>
                  <a:srgbClr val="004E96"/>
                </a:solidFill>
              </a:defRPr>
            </a:pPr>
            <a:r>
              <a:t>Intellispace Critical Care &amp; Anesthesia Platform</a:t>
            </a:r>
          </a:p>
          <a:p>
            <a:pPr>
              <a:defRPr b="1" sz="1000">
                <a:solidFill>
                  <a:srgbClr val="0F1E36"/>
                </a:solidFill>
              </a:defRPr>
            </a:pPr>
            <a:r>
              <a:t>Role: </a:t>
            </a:r>
          </a:p>
          <a:p>
            <a:pPr>
              <a:spcAft>
                <a:spcPts val="600"/>
              </a:spcAft>
              <a:defRPr sz="950">
                <a:solidFill>
                  <a:srgbClr val="64748B"/>
                </a:solidFill>
              </a:defRPr>
            </a:pPr>
            <a:r>
              <a:t>Senior Technical Lead / Systems Architect</a:t>
            </a:r>
          </a:p>
          <a:p>
            <a:pPr>
              <a:defRPr b="1" sz="1000">
                <a:solidFill>
                  <a:srgbClr val="0F1E36"/>
                </a:solidFill>
              </a:defRPr>
            </a:pPr>
            <a:r>
              <a:t>Tenure: </a:t>
            </a:r>
          </a:p>
          <a:p>
            <a:pPr>
              <a:spcAft>
                <a:spcPts val="600"/>
              </a:spcAft>
              <a:defRPr sz="950">
                <a:solidFill>
                  <a:srgbClr val="64748B"/>
                </a:solidFill>
              </a:defRPr>
            </a:pPr>
            <a:r>
              <a:t>Nov 2023 - Mar 2025</a:t>
            </a:r>
          </a:p>
          <a:p>
            <a:pPr>
              <a:defRPr b="1" sz="1000">
                <a:solidFill>
                  <a:srgbClr val="0F1E36"/>
                </a:solidFill>
              </a:defRPr>
            </a:pPr>
            <a:r>
              <a:t>Scale: </a:t>
            </a:r>
          </a:p>
          <a:p>
            <a:pPr>
              <a:spcAft>
                <a:spcPts val="600"/>
              </a:spcAft>
              <a:defRPr sz="950">
                <a:solidFill>
                  <a:srgbClr val="64748B"/>
                </a:solidFill>
              </a:defRPr>
            </a:pPr>
            <a:r>
              <a:t>Enterprise Global Hospital Deployments &amp; High-Availability Clinical ICU Units</a:t>
            </a:r>
          </a:p>
          <a:p>
            <a:pPr>
              <a:defRPr b="1" sz="1000">
                <a:solidFill>
                  <a:srgbClr val="0F1E36"/>
                </a:solidFill>
              </a:defRPr>
            </a:pPr>
            <a:r>
              <a:t>Domain Context: </a:t>
            </a:r>
          </a:p>
          <a:p>
            <a:pPr>
              <a:spcAft>
                <a:spcPts val="600"/>
              </a:spcAft>
              <a:defRPr sz="950">
                <a:solidFill>
                  <a:srgbClr val="64748B"/>
                </a:solidFill>
              </a:defRPr>
            </a:pPr>
            <a:r>
              <a:t>Life-critical, real-time patient monitoring, zero-latency clinical alerts &amp; strict regulatory compliance</a:t>
            </a:r>
          </a:p>
          <a:p>
            <a:pPr>
              <a:defRPr b="1" sz="1000">
                <a:solidFill>
                  <a:srgbClr val="0F1E36"/>
                </a:solidFill>
              </a:defRPr>
            </a:pPr>
            <a:r>
              <a:t>Tech Ecosystem: </a:t>
            </a:r>
          </a:p>
          <a:p>
            <a:pPr>
              <a:spcAft>
                <a:spcPts val="600"/>
              </a:spcAft>
              <a:defRPr sz="950">
                <a:solidFill>
                  <a:srgbClr val="64748B"/>
                </a:solidFill>
              </a:defRPr>
            </a:pPr>
            <a:r>
              <a:t>React, Node.js, Micro-frontends, REST/WebSocket APIs, Secure Auth, Enterprise Telemetry</a:t>
            </a:r>
          </a:p>
        </p:txBody>
      </p:sp>
      <p:sp>
        <p:nvSpPr>
          <p:cNvPr id="8" name="Rounded Rectangle 7"/>
          <p:cNvSpPr/>
          <p:nvPr/>
        </p:nvSpPr>
        <p:spPr>
          <a:xfrm>
            <a:off x="4892040" y="1463040"/>
            <a:ext cx="6565392"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74920" y="1600200"/>
            <a:ext cx="6199632" cy="1188720"/>
          </a:xfrm>
          <a:prstGeom prst="rect">
            <a:avLst/>
          </a:prstGeom>
          <a:noFill/>
        </p:spPr>
        <p:txBody>
          <a:bodyPr wrap="square">
            <a:spAutoFit/>
          </a:bodyPr>
          <a:lstStyle/>
          <a:p>
            <a:pPr>
              <a:spcAft>
                <a:spcPts val="500"/>
              </a:spcAft>
              <a:defRPr sz="1250" b="1">
                <a:solidFill>
                  <a:srgbClr val="004E96"/>
                </a:solidFill>
              </a:defRPr>
            </a:pPr>
            <a:r>
              <a:t>Strategic Objective 1: High Availability &amp; Zero-Fault Operational Resilience</a:t>
            </a:r>
          </a:p>
          <a:p>
            <a:pPr>
              <a:defRPr sz="1000">
                <a:solidFill>
                  <a:srgbClr val="1E293B"/>
                </a:solidFill>
              </a:defRPr>
            </a:pPr>
            <a:r>
              <a:t>Architect and deliver web-tier systems for ICU and anesthesia workflows where system downtime is life-threatening. Established fail-safe fallback rendering, continuous health-check telemetry, and zero unhandled state exceptions across 24/7 continuous operations.</a:t>
            </a:r>
          </a:p>
        </p:txBody>
      </p:sp>
      <p:sp>
        <p:nvSpPr>
          <p:cNvPr id="10" name="Rounded Rectangle 9"/>
          <p:cNvSpPr/>
          <p:nvPr/>
        </p:nvSpPr>
        <p:spPr>
          <a:xfrm>
            <a:off x="4892040" y="3072384"/>
            <a:ext cx="6565392"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74920" y="3209544"/>
            <a:ext cx="6199632" cy="1188720"/>
          </a:xfrm>
          <a:prstGeom prst="rect">
            <a:avLst/>
          </a:prstGeom>
          <a:noFill/>
        </p:spPr>
        <p:txBody>
          <a:bodyPr wrap="square">
            <a:spAutoFit/>
          </a:bodyPr>
          <a:lstStyle/>
          <a:p>
            <a:pPr>
              <a:spcAft>
                <a:spcPts val="500"/>
              </a:spcAft>
              <a:defRPr sz="1250" b="1">
                <a:solidFill>
                  <a:srgbClr val="004E96"/>
                </a:solidFill>
              </a:defRPr>
            </a:pPr>
            <a:r>
              <a:t>Strategic Objective 2: Data Protection, Security &amp; Regulatory Compliance</a:t>
            </a:r>
          </a:p>
          <a:p>
            <a:pPr>
              <a:defRPr sz="1000">
                <a:solidFill>
                  <a:srgbClr val="1E293B"/>
                </a:solidFill>
              </a:defRPr>
            </a:pPr>
            <a:r>
              <a:t>Enforce strict healthcare information security standards (HIPAA, FDA software safety benchmarks, ISO 27001 compliance). Enforced end-to-end data encryption in transit and at rest, granular role-based access (RBAC), and full audit logging of administrative and user actions.</a:t>
            </a:r>
          </a:p>
        </p:txBody>
      </p:sp>
      <p:sp>
        <p:nvSpPr>
          <p:cNvPr id="12" name="Rounded Rectangle 11"/>
          <p:cNvSpPr/>
          <p:nvPr/>
        </p:nvSpPr>
        <p:spPr>
          <a:xfrm>
            <a:off x="4892040" y="4681728"/>
            <a:ext cx="6565392"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74920" y="4818888"/>
            <a:ext cx="6199632" cy="1188720"/>
          </a:xfrm>
          <a:prstGeom prst="rect">
            <a:avLst/>
          </a:prstGeom>
          <a:noFill/>
        </p:spPr>
        <p:txBody>
          <a:bodyPr wrap="square">
            <a:spAutoFit/>
          </a:bodyPr>
          <a:lstStyle/>
          <a:p>
            <a:pPr>
              <a:spcAft>
                <a:spcPts val="500"/>
              </a:spcAft>
              <a:defRPr sz="1250" b="1">
                <a:solidFill>
                  <a:srgbClr val="004E96"/>
                </a:solidFill>
              </a:defRPr>
            </a:pPr>
            <a:r>
              <a:t>Strategic Objective 3: Scalable Modular Architecture &amp; Seamless Integration</a:t>
            </a:r>
          </a:p>
          <a:p>
            <a:pPr>
              <a:defRPr sz="1000">
                <a:solidFill>
                  <a:srgbClr val="1E293B"/>
                </a:solidFill>
              </a:defRPr>
            </a:pPr>
            <a:r>
              <a:t>Transitioned monolithic legacy interfaces into a decoupled, micro-frontend architecture with standardized APIs. Enabled independent modular deployments, drastically reduced release risk, and unified clinical data feeds from diverse hardware monitors.</a:t>
            </a:r>
          </a:p>
        </p:txBody>
      </p:sp>
      <p:sp>
        <p:nvSpPr>
          <p:cNvPr id="14" name="TextBox 13"/>
          <p:cNvSpPr txBox="1"/>
          <p:nvPr/>
        </p:nvSpPr>
        <p:spPr>
          <a:xfrm>
            <a:off x="731520" y="6446520"/>
            <a:ext cx="10728655" cy="320040"/>
          </a:xfrm>
          <a:prstGeom prst="rect">
            <a:avLst/>
          </a:prstGeom>
          <a:noFill/>
        </p:spPr>
        <p:txBody>
          <a:bodyPr wrap="none" lIns="0" rIns="0" tIns="0" bIns="0">
            <a:spAutoFit/>
          </a:bodyPr>
          <a:lstStyle/>
          <a:p>
            <a:pPr>
              <a:defRPr sz="900">
                <a:solidFill>
                  <a:srgbClr val="64748B"/>
                </a:solidFill>
              </a:defRPr>
            </a:pPr>
            <a:r>
              <a:t>Obayashi Corporation · Senior Manager – IT Candidate Portfolio | Maheshchandra Hegde · Slide 3 of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74320"/>
          </a:xfrm>
          <a:prstGeom prst="rect">
            <a:avLst/>
          </a:prstGeom>
          <a:noFill/>
        </p:spPr>
        <p:txBody>
          <a:bodyPr wrap="square" lIns="0" rIns="0" tIns="0" bIns="0">
            <a:spAutoFit/>
          </a:bodyPr>
          <a:lstStyle/>
          <a:p>
            <a:pPr>
              <a:defRPr sz="1100" b="1">
                <a:solidFill>
                  <a:srgbClr val="004E96"/>
                </a:solidFill>
              </a:defRPr>
            </a:pPr>
            <a:r>
              <a:t>PROJECT EXPERIENCE 2</a:t>
            </a:r>
          </a:p>
        </p:txBody>
      </p:sp>
      <p:sp>
        <p:nvSpPr>
          <p:cNvPr id="4" name="TextBox 3"/>
          <p:cNvSpPr txBox="1"/>
          <p:nvPr/>
        </p:nvSpPr>
        <p:spPr>
          <a:xfrm>
            <a:off x="731520" y="658368"/>
            <a:ext cx="10698480" cy="502920"/>
          </a:xfrm>
          <a:prstGeom prst="rect">
            <a:avLst/>
          </a:prstGeom>
          <a:noFill/>
        </p:spPr>
        <p:txBody>
          <a:bodyPr wrap="square" lIns="0" rIns="0" tIns="0" bIns="0">
            <a:spAutoFit/>
          </a:bodyPr>
          <a:lstStyle/>
          <a:p>
            <a:pPr>
              <a:defRPr sz="2100" b="1">
                <a:solidFill>
                  <a:srgbClr val="0F1E36"/>
                </a:solidFill>
              </a:defRPr>
            </a:pPr>
            <a:r>
              <a:t>Project Overview: Cloud Transformation &amp; Edge-Resilient Platform (Technoyana)</a:t>
            </a:r>
          </a:p>
        </p:txBody>
      </p:sp>
      <p:sp>
        <p:nvSpPr>
          <p:cNvPr id="5" name="Rectangle 4"/>
          <p:cNvSpPr/>
          <p:nvPr/>
        </p:nvSpPr>
        <p:spPr>
          <a:xfrm>
            <a:off x="731520" y="1234440"/>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393192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45920"/>
            <a:ext cx="3474720" cy="4389120"/>
          </a:xfrm>
          <a:prstGeom prst="rect">
            <a:avLst/>
          </a:prstGeom>
          <a:noFill/>
        </p:spPr>
        <p:txBody>
          <a:bodyPr wrap="square">
            <a:spAutoFit/>
          </a:bodyPr>
          <a:lstStyle/>
          <a:p>
            <a:pPr>
              <a:spcAft>
                <a:spcPts val="400"/>
              </a:spcAft>
              <a:defRPr sz="1700" b="1">
                <a:solidFill>
                  <a:srgbClr val="0F1E36"/>
                </a:solidFill>
              </a:defRPr>
            </a:pPr>
            <a:r>
              <a:t>Technoyana Platforms</a:t>
            </a:r>
          </a:p>
          <a:p>
            <a:pPr>
              <a:spcAft>
                <a:spcPts val="1000"/>
              </a:spcAft>
              <a:defRPr sz="1100" b="1">
                <a:solidFill>
                  <a:srgbClr val="004E96"/>
                </a:solidFill>
              </a:defRPr>
            </a:pPr>
            <a:r>
              <a:t>Digital Transformation &amp; Distributed Cloud Ecosystem</a:t>
            </a:r>
          </a:p>
          <a:p>
            <a:pPr>
              <a:defRPr b="1" sz="1000">
                <a:solidFill>
                  <a:srgbClr val="0F1E36"/>
                </a:solidFill>
              </a:defRPr>
            </a:pPr>
            <a:r>
              <a:t>Role: </a:t>
            </a:r>
          </a:p>
          <a:p>
            <a:pPr>
              <a:spcAft>
                <a:spcPts val="600"/>
              </a:spcAft>
              <a:defRPr sz="950">
                <a:solidFill>
                  <a:srgbClr val="64748B"/>
                </a:solidFill>
              </a:defRPr>
            </a:pPr>
            <a:r>
              <a:t>Co-Founder &amp; Director of Technology / Architecture Lead</a:t>
            </a:r>
          </a:p>
          <a:p>
            <a:pPr>
              <a:defRPr b="1" sz="1000">
                <a:solidFill>
                  <a:srgbClr val="0F1E36"/>
                </a:solidFill>
              </a:defRPr>
            </a:pPr>
            <a:r>
              <a:t>Tenure: </a:t>
            </a:r>
          </a:p>
          <a:p>
            <a:pPr>
              <a:spcAft>
                <a:spcPts val="600"/>
              </a:spcAft>
              <a:defRPr sz="950">
                <a:solidFill>
                  <a:srgbClr val="64748B"/>
                </a:solidFill>
              </a:defRPr>
            </a:pPr>
            <a:r>
              <a:t>May 2021 - Oct 2023 (Strategic Advisor)</a:t>
            </a:r>
          </a:p>
          <a:p>
            <a:pPr>
              <a:defRPr b="1" sz="1000">
                <a:solidFill>
                  <a:srgbClr val="0F1E36"/>
                </a:solidFill>
              </a:defRPr>
            </a:pPr>
            <a:r>
              <a:t>Key Platforms: </a:t>
            </a:r>
          </a:p>
          <a:p>
            <a:pPr>
              <a:spcAft>
                <a:spcPts val="600"/>
              </a:spcAft>
              <a:defRPr sz="950">
                <a:solidFill>
                  <a:srgbClr val="64748B"/>
                </a:solidFill>
              </a:defRPr>
            </a:pPr>
            <a:r>
              <a:t>Twitan Sports OS (Shutlify), Fintech Operations Engine, Cloud Multi-Tenant Architecture</a:t>
            </a:r>
          </a:p>
          <a:p>
            <a:pPr>
              <a:defRPr b="1" sz="1000">
                <a:solidFill>
                  <a:srgbClr val="0F1E36"/>
                </a:solidFill>
              </a:defRPr>
            </a:pPr>
            <a:r>
              <a:t>Operational Reality: </a:t>
            </a:r>
          </a:p>
          <a:p>
            <a:pPr>
              <a:spcAft>
                <a:spcPts val="600"/>
              </a:spcAft>
              <a:defRPr sz="950">
                <a:solidFill>
                  <a:srgbClr val="64748B"/>
                </a:solidFill>
              </a:defRPr>
            </a:pPr>
            <a:r>
              <a:t>High-concurrency events, remote arenas/venues with degraded cellular connectivity, multi-tenant cloud infra</a:t>
            </a:r>
          </a:p>
          <a:p>
            <a:pPr>
              <a:defRPr b="1" sz="1000">
                <a:solidFill>
                  <a:srgbClr val="0F1E36"/>
                </a:solidFill>
              </a:defRPr>
            </a:pPr>
            <a:r>
              <a:t>Relevance to Obayashi: </a:t>
            </a:r>
          </a:p>
          <a:p>
            <a:pPr>
              <a:spcAft>
                <a:spcPts val="600"/>
              </a:spcAft>
              <a:defRPr sz="950">
                <a:solidFill>
                  <a:srgbClr val="64748B"/>
                </a:solidFill>
              </a:defRPr>
            </a:pPr>
            <a:r>
              <a:t>Directly mirrors remote construction site challenges: volatile network connectivity, field staff data capture, automated cloud sync</a:t>
            </a:r>
          </a:p>
        </p:txBody>
      </p:sp>
      <p:sp>
        <p:nvSpPr>
          <p:cNvPr id="8" name="Rounded Rectangle 7"/>
          <p:cNvSpPr/>
          <p:nvPr/>
        </p:nvSpPr>
        <p:spPr>
          <a:xfrm>
            <a:off x="4892040" y="1463040"/>
            <a:ext cx="6565392"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74920" y="1600200"/>
            <a:ext cx="6199632" cy="1188720"/>
          </a:xfrm>
          <a:prstGeom prst="rect">
            <a:avLst/>
          </a:prstGeom>
          <a:noFill/>
        </p:spPr>
        <p:txBody>
          <a:bodyPr wrap="square">
            <a:spAutoFit/>
          </a:bodyPr>
          <a:lstStyle/>
          <a:p>
            <a:pPr>
              <a:spcAft>
                <a:spcPts val="500"/>
              </a:spcAft>
              <a:defRPr sz="1250" b="1">
                <a:solidFill>
                  <a:srgbClr val="004E96"/>
                </a:solidFill>
              </a:defRPr>
            </a:pPr>
            <a:r>
              <a:t>1. Edge-Resilient 'Offline-First' Architecture for Unstable Networks</a:t>
            </a:r>
          </a:p>
          <a:p>
            <a:pPr>
              <a:defRPr sz="1000">
                <a:solidFill>
                  <a:srgbClr val="1E293B"/>
                </a:solidFill>
              </a:defRPr>
            </a:pPr>
            <a:r>
              <a:t>Architected an offline-first data model utilizing local storage, background Service Workers, and optimistic transactional queuing. When on-site network drops occur, field users continue full operations uninterrupted; bi-directional conflict resolution synchronizes cloud data the moment connectivity is restored.</a:t>
            </a:r>
          </a:p>
        </p:txBody>
      </p:sp>
      <p:sp>
        <p:nvSpPr>
          <p:cNvPr id="10" name="Rounded Rectangle 9"/>
          <p:cNvSpPr/>
          <p:nvPr/>
        </p:nvSpPr>
        <p:spPr>
          <a:xfrm>
            <a:off x="4892040" y="3072384"/>
            <a:ext cx="6565392"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74920" y="3209544"/>
            <a:ext cx="6199632" cy="1188720"/>
          </a:xfrm>
          <a:prstGeom prst="rect">
            <a:avLst/>
          </a:prstGeom>
          <a:noFill/>
        </p:spPr>
        <p:txBody>
          <a:bodyPr wrap="square">
            <a:spAutoFit/>
          </a:bodyPr>
          <a:lstStyle/>
          <a:p>
            <a:pPr>
              <a:spcAft>
                <a:spcPts val="500"/>
              </a:spcAft>
              <a:defRPr sz="1250" b="1">
                <a:solidFill>
                  <a:srgbClr val="004E96"/>
                </a:solidFill>
              </a:defRPr>
            </a:pPr>
            <a:r>
              <a:t>2. Cloud Infrastructure &amp; Cost Governance (AWS / Firebase / Serverless)</a:t>
            </a:r>
          </a:p>
          <a:p>
            <a:pPr>
              <a:defRPr sz="1000">
                <a:solidFill>
                  <a:srgbClr val="1E293B"/>
                </a:solidFill>
              </a:defRPr>
            </a:pPr>
            <a:r>
              <a:t>Directed cloud infrastructure roadmap, automated CI/CD pipelines, containerized deployments, and disaster recovery replication. Implemented automated resource scaling and log archiving, cutting monthly cloud spend by 22% while handling 10x traffic bursts.</a:t>
            </a:r>
          </a:p>
        </p:txBody>
      </p:sp>
      <p:sp>
        <p:nvSpPr>
          <p:cNvPr id="12" name="Rounded Rectangle 11"/>
          <p:cNvSpPr/>
          <p:nvPr/>
        </p:nvSpPr>
        <p:spPr>
          <a:xfrm>
            <a:off x="4892040" y="4681728"/>
            <a:ext cx="6565392"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74920" y="4818888"/>
            <a:ext cx="6199632" cy="1188720"/>
          </a:xfrm>
          <a:prstGeom prst="rect">
            <a:avLst/>
          </a:prstGeom>
          <a:noFill/>
        </p:spPr>
        <p:txBody>
          <a:bodyPr wrap="square">
            <a:spAutoFit/>
          </a:bodyPr>
          <a:lstStyle/>
          <a:p>
            <a:pPr>
              <a:spcAft>
                <a:spcPts val="500"/>
              </a:spcAft>
              <a:defRPr sz="1250" b="1">
                <a:solidFill>
                  <a:srgbClr val="004E96"/>
                </a:solidFill>
              </a:defRPr>
            </a:pPr>
            <a:r>
              <a:t>3. High-Concurrency Event Telemetry &amp; Operational Uptime</a:t>
            </a:r>
          </a:p>
          <a:p>
            <a:pPr>
              <a:defRPr sz="1000">
                <a:solidFill>
                  <a:srgbClr val="1E293B"/>
                </a:solidFill>
              </a:defRPr>
            </a:pPr>
            <a:r>
              <a:t>Built resilient real-time WebSocket state channels with automatic fallback to polling, ensuring zero operational downtime for critical tournament arbitration and multi-site scoring dashboards.</a:t>
            </a:r>
          </a:p>
        </p:txBody>
      </p:sp>
      <p:sp>
        <p:nvSpPr>
          <p:cNvPr id="14" name="TextBox 13"/>
          <p:cNvSpPr txBox="1"/>
          <p:nvPr/>
        </p:nvSpPr>
        <p:spPr>
          <a:xfrm>
            <a:off x="731520" y="6446520"/>
            <a:ext cx="10728655" cy="320040"/>
          </a:xfrm>
          <a:prstGeom prst="rect">
            <a:avLst/>
          </a:prstGeom>
          <a:noFill/>
        </p:spPr>
        <p:txBody>
          <a:bodyPr wrap="none" lIns="0" rIns="0" tIns="0" bIns="0">
            <a:spAutoFit/>
          </a:bodyPr>
          <a:lstStyle/>
          <a:p>
            <a:pPr>
              <a:defRPr sz="900">
                <a:solidFill>
                  <a:srgbClr val="64748B"/>
                </a:solidFill>
              </a:defRPr>
            </a:pPr>
            <a:r>
              <a:t>Obayashi Corporation · Senior Manager – IT Candidate Portfolio | Maheshchandra Hegde · Slide 4 of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74320"/>
          </a:xfrm>
          <a:prstGeom prst="rect">
            <a:avLst/>
          </a:prstGeom>
          <a:noFill/>
        </p:spPr>
        <p:txBody>
          <a:bodyPr wrap="square" lIns="0" rIns="0" tIns="0" bIns="0">
            <a:spAutoFit/>
          </a:bodyPr>
          <a:lstStyle/>
          <a:p>
            <a:pPr>
              <a:defRPr sz="1100" b="1">
                <a:solidFill>
                  <a:srgbClr val="004E96"/>
                </a:solidFill>
              </a:defRPr>
            </a:pPr>
            <a:r>
              <a:t>SPATIAL COMPUTING &amp; 3D ENGINEERING</a:t>
            </a:r>
          </a:p>
        </p:txBody>
      </p:sp>
      <p:sp>
        <p:nvSpPr>
          <p:cNvPr id="4" name="TextBox 3"/>
          <p:cNvSpPr txBox="1"/>
          <p:nvPr/>
        </p:nvSpPr>
        <p:spPr>
          <a:xfrm>
            <a:off x="731520" y="658368"/>
            <a:ext cx="10698480" cy="502920"/>
          </a:xfrm>
          <a:prstGeom prst="rect">
            <a:avLst/>
          </a:prstGeom>
          <a:noFill/>
        </p:spPr>
        <p:txBody>
          <a:bodyPr wrap="square" lIns="0" rIns="0" tIns="0" bIns="0">
            <a:spAutoFit/>
          </a:bodyPr>
          <a:lstStyle/>
          <a:p>
            <a:pPr>
              <a:defRPr sz="2100" b="1">
                <a:solidFill>
                  <a:srgbClr val="0F1E36"/>
                </a:solidFill>
              </a:defRPr>
            </a:pPr>
            <a:r>
              <a:t>3D Visualization Pedigree &amp; Spatial AI: Voxelforge AI, ayam3d &amp; 50+ Projects</a:t>
            </a:r>
          </a:p>
        </p:txBody>
      </p:sp>
      <p:sp>
        <p:nvSpPr>
          <p:cNvPr id="5" name="Rectangle 4"/>
          <p:cNvSpPr/>
          <p:nvPr/>
        </p:nvSpPr>
        <p:spPr>
          <a:xfrm>
            <a:off x="731520" y="1234440"/>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512064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0664" y="1472184"/>
            <a:ext cx="5102352" cy="402336"/>
          </a:xfrm>
          <a:prstGeom prst="rect">
            <a:avLst/>
          </a:prstGeom>
          <a:solidFill>
            <a:srgbClr val="004E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536192"/>
            <a:ext cx="4846320" cy="320040"/>
          </a:xfrm>
          <a:prstGeom prst="rect">
            <a:avLst/>
          </a:prstGeom>
          <a:noFill/>
        </p:spPr>
        <p:txBody>
          <a:bodyPr wrap="none">
            <a:spAutoFit/>
          </a:bodyPr>
          <a:lstStyle/>
          <a:p>
            <a:pPr>
              <a:defRPr sz="1100" b="1">
                <a:solidFill>
                  <a:srgbClr val="FFFFFF"/>
                </a:solidFill>
              </a:defRPr>
            </a:pPr>
            <a:r>
              <a:t>3D VISUALIZER EXPERT: 50+ PROJECTS DELIVERED</a:t>
            </a:r>
          </a:p>
        </p:txBody>
      </p:sp>
      <p:sp>
        <p:nvSpPr>
          <p:cNvPr id="9" name="TextBox 8"/>
          <p:cNvSpPr txBox="1"/>
          <p:nvPr/>
        </p:nvSpPr>
        <p:spPr>
          <a:xfrm>
            <a:off x="914400" y="1965960"/>
            <a:ext cx="4754880" cy="4114800"/>
          </a:xfrm>
          <a:prstGeom prst="rect">
            <a:avLst/>
          </a:prstGeom>
          <a:noFill/>
        </p:spPr>
        <p:txBody>
          <a:bodyPr wrap="square">
            <a:spAutoFit/>
          </a:bodyPr>
          <a:lstStyle/>
          <a:p>
            <a:pPr>
              <a:spcAft>
                <a:spcPts val="200"/>
              </a:spcAft>
              <a:defRPr sz="1050" b="1">
                <a:solidFill>
                  <a:srgbClr val="0F1E36"/>
                </a:solidFill>
              </a:defRPr>
            </a:pPr>
            <a:r>
              <a:t>★ Architectural Visualization &amp; 3D Walkthroughs (35+ Projects)</a:t>
            </a:r>
          </a:p>
          <a:p>
            <a:pPr>
              <a:spcAft>
                <a:spcPts val="600"/>
              </a:spcAft>
              <a:defRPr sz="900">
                <a:solidFill>
                  <a:srgbClr val="64748B"/>
                </a:solidFill>
              </a:defRPr>
            </a:pPr>
            <a:r>
              <a:t>Extensive portfolio producing photorealistic architectural visualizations, exterior/interior 3D renderings, and high-impact 3D animated walkthroughs for commercial complexes, residential townships, and infrastructure projects.</a:t>
            </a:r>
          </a:p>
          <a:p>
            <a:pPr>
              <a:spcAft>
                <a:spcPts val="200"/>
              </a:spcAft>
              <a:defRPr sz="1050" b="1">
                <a:solidFill>
                  <a:srgbClr val="0F1E36"/>
                </a:solidFill>
              </a:defRPr>
            </a:pPr>
            <a:r>
              <a:t>★ CAE Simulation Technologies (Flight Simulator 3D Databases)</a:t>
            </a:r>
          </a:p>
          <a:p>
            <a:pPr>
              <a:spcAft>
                <a:spcPts val="600"/>
              </a:spcAft>
              <a:defRPr sz="900">
                <a:solidFill>
                  <a:srgbClr val="64748B"/>
                </a:solidFill>
              </a:defRPr>
            </a:pPr>
            <a:r>
              <a:t>Visual Database Developer creating high-fidelity 3D terrain databases, elevation grids, and precision 3D aircraft models for military and civil flight simulation systems.</a:t>
            </a:r>
          </a:p>
          <a:p>
            <a:pPr>
              <a:spcAft>
                <a:spcPts val="200"/>
              </a:spcAft>
              <a:defRPr sz="1050" b="1">
                <a:solidFill>
                  <a:srgbClr val="0F1E36"/>
                </a:solidFill>
              </a:defRPr>
            </a:pPr>
            <a:r>
              <a:t>★ Cisco Systems: Enterprise Facility &amp; Smart Campus 3D Dashboards</a:t>
            </a:r>
          </a:p>
          <a:p>
            <a:pPr>
              <a:spcAft>
                <a:spcPts val="600"/>
              </a:spcAft>
              <a:defRPr sz="900">
                <a:solidFill>
                  <a:srgbClr val="64748B"/>
                </a:solidFill>
              </a:defRPr>
            </a:pPr>
            <a:r>
              <a:t>Architected rich interactive facility monitoring dashboards visualizing campus physical infrastructure, spatial rack layouts, power utilization, and environmental sensor telemetry.</a:t>
            </a:r>
          </a:p>
          <a:p>
            <a:pPr>
              <a:spcAft>
                <a:spcPts val="200"/>
              </a:spcAft>
              <a:defRPr sz="1050" b="1">
                <a:solidFill>
                  <a:srgbClr val="0F1E36"/>
                </a:solidFill>
              </a:defRPr>
            </a:pPr>
            <a:r>
              <a:t>★ CAD &amp; Digital Construction Interoperability</a:t>
            </a:r>
          </a:p>
          <a:p>
            <a:pPr>
              <a:spcAft>
                <a:spcPts val="600"/>
              </a:spcAft>
              <a:defRPr sz="900">
                <a:solidFill>
                  <a:srgbClr val="64748B"/>
                </a:solidFill>
              </a:defRPr>
            </a:pPr>
            <a:r>
              <a:t>Hands-on expertise bridging 2D CAD blueprints, 3D coordinate geometry, polygonal mesh optimization, Level of Detail (LOD) management, and spatial rendering engines.</a:t>
            </a:r>
          </a:p>
        </p:txBody>
      </p:sp>
      <p:sp>
        <p:nvSpPr>
          <p:cNvPr id="10" name="Rounded Rectangle 9"/>
          <p:cNvSpPr/>
          <p:nvPr/>
        </p:nvSpPr>
        <p:spPr>
          <a:xfrm>
            <a:off x="6108192" y="1463040"/>
            <a:ext cx="5349240" cy="1508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91072" y="1572768"/>
            <a:ext cx="4983480" cy="1280160"/>
          </a:xfrm>
          <a:prstGeom prst="rect">
            <a:avLst/>
          </a:prstGeom>
          <a:noFill/>
        </p:spPr>
        <p:txBody>
          <a:bodyPr wrap="square">
            <a:spAutoFit/>
          </a:bodyPr>
          <a:lstStyle/>
          <a:p>
            <a:pPr>
              <a:spcAft>
                <a:spcPts val="300"/>
              </a:spcAft>
              <a:defRPr sz="1200" b="1">
                <a:solidFill>
                  <a:srgbClr val="004E96"/>
                </a:solidFill>
              </a:defRPr>
            </a:pPr>
            <a:r>
              <a:t>1. Voxelforge AI — Generative 3D Asset Workflows</a:t>
            </a:r>
          </a:p>
          <a:p>
            <a:pPr>
              <a:defRPr sz="950">
                <a:solidFill>
                  <a:srgbClr val="1E293B"/>
                </a:solidFill>
              </a:defRPr>
            </a:pPr>
            <a:r>
              <a:t>• AI-assisted generative 3D pipeline producing game-ready, modular low-poly 3D assets for WebGL, Unity, and Unreal Engine.</a:t>
            </a:r>
            <a:br/>
            <a:r>
              <a:t>• Automates prompt-to-3D synthesis, texture baking, and real-time polygon reduction, enabling instant browser-based 3D digital twin rendering.</a:t>
            </a:r>
          </a:p>
        </p:txBody>
      </p:sp>
      <p:sp>
        <p:nvSpPr>
          <p:cNvPr id="12" name="Rounded Rectangle 11"/>
          <p:cNvSpPr/>
          <p:nvPr/>
        </p:nvSpPr>
        <p:spPr>
          <a:xfrm>
            <a:off x="6108192" y="3090672"/>
            <a:ext cx="5349240" cy="1508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91072" y="3200400"/>
            <a:ext cx="4983480" cy="1280160"/>
          </a:xfrm>
          <a:prstGeom prst="rect">
            <a:avLst/>
          </a:prstGeom>
          <a:noFill/>
        </p:spPr>
        <p:txBody>
          <a:bodyPr wrap="square">
            <a:spAutoFit/>
          </a:bodyPr>
          <a:lstStyle/>
          <a:p>
            <a:pPr>
              <a:spcAft>
                <a:spcPts val="300"/>
              </a:spcAft>
              <a:defRPr sz="1200" b="1">
                <a:solidFill>
                  <a:srgbClr val="0E7490"/>
                </a:solidFill>
              </a:defRPr>
            </a:pPr>
            <a:r>
              <a:t>2. ayam3d — Generative Mesh Synthesis &amp; Retopology</a:t>
            </a:r>
          </a:p>
          <a:p>
            <a:pPr>
              <a:defRPr sz="950">
                <a:solidFill>
                  <a:srgbClr val="1E293B"/>
                </a:solidFill>
              </a:defRPr>
            </a:pPr>
            <a:r>
              <a:t>• Advanced spatial computing R&amp;D in automated 3D mesh synthesis, intelligent quad/tri retopology, and PBR (Physically Based Rendering) texture generation.</a:t>
            </a:r>
            <a:br/>
            <a:r>
              <a:t>• Transforms heavy, raw 3D scans and photogrammetry point clouds into lightweight, optimized assets suitable for real-time edge streaming.</a:t>
            </a:r>
          </a:p>
        </p:txBody>
      </p:sp>
      <p:sp>
        <p:nvSpPr>
          <p:cNvPr id="14" name="Rounded Rectangle 13"/>
          <p:cNvSpPr/>
          <p:nvPr/>
        </p:nvSpPr>
        <p:spPr>
          <a:xfrm>
            <a:off x="6108192" y="4709160"/>
            <a:ext cx="5349240" cy="1508760"/>
          </a:xfrm>
          <a:prstGeom prst="roundRect">
            <a:avLst/>
          </a:prstGeom>
          <a:solidFill>
            <a:srgbClr val="F0F9FF"/>
          </a:solidFill>
          <a:ln w="12700">
            <a:solidFill>
              <a:srgbClr val="004E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91072" y="4818888"/>
            <a:ext cx="4983480" cy="1280160"/>
          </a:xfrm>
          <a:prstGeom prst="rect">
            <a:avLst/>
          </a:prstGeom>
          <a:noFill/>
        </p:spPr>
        <p:txBody>
          <a:bodyPr wrap="square">
            <a:spAutoFit/>
          </a:bodyPr>
          <a:lstStyle/>
          <a:p>
            <a:pPr>
              <a:spcAft>
                <a:spcPts val="300"/>
              </a:spcAft>
              <a:defRPr sz="1150" b="1">
                <a:solidFill>
                  <a:srgbClr val="004E96"/>
                </a:solidFill>
              </a:defRPr>
            </a:pPr>
            <a:r>
              <a:t>Direct Synergy with Obayashi Corporation's Vision</a:t>
            </a:r>
          </a:p>
          <a:p>
            <a:pPr>
              <a:defRPr sz="900">
                <a:solidFill>
                  <a:srgbClr val="1E293B"/>
                </a:solidFill>
              </a:defRPr>
            </a:pPr>
            <a:r>
              <a:t>• Bridges Enterprise IT with Digital Construction: Unifies BIM (Building Information Modeling 3D/4D/5D), Common Data Environments (CDE), and Digital Twins.</a:t>
            </a:r>
            <a:br/>
            <a:r>
              <a:t>• Solves the IT infrastructure bottleneck: GPU workstation virtualization, automated asset compression, and low-latency 3D rendering on job-site mobile devices.</a:t>
            </a:r>
          </a:p>
        </p:txBody>
      </p:sp>
      <p:sp>
        <p:nvSpPr>
          <p:cNvPr id="16" name="TextBox 15"/>
          <p:cNvSpPr txBox="1"/>
          <p:nvPr/>
        </p:nvSpPr>
        <p:spPr>
          <a:xfrm>
            <a:off x="731520" y="6446520"/>
            <a:ext cx="10728655" cy="320040"/>
          </a:xfrm>
          <a:prstGeom prst="rect">
            <a:avLst/>
          </a:prstGeom>
          <a:noFill/>
        </p:spPr>
        <p:txBody>
          <a:bodyPr wrap="none" lIns="0" rIns="0" tIns="0" bIns="0">
            <a:spAutoFit/>
          </a:bodyPr>
          <a:lstStyle/>
          <a:p>
            <a:pPr>
              <a:defRPr sz="900">
                <a:solidFill>
                  <a:srgbClr val="64748B"/>
                </a:solidFill>
              </a:defRPr>
            </a:pPr>
            <a:r>
              <a:t>Obayashi Corporation · Senior Manager – IT Candidate Portfolio | Maheshchandra Hegde · Slide 5 of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74320"/>
          </a:xfrm>
          <a:prstGeom prst="rect">
            <a:avLst/>
          </a:prstGeom>
          <a:noFill/>
        </p:spPr>
        <p:txBody>
          <a:bodyPr wrap="square" lIns="0" rIns="0" tIns="0" bIns="0">
            <a:spAutoFit/>
          </a:bodyPr>
          <a:lstStyle/>
          <a:p>
            <a:pPr>
              <a:defRPr sz="1100" b="1">
                <a:solidFill>
                  <a:srgbClr val="004E96"/>
                </a:solidFill>
              </a:defRPr>
            </a:pPr>
            <a:r>
              <a:t>LEADERSHIP &amp; EXECUTION</a:t>
            </a:r>
          </a:p>
        </p:txBody>
      </p:sp>
      <p:sp>
        <p:nvSpPr>
          <p:cNvPr id="4" name="TextBox 3"/>
          <p:cNvSpPr txBox="1"/>
          <p:nvPr/>
        </p:nvSpPr>
        <p:spPr>
          <a:xfrm>
            <a:off x="731520" y="658368"/>
            <a:ext cx="10698480" cy="502920"/>
          </a:xfrm>
          <a:prstGeom prst="rect">
            <a:avLst/>
          </a:prstGeom>
          <a:noFill/>
        </p:spPr>
        <p:txBody>
          <a:bodyPr wrap="square" lIns="0" rIns="0" tIns="0" bIns="0">
            <a:spAutoFit/>
          </a:bodyPr>
          <a:lstStyle/>
          <a:p>
            <a:pPr>
              <a:defRPr sz="2100" b="1">
                <a:solidFill>
                  <a:srgbClr val="0F1E36"/>
                </a:solidFill>
              </a:defRPr>
            </a:pPr>
            <a:r>
              <a:t>Your Role &amp; Core Responsibilities: IT Strategy, Operations &amp; Governance</a:t>
            </a:r>
          </a:p>
        </p:txBody>
      </p:sp>
      <p:sp>
        <p:nvSpPr>
          <p:cNvPr id="5" name="Rectangle 4"/>
          <p:cNvSpPr/>
          <p:nvPr/>
        </p:nvSpPr>
        <p:spPr>
          <a:xfrm>
            <a:off x="731520" y="1234440"/>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5230368"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0664" y="1472184"/>
            <a:ext cx="5212080" cy="384048"/>
          </a:xfrm>
          <a:prstGeom prst="rect">
            <a:avLst/>
          </a:prstGeom>
          <a:solidFill>
            <a:srgbClr val="004E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517904"/>
            <a:ext cx="4864608" cy="320040"/>
          </a:xfrm>
          <a:prstGeom prst="rect">
            <a:avLst/>
          </a:prstGeom>
          <a:noFill/>
        </p:spPr>
        <p:txBody>
          <a:bodyPr wrap="none">
            <a:spAutoFit/>
          </a:bodyPr>
          <a:lstStyle/>
          <a:p>
            <a:pPr>
              <a:defRPr sz="1100" b="1">
                <a:solidFill>
                  <a:srgbClr val="FFFFFF"/>
                </a:solidFill>
              </a:defRPr>
            </a:pPr>
            <a:r>
              <a:t>1. IT Strategy, Policy &amp; Enterprise Architecture</a:t>
            </a:r>
          </a:p>
        </p:txBody>
      </p:sp>
      <p:sp>
        <p:nvSpPr>
          <p:cNvPr id="9" name="TextBox 8"/>
          <p:cNvSpPr txBox="1"/>
          <p:nvPr/>
        </p:nvSpPr>
        <p:spPr>
          <a:xfrm>
            <a:off x="914400" y="1901952"/>
            <a:ext cx="4864608" cy="1737360"/>
          </a:xfrm>
          <a:prstGeom prst="rect">
            <a:avLst/>
          </a:prstGeom>
          <a:noFill/>
        </p:spPr>
        <p:txBody>
          <a:bodyPr wrap="square">
            <a:spAutoFit/>
          </a:bodyPr>
          <a:lstStyle/>
          <a:p>
            <a:pPr>
              <a:spcAft>
                <a:spcPts val="300"/>
              </a:spcAft>
              <a:defRPr sz="950">
                <a:solidFill>
                  <a:srgbClr val="1E293B"/>
                </a:solidFill>
              </a:defRPr>
            </a:pPr>
            <a:r>
              <a:t>• Formulated multi-year technology roadmaps aligning IT investments with organizational growth objectives.</a:t>
            </a:r>
          </a:p>
          <a:p>
            <a:pPr>
              <a:spcAft>
                <a:spcPts val="300"/>
              </a:spcAft>
              <a:defRPr sz="950">
                <a:solidFill>
                  <a:srgbClr val="1E293B"/>
                </a:solidFill>
              </a:defRPr>
            </a:pPr>
            <a:r>
              <a:t>• Established standardized IT policies, coding standards, system architectures, and documentation protocols.</a:t>
            </a:r>
          </a:p>
          <a:p>
            <a:pPr>
              <a:spcAft>
                <a:spcPts val="300"/>
              </a:spcAft>
              <a:defRPr sz="950">
                <a:solidFill>
                  <a:srgbClr val="1E293B"/>
                </a:solidFill>
              </a:defRPr>
            </a:pPr>
            <a:r>
              <a:t>• Conducted architectural governance reviews to ensure maintainability, scalability, and technical debt reduction.</a:t>
            </a:r>
          </a:p>
          <a:p>
            <a:pPr>
              <a:spcAft>
                <a:spcPts val="300"/>
              </a:spcAft>
              <a:defRPr sz="950">
                <a:solidFill>
                  <a:srgbClr val="1E293B"/>
                </a:solidFill>
              </a:defRPr>
            </a:pPr>
            <a:r>
              <a:t>• Evaluated emerging enterprise technologies (cloud, automation, spatial 3D) to drive continuous capability evolution.</a:t>
            </a:r>
          </a:p>
        </p:txBody>
      </p:sp>
      <p:sp>
        <p:nvSpPr>
          <p:cNvPr id="10" name="Rounded Rectangle 9"/>
          <p:cNvSpPr/>
          <p:nvPr/>
        </p:nvSpPr>
        <p:spPr>
          <a:xfrm>
            <a:off x="6217920" y="1463040"/>
            <a:ext cx="5230368"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27064" y="1472184"/>
            <a:ext cx="5212080" cy="384048"/>
          </a:xfrm>
          <a:prstGeom prst="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517904"/>
            <a:ext cx="4864608" cy="320040"/>
          </a:xfrm>
          <a:prstGeom prst="rect">
            <a:avLst/>
          </a:prstGeom>
          <a:noFill/>
        </p:spPr>
        <p:txBody>
          <a:bodyPr wrap="none">
            <a:spAutoFit/>
          </a:bodyPr>
          <a:lstStyle/>
          <a:p>
            <a:pPr>
              <a:defRPr sz="1100" b="1">
                <a:solidFill>
                  <a:srgbClr val="FFFFFF"/>
                </a:solidFill>
              </a:defRPr>
            </a:pPr>
            <a:r>
              <a:t>2. Infrastructure Operations, Cloud &amp; Business Continuity</a:t>
            </a:r>
          </a:p>
        </p:txBody>
      </p:sp>
      <p:sp>
        <p:nvSpPr>
          <p:cNvPr id="13" name="TextBox 12"/>
          <p:cNvSpPr txBox="1"/>
          <p:nvPr/>
        </p:nvSpPr>
        <p:spPr>
          <a:xfrm>
            <a:off x="6400800" y="1901952"/>
            <a:ext cx="4864608" cy="1737360"/>
          </a:xfrm>
          <a:prstGeom prst="rect">
            <a:avLst/>
          </a:prstGeom>
          <a:noFill/>
        </p:spPr>
        <p:txBody>
          <a:bodyPr wrap="square">
            <a:spAutoFit/>
          </a:bodyPr>
          <a:lstStyle/>
          <a:p>
            <a:pPr>
              <a:spcAft>
                <a:spcPts val="300"/>
              </a:spcAft>
              <a:defRPr sz="950">
                <a:solidFill>
                  <a:srgbClr val="1E293B"/>
                </a:solidFill>
              </a:defRPr>
            </a:pPr>
            <a:r>
              <a:t>• Ensured 24/7 availability and resilience of mission-critical systems and multi-tier network topologies.</a:t>
            </a:r>
          </a:p>
          <a:p>
            <a:pPr>
              <a:spcAft>
                <a:spcPts val="300"/>
              </a:spcAft>
              <a:defRPr sz="950">
                <a:solidFill>
                  <a:srgbClr val="1E293B"/>
                </a:solidFill>
              </a:defRPr>
            </a:pPr>
            <a:r>
              <a:t>• Supervised automated backup regimens, disaster recovery (DR) simulations, and zero-loss business continuity plans.</a:t>
            </a:r>
          </a:p>
          <a:p>
            <a:pPr>
              <a:spcAft>
                <a:spcPts val="300"/>
              </a:spcAft>
              <a:defRPr sz="950">
                <a:solidFill>
                  <a:srgbClr val="1E293B"/>
                </a:solidFill>
              </a:defRPr>
            </a:pPr>
            <a:r>
              <a:t>• Managed hybrid cloud workloads, virtualization environments, network security boundaries, and telemetry.</a:t>
            </a:r>
          </a:p>
          <a:p>
            <a:pPr>
              <a:spcAft>
                <a:spcPts val="300"/>
              </a:spcAft>
              <a:defRPr sz="950">
                <a:solidFill>
                  <a:srgbClr val="1E293B"/>
                </a:solidFill>
              </a:defRPr>
            </a:pPr>
            <a:r>
              <a:t>• Instituted synthetic monitoring and automated alerting to resolve system anomalies before end-user impact.</a:t>
            </a:r>
          </a:p>
        </p:txBody>
      </p:sp>
      <p:sp>
        <p:nvSpPr>
          <p:cNvPr id="14" name="Rounded Rectangle 13"/>
          <p:cNvSpPr/>
          <p:nvPr/>
        </p:nvSpPr>
        <p:spPr>
          <a:xfrm>
            <a:off x="731520" y="3931920"/>
            <a:ext cx="5230368"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0664" y="3941064"/>
            <a:ext cx="5212080" cy="384048"/>
          </a:xfrm>
          <a:prstGeom prst="rect">
            <a:avLst/>
          </a:prstGeom>
          <a:solidFill>
            <a:srgbClr val="CC22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986784"/>
            <a:ext cx="4864608" cy="320040"/>
          </a:xfrm>
          <a:prstGeom prst="rect">
            <a:avLst/>
          </a:prstGeom>
          <a:noFill/>
        </p:spPr>
        <p:txBody>
          <a:bodyPr wrap="none">
            <a:spAutoFit/>
          </a:bodyPr>
          <a:lstStyle/>
          <a:p>
            <a:pPr>
              <a:defRPr sz="1100" b="1">
                <a:solidFill>
                  <a:srgbClr val="FFFFFF"/>
                </a:solidFill>
              </a:defRPr>
            </a:pPr>
            <a:r>
              <a:t>3. Cybersecurity Controls, Access Management &amp; Risk Mitigation</a:t>
            </a:r>
          </a:p>
        </p:txBody>
      </p:sp>
      <p:sp>
        <p:nvSpPr>
          <p:cNvPr id="17" name="TextBox 16"/>
          <p:cNvSpPr txBox="1"/>
          <p:nvPr/>
        </p:nvSpPr>
        <p:spPr>
          <a:xfrm>
            <a:off x="914400" y="4370832"/>
            <a:ext cx="4864608" cy="1737360"/>
          </a:xfrm>
          <a:prstGeom prst="rect">
            <a:avLst/>
          </a:prstGeom>
          <a:noFill/>
        </p:spPr>
        <p:txBody>
          <a:bodyPr wrap="square">
            <a:spAutoFit/>
          </a:bodyPr>
          <a:lstStyle/>
          <a:p>
            <a:pPr>
              <a:spcAft>
                <a:spcPts val="300"/>
              </a:spcAft>
              <a:defRPr sz="950">
                <a:solidFill>
                  <a:srgbClr val="1E293B"/>
                </a:solidFill>
              </a:defRPr>
            </a:pPr>
            <a:r>
              <a:t>• Enforced Zero-Trust principles, role-based access control (RBAC), multi-factor authentication (MFA), and audit logging.</a:t>
            </a:r>
          </a:p>
          <a:p>
            <a:pPr>
              <a:spcAft>
                <a:spcPts val="300"/>
              </a:spcAft>
              <a:defRPr sz="950">
                <a:solidFill>
                  <a:srgbClr val="1E293B"/>
                </a:solidFill>
              </a:defRPr>
            </a:pPr>
            <a:r>
              <a:t>• Conducted proactive vulnerability assessments, dependency scanning, code audits, and third-party risk evaluations.</a:t>
            </a:r>
          </a:p>
          <a:p>
            <a:pPr>
              <a:spcAft>
                <a:spcPts val="300"/>
              </a:spcAft>
              <a:defRPr sz="950">
                <a:solidFill>
                  <a:srgbClr val="1E293B"/>
                </a:solidFill>
              </a:defRPr>
            </a:pPr>
            <a:r>
              <a:t>• Partnered with enterprise compliance teams to ensure strict adherence to ISO 27001 and industry safety standards.</a:t>
            </a:r>
          </a:p>
          <a:p>
            <a:pPr>
              <a:spcAft>
                <a:spcPts val="300"/>
              </a:spcAft>
              <a:defRPr sz="950">
                <a:solidFill>
                  <a:srgbClr val="1E293B"/>
                </a:solidFill>
              </a:defRPr>
            </a:pPr>
            <a:r>
              <a:t>• Formulated incident response playbooks, disaster containment procedures, and cybersecurity staff training.</a:t>
            </a:r>
          </a:p>
        </p:txBody>
      </p:sp>
      <p:sp>
        <p:nvSpPr>
          <p:cNvPr id="18" name="Rounded Rectangle 17"/>
          <p:cNvSpPr/>
          <p:nvPr/>
        </p:nvSpPr>
        <p:spPr>
          <a:xfrm>
            <a:off x="6217920" y="3931920"/>
            <a:ext cx="5230368"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27064" y="3941064"/>
            <a:ext cx="5212080" cy="384048"/>
          </a:xfrm>
          <a:prstGeom prst="rect">
            <a:avLst/>
          </a:prstGeom>
          <a:solidFill>
            <a:srgbClr val="1095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3986784"/>
            <a:ext cx="4864608" cy="320040"/>
          </a:xfrm>
          <a:prstGeom prst="rect">
            <a:avLst/>
          </a:prstGeom>
          <a:noFill/>
        </p:spPr>
        <p:txBody>
          <a:bodyPr wrap="none">
            <a:spAutoFit/>
          </a:bodyPr>
          <a:lstStyle/>
          <a:p>
            <a:pPr>
              <a:defRPr sz="1100" b="1">
                <a:solidFill>
                  <a:srgbClr val="FFFFFF"/>
                </a:solidFill>
              </a:defRPr>
            </a:pPr>
            <a:r>
              <a:t>4. Team Leadership, Vendor Governance &amp; Fiscal Management</a:t>
            </a:r>
          </a:p>
        </p:txBody>
      </p:sp>
      <p:sp>
        <p:nvSpPr>
          <p:cNvPr id="21" name="TextBox 20"/>
          <p:cNvSpPr txBox="1"/>
          <p:nvPr/>
        </p:nvSpPr>
        <p:spPr>
          <a:xfrm>
            <a:off x="6400800" y="4370832"/>
            <a:ext cx="4864608" cy="1737360"/>
          </a:xfrm>
          <a:prstGeom prst="rect">
            <a:avLst/>
          </a:prstGeom>
          <a:noFill/>
        </p:spPr>
        <p:txBody>
          <a:bodyPr wrap="square">
            <a:spAutoFit/>
          </a:bodyPr>
          <a:lstStyle/>
          <a:p>
            <a:pPr>
              <a:spcAft>
                <a:spcPts val="300"/>
              </a:spcAft>
              <a:defRPr sz="950">
                <a:solidFill>
                  <a:srgbClr val="1E293B"/>
                </a:solidFill>
              </a:defRPr>
            </a:pPr>
            <a:r>
              <a:t>• Led, mentored, and fostered technical excellence across cross-functional engineering, infrastructure, and QA squads.</a:t>
            </a:r>
          </a:p>
          <a:p>
            <a:pPr>
              <a:spcAft>
                <a:spcPts val="300"/>
              </a:spcAft>
              <a:defRPr sz="950">
                <a:solidFill>
                  <a:srgbClr val="1E293B"/>
                </a:solidFill>
              </a:defRPr>
            </a:pPr>
            <a:r>
              <a:t>• Governed multi-vendor contracts, service provider RFPs, cloud infrastructure budgets, and strict SLA compliance.</a:t>
            </a:r>
          </a:p>
          <a:p>
            <a:pPr>
              <a:spcAft>
                <a:spcPts val="300"/>
              </a:spcAft>
              <a:defRPr sz="950">
                <a:solidFill>
                  <a:srgbClr val="1E293B"/>
                </a:solidFill>
              </a:defRPr>
            </a:pPr>
            <a:r>
              <a:t>• Optimized CapEx and OpEx allocations through license rationalization, automation, and cloud cost management.</a:t>
            </a:r>
          </a:p>
          <a:p>
            <a:pPr>
              <a:spcAft>
                <a:spcPts val="300"/>
              </a:spcAft>
              <a:defRPr sz="950">
                <a:solidFill>
                  <a:srgbClr val="1E293B"/>
                </a:solidFill>
              </a:defRPr>
            </a:pPr>
            <a:r>
              <a:t>• Instituted transparent KPI dashboards tracking uptime, incident resolution MTTR, and engineering delivery velocity.</a:t>
            </a:r>
          </a:p>
        </p:txBody>
      </p:sp>
      <p:sp>
        <p:nvSpPr>
          <p:cNvPr id="22" name="TextBox 21"/>
          <p:cNvSpPr txBox="1"/>
          <p:nvPr/>
        </p:nvSpPr>
        <p:spPr>
          <a:xfrm>
            <a:off x="731520" y="6446520"/>
            <a:ext cx="10728655" cy="320040"/>
          </a:xfrm>
          <a:prstGeom prst="rect">
            <a:avLst/>
          </a:prstGeom>
          <a:noFill/>
        </p:spPr>
        <p:txBody>
          <a:bodyPr wrap="none" lIns="0" rIns="0" tIns="0" bIns="0">
            <a:spAutoFit/>
          </a:bodyPr>
          <a:lstStyle/>
          <a:p>
            <a:pPr>
              <a:defRPr sz="900">
                <a:solidFill>
                  <a:srgbClr val="64748B"/>
                </a:solidFill>
              </a:defRPr>
            </a:pPr>
            <a:r>
              <a:t>Obayashi Corporation · Senior Manager – IT Candidate Portfolio | Maheshchandra Hegde · Slide 6 of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74320"/>
          </a:xfrm>
          <a:prstGeom prst="rect">
            <a:avLst/>
          </a:prstGeom>
          <a:noFill/>
        </p:spPr>
        <p:txBody>
          <a:bodyPr wrap="square" lIns="0" rIns="0" tIns="0" bIns="0">
            <a:spAutoFit/>
          </a:bodyPr>
          <a:lstStyle/>
          <a:p>
            <a:pPr>
              <a:defRPr sz="1100" b="1">
                <a:solidFill>
                  <a:srgbClr val="004E96"/>
                </a:solidFill>
              </a:defRPr>
            </a:pPr>
            <a:r>
              <a:t>BUSINESS IMPACT &amp; VALUE DELIVERY</a:t>
            </a:r>
          </a:p>
        </p:txBody>
      </p:sp>
      <p:sp>
        <p:nvSpPr>
          <p:cNvPr id="4" name="TextBox 3"/>
          <p:cNvSpPr txBox="1"/>
          <p:nvPr/>
        </p:nvSpPr>
        <p:spPr>
          <a:xfrm>
            <a:off x="731520" y="658368"/>
            <a:ext cx="10698480" cy="502920"/>
          </a:xfrm>
          <a:prstGeom prst="rect">
            <a:avLst/>
          </a:prstGeom>
          <a:noFill/>
        </p:spPr>
        <p:txBody>
          <a:bodyPr wrap="square" lIns="0" rIns="0" tIns="0" bIns="0">
            <a:spAutoFit/>
          </a:bodyPr>
          <a:lstStyle/>
          <a:p>
            <a:pPr>
              <a:defRPr sz="2100" b="1">
                <a:solidFill>
                  <a:srgbClr val="0F1E36"/>
                </a:solidFill>
              </a:defRPr>
            </a:pPr>
            <a:r>
              <a:t>Major Achievements &amp; Quantifiable IT &amp; Spatial Engineering Milestones</a:t>
            </a:r>
          </a:p>
        </p:txBody>
      </p:sp>
      <p:sp>
        <p:nvSpPr>
          <p:cNvPr id="5" name="Rectangle 4"/>
          <p:cNvSpPr/>
          <p:nvPr/>
        </p:nvSpPr>
        <p:spPr>
          <a:xfrm>
            <a:off x="731520" y="1234440"/>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2542032" cy="1371600"/>
          </a:xfrm>
          <a:prstGeom prst="roundRect">
            <a:avLst/>
          </a:prstGeom>
          <a:solidFill>
            <a:srgbClr val="FFFFFF"/>
          </a:solidFill>
          <a:ln w="12700">
            <a:solidFill>
              <a:srgbClr val="004E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572768"/>
            <a:ext cx="2322576" cy="1152144"/>
          </a:xfrm>
          <a:prstGeom prst="rect">
            <a:avLst/>
          </a:prstGeom>
          <a:noFill/>
        </p:spPr>
        <p:txBody>
          <a:bodyPr wrap="square">
            <a:spAutoFit/>
          </a:bodyPr>
          <a:lstStyle/>
          <a:p>
            <a:pPr>
              <a:spcAft>
                <a:spcPts val="200"/>
              </a:spcAft>
              <a:defRPr sz="2400" b="1">
                <a:solidFill>
                  <a:srgbClr val="004E96"/>
                </a:solidFill>
              </a:defRPr>
            </a:pPr>
            <a:r>
              <a:t>99.95%+</a:t>
            </a:r>
          </a:p>
          <a:p>
            <a:pPr>
              <a:spcAft>
                <a:spcPts val="200"/>
              </a:spcAft>
              <a:defRPr sz="1000" b="1">
                <a:solidFill>
                  <a:srgbClr val="0F1E36"/>
                </a:solidFill>
              </a:defRPr>
            </a:pPr>
            <a:r>
              <a:t>System Availability</a:t>
            </a:r>
          </a:p>
          <a:p>
            <a:pPr>
              <a:defRPr sz="850">
                <a:solidFill>
                  <a:srgbClr val="64748B"/>
                </a:solidFill>
              </a:defRPr>
            </a:pPr>
            <a:r>
              <a:t>Sustained across 24/7 clinical ICU operations and high-traffic event workloads</a:t>
            </a:r>
          </a:p>
        </p:txBody>
      </p:sp>
      <p:sp>
        <p:nvSpPr>
          <p:cNvPr id="8" name="Rounded Rectangle 7"/>
          <p:cNvSpPr/>
          <p:nvPr/>
        </p:nvSpPr>
        <p:spPr>
          <a:xfrm>
            <a:off x="3456432" y="1463040"/>
            <a:ext cx="2542032" cy="1371600"/>
          </a:xfrm>
          <a:prstGeom prst="roundRect">
            <a:avLst/>
          </a:prstGeom>
          <a:solidFill>
            <a:srgbClr val="FFFFFF"/>
          </a:solidFill>
          <a:ln w="12700">
            <a:solidFill>
              <a:srgbClr val="004E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66160" y="1572768"/>
            <a:ext cx="2322576" cy="1152144"/>
          </a:xfrm>
          <a:prstGeom prst="rect">
            <a:avLst/>
          </a:prstGeom>
          <a:noFill/>
        </p:spPr>
        <p:txBody>
          <a:bodyPr wrap="square">
            <a:spAutoFit/>
          </a:bodyPr>
          <a:lstStyle/>
          <a:p>
            <a:pPr>
              <a:spcAft>
                <a:spcPts val="200"/>
              </a:spcAft>
              <a:defRPr sz="2400" b="1">
                <a:solidFill>
                  <a:srgbClr val="004E96"/>
                </a:solidFill>
              </a:defRPr>
            </a:pPr>
            <a:r>
              <a:t>100%</a:t>
            </a:r>
          </a:p>
          <a:p>
            <a:pPr>
              <a:spcAft>
                <a:spcPts val="200"/>
              </a:spcAft>
              <a:defRPr sz="1000" b="1">
                <a:solidFill>
                  <a:srgbClr val="0F1E36"/>
                </a:solidFill>
              </a:defRPr>
            </a:pPr>
            <a:r>
              <a:t>Data Persistence at Edge</a:t>
            </a:r>
          </a:p>
          <a:p>
            <a:pPr>
              <a:defRPr sz="850">
                <a:solidFill>
                  <a:srgbClr val="64748B"/>
                </a:solidFill>
              </a:defRPr>
            </a:pPr>
            <a:r>
              <a:t>Zero data loss during field network disconnections via offline-first syncing engine</a:t>
            </a:r>
          </a:p>
        </p:txBody>
      </p:sp>
      <p:sp>
        <p:nvSpPr>
          <p:cNvPr id="10" name="Rounded Rectangle 9"/>
          <p:cNvSpPr/>
          <p:nvPr/>
        </p:nvSpPr>
        <p:spPr>
          <a:xfrm>
            <a:off x="6181344" y="1463040"/>
            <a:ext cx="2542032" cy="1371600"/>
          </a:xfrm>
          <a:prstGeom prst="roundRect">
            <a:avLst/>
          </a:prstGeom>
          <a:solidFill>
            <a:srgbClr val="FFFFFF"/>
          </a:solidFill>
          <a:ln w="12700">
            <a:solidFill>
              <a:srgbClr val="004E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91072" y="1572768"/>
            <a:ext cx="2322576" cy="1152144"/>
          </a:xfrm>
          <a:prstGeom prst="rect">
            <a:avLst/>
          </a:prstGeom>
          <a:noFill/>
        </p:spPr>
        <p:txBody>
          <a:bodyPr wrap="square">
            <a:spAutoFit/>
          </a:bodyPr>
          <a:lstStyle/>
          <a:p>
            <a:pPr>
              <a:spcAft>
                <a:spcPts val="200"/>
              </a:spcAft>
              <a:defRPr sz="2400" b="1">
                <a:solidFill>
                  <a:srgbClr val="004E96"/>
                </a:solidFill>
              </a:defRPr>
            </a:pPr>
            <a:r>
              <a:t>50+</a:t>
            </a:r>
          </a:p>
          <a:p>
            <a:pPr>
              <a:spcAft>
                <a:spcPts val="200"/>
              </a:spcAft>
              <a:defRPr sz="1000" b="1">
                <a:solidFill>
                  <a:srgbClr val="0F1E36"/>
                </a:solidFill>
              </a:defRPr>
            </a:pPr>
            <a:r>
              <a:t>3D &amp; Spatial Projects</a:t>
            </a:r>
          </a:p>
          <a:p>
            <a:pPr>
              <a:defRPr sz="850">
                <a:solidFill>
                  <a:srgbClr val="64748B"/>
                </a:solidFill>
              </a:defRPr>
            </a:pPr>
            <a:r>
              <a:t>Delivered across architectural visualization, CAD, flight simulation &amp; AI workflows</a:t>
            </a:r>
          </a:p>
        </p:txBody>
      </p:sp>
      <p:sp>
        <p:nvSpPr>
          <p:cNvPr id="12" name="Rounded Rectangle 11"/>
          <p:cNvSpPr/>
          <p:nvPr/>
        </p:nvSpPr>
        <p:spPr>
          <a:xfrm>
            <a:off x="8906256" y="1463040"/>
            <a:ext cx="2542032" cy="1371600"/>
          </a:xfrm>
          <a:prstGeom prst="roundRect">
            <a:avLst/>
          </a:prstGeom>
          <a:solidFill>
            <a:srgbClr val="FFFFFF"/>
          </a:solidFill>
          <a:ln w="12700">
            <a:solidFill>
              <a:srgbClr val="004E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15984" y="1572768"/>
            <a:ext cx="2322576" cy="1152144"/>
          </a:xfrm>
          <a:prstGeom prst="rect">
            <a:avLst/>
          </a:prstGeom>
          <a:noFill/>
        </p:spPr>
        <p:txBody>
          <a:bodyPr wrap="square">
            <a:spAutoFit/>
          </a:bodyPr>
          <a:lstStyle/>
          <a:p>
            <a:pPr>
              <a:spcAft>
                <a:spcPts val="200"/>
              </a:spcAft>
              <a:defRPr sz="2400" b="1">
                <a:solidFill>
                  <a:srgbClr val="004E96"/>
                </a:solidFill>
              </a:defRPr>
            </a:pPr>
            <a:r>
              <a:t>22%</a:t>
            </a:r>
          </a:p>
          <a:p>
            <a:pPr>
              <a:spcAft>
                <a:spcPts val="200"/>
              </a:spcAft>
              <a:defRPr sz="1000" b="1">
                <a:solidFill>
                  <a:srgbClr val="0F1E36"/>
                </a:solidFill>
              </a:defRPr>
            </a:pPr>
            <a:r>
              <a:t>Cloud Cost Optimization</a:t>
            </a:r>
          </a:p>
          <a:p>
            <a:pPr>
              <a:defRPr sz="850">
                <a:solidFill>
                  <a:srgbClr val="64748B"/>
                </a:solidFill>
              </a:defRPr>
            </a:pPr>
            <a:r>
              <a:t>Saved through resource rightsizing, auto-scaling policies, and license rationalization</a:t>
            </a:r>
          </a:p>
        </p:txBody>
      </p:sp>
      <p:sp>
        <p:nvSpPr>
          <p:cNvPr id="14" name="Rounded Rectangle 13"/>
          <p:cNvSpPr/>
          <p:nvPr/>
        </p:nvSpPr>
        <p:spPr>
          <a:xfrm>
            <a:off x="731520" y="2971800"/>
            <a:ext cx="10728655" cy="768096"/>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3044952"/>
            <a:ext cx="10332720" cy="621792"/>
          </a:xfrm>
          <a:prstGeom prst="rect">
            <a:avLst/>
          </a:prstGeom>
          <a:noFill/>
        </p:spPr>
        <p:txBody>
          <a:bodyPr wrap="square">
            <a:spAutoFit/>
          </a:bodyPr>
          <a:lstStyle/>
          <a:p>
            <a:pPr>
              <a:spcAft>
                <a:spcPts val="200"/>
              </a:spcAft>
              <a:defRPr sz="1100" b="1">
                <a:solidFill>
                  <a:srgbClr val="0F1E36"/>
                </a:solidFill>
              </a:defRPr>
            </a:pPr>
            <a:r>
              <a:t>★  Enterprise Architecture Modernization &amp; Zero-Downtime Migration</a:t>
            </a:r>
          </a:p>
          <a:p>
            <a:pPr>
              <a:defRPr sz="900">
                <a:solidFill>
                  <a:srgbClr val="1E293B"/>
                </a:solidFill>
              </a:defRPr>
            </a:pPr>
            <a:r>
              <a:t>Successfully transformed legacy monolithic systems into modular, API-driven architectures at Cyient/Philips and Technoyana. Reduced regression cycles from weeks to hours and eliminated deployment downtime, ensuring hospital and enterprise operations remained completely uninterrupted during version upgrades.</a:t>
            </a:r>
          </a:p>
        </p:txBody>
      </p:sp>
      <p:sp>
        <p:nvSpPr>
          <p:cNvPr id="16" name="Rounded Rectangle 15"/>
          <p:cNvSpPr/>
          <p:nvPr/>
        </p:nvSpPr>
        <p:spPr>
          <a:xfrm>
            <a:off x="731520" y="3813048"/>
            <a:ext cx="10728655" cy="768096"/>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886200"/>
            <a:ext cx="10332720" cy="621792"/>
          </a:xfrm>
          <a:prstGeom prst="rect">
            <a:avLst/>
          </a:prstGeom>
          <a:noFill/>
        </p:spPr>
        <p:txBody>
          <a:bodyPr wrap="square">
            <a:spAutoFit/>
          </a:bodyPr>
          <a:lstStyle/>
          <a:p>
            <a:pPr>
              <a:spcAft>
                <a:spcPts val="200"/>
              </a:spcAft>
              <a:defRPr sz="1100" b="1">
                <a:solidFill>
                  <a:srgbClr val="0F1E36"/>
                </a:solidFill>
              </a:defRPr>
            </a:pPr>
            <a:r>
              <a:t>★  Multi-Site Network Resilience &amp; Field Data Integrity Engine</a:t>
            </a:r>
          </a:p>
          <a:p>
            <a:pPr>
              <a:defRPr sz="900">
                <a:solidFill>
                  <a:srgbClr val="1E293B"/>
                </a:solidFill>
              </a:defRPr>
            </a:pPr>
            <a:r>
              <a:t>Designed and deployed an edge-resilient synchronization pipeline for environments plagued by unstable cellular and local networks. Handled thousands of concurrent transactional updates offline with automatic background sync and deterministic conflict resolution upon network restoration.</a:t>
            </a:r>
          </a:p>
        </p:txBody>
      </p:sp>
      <p:sp>
        <p:nvSpPr>
          <p:cNvPr id="18" name="Rounded Rectangle 17"/>
          <p:cNvSpPr/>
          <p:nvPr/>
        </p:nvSpPr>
        <p:spPr>
          <a:xfrm>
            <a:off x="731520" y="4654296"/>
            <a:ext cx="10728655" cy="768096"/>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727448"/>
            <a:ext cx="10332720" cy="621792"/>
          </a:xfrm>
          <a:prstGeom prst="rect">
            <a:avLst/>
          </a:prstGeom>
          <a:noFill/>
        </p:spPr>
        <p:txBody>
          <a:bodyPr wrap="square">
            <a:spAutoFit/>
          </a:bodyPr>
          <a:lstStyle/>
          <a:p>
            <a:pPr>
              <a:spcAft>
                <a:spcPts val="200"/>
              </a:spcAft>
              <a:defRPr sz="1100" b="1">
                <a:solidFill>
                  <a:srgbClr val="0F1E36"/>
                </a:solidFill>
              </a:defRPr>
            </a:pPr>
            <a:r>
              <a:t>★  Spatial 3D Asset Pipelines &amp; Generative AI Innovation (Voxelforge AI / ayam3d)</a:t>
            </a:r>
          </a:p>
          <a:p>
            <a:pPr>
              <a:defRPr sz="900">
                <a:solidFill>
                  <a:srgbClr val="1E293B"/>
                </a:solidFill>
              </a:defRPr>
            </a:pPr>
            <a:r>
              <a:t>Successfully built scalable automated pipelines converting complex 3D meshes into real-time, low-poly assets with automated retopology and PBR texturing. Unlocked web-based 3D digital twin rendering without requiring expensive on-site graphics hardware.</a:t>
            </a:r>
          </a:p>
        </p:txBody>
      </p:sp>
      <p:sp>
        <p:nvSpPr>
          <p:cNvPr id="20" name="Rounded Rectangle 19"/>
          <p:cNvSpPr/>
          <p:nvPr/>
        </p:nvSpPr>
        <p:spPr>
          <a:xfrm>
            <a:off x="731520" y="5495544"/>
            <a:ext cx="10728655" cy="768096"/>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568696"/>
            <a:ext cx="10332720" cy="621792"/>
          </a:xfrm>
          <a:prstGeom prst="rect">
            <a:avLst/>
          </a:prstGeom>
          <a:noFill/>
        </p:spPr>
        <p:txBody>
          <a:bodyPr wrap="square">
            <a:spAutoFit/>
          </a:bodyPr>
          <a:lstStyle/>
          <a:p>
            <a:pPr>
              <a:spcAft>
                <a:spcPts val="200"/>
              </a:spcAft>
              <a:defRPr sz="1100" b="1">
                <a:solidFill>
                  <a:srgbClr val="0F1E36"/>
                </a:solidFill>
              </a:defRPr>
            </a:pPr>
            <a:r>
              <a:t>★  Enterprise Operational Governance &amp; Multi-Vendor SLA Excellence</a:t>
            </a:r>
          </a:p>
          <a:p>
            <a:pPr>
              <a:defRPr sz="900">
                <a:solidFill>
                  <a:srgbClr val="1E293B"/>
                </a:solidFill>
              </a:defRPr>
            </a:pPr>
            <a:r>
              <a:t>Managed cross-functional technical teams (15+ engineers, QA, DevOps) and vendor relationships with infrastructure providers, software vendors, and hardware suppliers. Standardized SLA benchmarks, improved incident MTTR by 40%, and received multiple corporate awards for excellence.</a:t>
            </a:r>
          </a:p>
        </p:txBody>
      </p:sp>
      <p:sp>
        <p:nvSpPr>
          <p:cNvPr id="22" name="TextBox 21"/>
          <p:cNvSpPr txBox="1"/>
          <p:nvPr/>
        </p:nvSpPr>
        <p:spPr>
          <a:xfrm>
            <a:off x="731520" y="6446520"/>
            <a:ext cx="10728655" cy="320040"/>
          </a:xfrm>
          <a:prstGeom prst="rect">
            <a:avLst/>
          </a:prstGeom>
          <a:noFill/>
        </p:spPr>
        <p:txBody>
          <a:bodyPr wrap="none" lIns="0" rIns="0" tIns="0" bIns="0">
            <a:spAutoFit/>
          </a:bodyPr>
          <a:lstStyle/>
          <a:p>
            <a:pPr>
              <a:defRPr sz="900">
                <a:solidFill>
                  <a:srgbClr val="64748B"/>
                </a:solidFill>
              </a:defRPr>
            </a:pPr>
            <a:r>
              <a:t>Obayashi Corporation · Senior Manager – IT Candidate Portfolio | Maheshchandra Hegde · Slide 7 of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74320"/>
          </a:xfrm>
          <a:prstGeom prst="rect">
            <a:avLst/>
          </a:prstGeom>
          <a:noFill/>
        </p:spPr>
        <p:txBody>
          <a:bodyPr wrap="square" lIns="0" rIns="0" tIns="0" bIns="0">
            <a:spAutoFit/>
          </a:bodyPr>
          <a:lstStyle/>
          <a:p>
            <a:pPr>
              <a:defRPr sz="1100" b="1">
                <a:solidFill>
                  <a:srgbClr val="004E96"/>
                </a:solidFill>
              </a:defRPr>
            </a:pPr>
            <a:r>
              <a:t>PROBLEM SOLVING &amp; CRISIS MANAGEMENT</a:t>
            </a:r>
          </a:p>
        </p:txBody>
      </p:sp>
      <p:sp>
        <p:nvSpPr>
          <p:cNvPr id="4" name="TextBox 3"/>
          <p:cNvSpPr txBox="1"/>
          <p:nvPr/>
        </p:nvSpPr>
        <p:spPr>
          <a:xfrm>
            <a:off x="731520" y="658368"/>
            <a:ext cx="10698480" cy="502920"/>
          </a:xfrm>
          <a:prstGeom prst="rect">
            <a:avLst/>
          </a:prstGeom>
          <a:noFill/>
        </p:spPr>
        <p:txBody>
          <a:bodyPr wrap="square" lIns="0" rIns="0" tIns="0" bIns="0">
            <a:spAutoFit/>
          </a:bodyPr>
          <a:lstStyle/>
          <a:p>
            <a:pPr>
              <a:defRPr sz="2100" b="1">
                <a:solidFill>
                  <a:srgbClr val="0F1E36"/>
                </a:solidFill>
              </a:defRPr>
            </a:pPr>
            <a:r>
              <a:t>Challenges Faced &amp; Strategic Resolutions Implemented</a:t>
            </a:r>
          </a:p>
        </p:txBody>
      </p:sp>
      <p:sp>
        <p:nvSpPr>
          <p:cNvPr id="5" name="Rectangle 4"/>
          <p:cNvSpPr/>
          <p:nvPr/>
        </p:nvSpPr>
        <p:spPr>
          <a:xfrm>
            <a:off x="731520" y="1234440"/>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10728655" cy="148132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572768"/>
            <a:ext cx="4389120" cy="1280160"/>
          </a:xfrm>
          <a:prstGeom prst="rect">
            <a:avLst/>
          </a:prstGeom>
          <a:noFill/>
        </p:spPr>
        <p:txBody>
          <a:bodyPr wrap="square">
            <a:spAutoFit/>
          </a:bodyPr>
          <a:lstStyle/>
          <a:p>
            <a:pPr>
              <a:spcAft>
                <a:spcPts val="300"/>
              </a:spcAft>
              <a:defRPr sz="1100" b="1">
                <a:solidFill>
                  <a:srgbClr val="CC2229"/>
                </a:solidFill>
              </a:defRPr>
            </a:pPr>
            <a:r>
              <a:t>Challenge 1: Severe Network Fluctuation &amp; Remote Connectivity Drops</a:t>
            </a:r>
          </a:p>
          <a:p>
            <a:pPr>
              <a:defRPr sz="900">
                <a:solidFill>
                  <a:srgbClr val="1E293B"/>
                </a:solidFill>
              </a:defRPr>
            </a:pPr>
            <a:r>
              <a:t>Operating conditions at remote event venues and distributed client sites suffered frequent Wi-Fi packet drops, ISP latency spikes, and dead zones, causing cloud disconnects and user data loss.</a:t>
            </a:r>
          </a:p>
        </p:txBody>
      </p:sp>
      <p:sp>
        <p:nvSpPr>
          <p:cNvPr id="8" name="Rectangle 7"/>
          <p:cNvSpPr/>
          <p:nvPr/>
        </p:nvSpPr>
        <p:spPr>
          <a:xfrm>
            <a:off x="5486400" y="1600200"/>
            <a:ext cx="18288" cy="118872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0" y="1572768"/>
            <a:ext cx="5577840" cy="1280160"/>
          </a:xfrm>
          <a:prstGeom prst="rect">
            <a:avLst/>
          </a:prstGeom>
          <a:noFill/>
        </p:spPr>
        <p:txBody>
          <a:bodyPr wrap="square">
            <a:spAutoFit/>
          </a:bodyPr>
          <a:lstStyle/>
          <a:p>
            <a:pPr>
              <a:spcAft>
                <a:spcPts val="200"/>
              </a:spcAft>
              <a:defRPr sz="1100" b="1">
                <a:solidFill>
                  <a:srgbClr val="004E96"/>
                </a:solidFill>
              </a:defRPr>
            </a:pPr>
            <a:r>
              <a:t>Resolution Implemented:</a:t>
            </a:r>
          </a:p>
          <a:p>
            <a:pPr>
              <a:spcAft>
                <a:spcPts val="300"/>
              </a:spcAft>
              <a:defRPr sz="900">
                <a:solidFill>
                  <a:srgbClr val="1E293B"/>
                </a:solidFill>
              </a:defRPr>
            </a:pPr>
            <a:r>
              <a:t>Architected an 'Offline-First' state engine using IndexedDB client persistence and service workers. Implemented optimistic UI updates and a transactional event replay queue that automatically resynchronizes once the network reconnects.</a:t>
            </a:r>
          </a:p>
          <a:p>
            <a:pPr>
              <a:defRPr sz="900" b="1">
                <a:solidFill>
                  <a:srgbClr val="109563"/>
                </a:solidFill>
              </a:defRPr>
            </a:pPr>
            <a:r>
              <a:t>Result: Impact: 100% data preservation, zero operator workflow interruptions, seamless user experience.</a:t>
            </a:r>
          </a:p>
        </p:txBody>
      </p:sp>
      <p:sp>
        <p:nvSpPr>
          <p:cNvPr id="10" name="Rounded Rectangle 9"/>
          <p:cNvSpPr/>
          <p:nvPr/>
        </p:nvSpPr>
        <p:spPr>
          <a:xfrm>
            <a:off x="731520" y="3072384"/>
            <a:ext cx="10728655" cy="148132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182112"/>
            <a:ext cx="4389120" cy="1280160"/>
          </a:xfrm>
          <a:prstGeom prst="rect">
            <a:avLst/>
          </a:prstGeom>
          <a:noFill/>
        </p:spPr>
        <p:txBody>
          <a:bodyPr wrap="square">
            <a:spAutoFit/>
          </a:bodyPr>
          <a:lstStyle/>
          <a:p>
            <a:pPr>
              <a:spcAft>
                <a:spcPts val="300"/>
              </a:spcAft>
              <a:defRPr sz="1100" b="1">
                <a:solidFill>
                  <a:srgbClr val="CC2229"/>
                </a:solidFill>
              </a:defRPr>
            </a:pPr>
            <a:r>
              <a:t>Challenge 2: High Bandwidth Saturation &amp; Latency Rendering Heavy 3D Assets on Edge Devices</a:t>
            </a:r>
          </a:p>
          <a:p>
            <a:pPr>
              <a:defRPr sz="900">
                <a:solidFill>
                  <a:srgbClr val="1E293B"/>
                </a:solidFill>
              </a:defRPr>
            </a:pPr>
            <a:r>
              <a:t>Heavy 3D models, complex CAD geometry, and unoptimized high-poly meshes caused browser crashes, memory overflows, and unacceptable load times over mobile job-site networks.</a:t>
            </a:r>
          </a:p>
        </p:txBody>
      </p:sp>
      <p:sp>
        <p:nvSpPr>
          <p:cNvPr id="12" name="Rectangle 11"/>
          <p:cNvSpPr/>
          <p:nvPr/>
        </p:nvSpPr>
        <p:spPr>
          <a:xfrm>
            <a:off x="5486400" y="3209544"/>
            <a:ext cx="18288" cy="118872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0" y="3182112"/>
            <a:ext cx="5577840" cy="1280160"/>
          </a:xfrm>
          <a:prstGeom prst="rect">
            <a:avLst/>
          </a:prstGeom>
          <a:noFill/>
        </p:spPr>
        <p:txBody>
          <a:bodyPr wrap="square">
            <a:spAutoFit/>
          </a:bodyPr>
          <a:lstStyle/>
          <a:p>
            <a:pPr>
              <a:spcAft>
                <a:spcPts val="200"/>
              </a:spcAft>
              <a:defRPr sz="1100" b="1">
                <a:solidFill>
                  <a:srgbClr val="004E96"/>
                </a:solidFill>
              </a:defRPr>
            </a:pPr>
            <a:r>
              <a:t>Resolution Implemented:</a:t>
            </a:r>
          </a:p>
          <a:p>
            <a:pPr>
              <a:spcAft>
                <a:spcPts val="300"/>
              </a:spcAft>
              <a:defRPr sz="900">
                <a:solidFill>
                  <a:srgbClr val="1E293B"/>
                </a:solidFill>
              </a:defRPr>
            </a:pPr>
            <a:r>
              <a:t>Leveraged Voxelforge AI and ayam3d retopology algorithms to automate progressive LOD (Level of Detail) mesh compression and texture atlas baking, paired with client-side WebGL progressive loading.</a:t>
            </a:r>
          </a:p>
          <a:p>
            <a:pPr>
              <a:defRPr sz="900" b="1">
                <a:solidFill>
                  <a:srgbClr val="109563"/>
                </a:solidFill>
              </a:defRPr>
            </a:pPr>
            <a:r>
              <a:t>Result: Impact: Slashed 3D asset file sizes by 75%, achieved 60 FPS rendering on mobile devices without expensive GPU workstations.</a:t>
            </a:r>
          </a:p>
        </p:txBody>
      </p:sp>
      <p:sp>
        <p:nvSpPr>
          <p:cNvPr id="14" name="Rounded Rectangle 13"/>
          <p:cNvSpPr/>
          <p:nvPr/>
        </p:nvSpPr>
        <p:spPr>
          <a:xfrm>
            <a:off x="731520" y="4681728"/>
            <a:ext cx="10728655" cy="148132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791456"/>
            <a:ext cx="4389120" cy="1280160"/>
          </a:xfrm>
          <a:prstGeom prst="rect">
            <a:avLst/>
          </a:prstGeom>
          <a:noFill/>
        </p:spPr>
        <p:txBody>
          <a:bodyPr wrap="square">
            <a:spAutoFit/>
          </a:bodyPr>
          <a:lstStyle/>
          <a:p>
            <a:pPr>
              <a:spcAft>
                <a:spcPts val="300"/>
              </a:spcAft>
              <a:defRPr sz="1100" b="1">
                <a:solidFill>
                  <a:srgbClr val="CC2229"/>
                </a:solidFill>
              </a:defRPr>
            </a:pPr>
            <a:r>
              <a:t>Challenge 3: Complex Multi-Vendor Dependencies &amp; SLA Enforcement Gaps</a:t>
            </a:r>
          </a:p>
          <a:p>
            <a:pPr>
              <a:defRPr sz="900">
                <a:solidFill>
                  <a:srgbClr val="1E293B"/>
                </a:solidFill>
              </a:defRPr>
            </a:pPr>
            <a:r>
              <a:t>Dispersed third-party cloud tools, software licenses, and hardware vendors lacked centralized SLA tracking, resulting in finger-pointing during service degradation and creeping monthly cloud expenditure.</a:t>
            </a:r>
          </a:p>
        </p:txBody>
      </p:sp>
      <p:sp>
        <p:nvSpPr>
          <p:cNvPr id="16" name="Rectangle 15"/>
          <p:cNvSpPr/>
          <p:nvPr/>
        </p:nvSpPr>
        <p:spPr>
          <a:xfrm>
            <a:off x="5486400" y="4818888"/>
            <a:ext cx="18288" cy="118872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0" y="4791456"/>
            <a:ext cx="5577840" cy="1280160"/>
          </a:xfrm>
          <a:prstGeom prst="rect">
            <a:avLst/>
          </a:prstGeom>
          <a:noFill/>
        </p:spPr>
        <p:txBody>
          <a:bodyPr wrap="square">
            <a:spAutoFit/>
          </a:bodyPr>
          <a:lstStyle/>
          <a:p>
            <a:pPr>
              <a:spcAft>
                <a:spcPts val="200"/>
              </a:spcAft>
              <a:defRPr sz="1100" b="1">
                <a:solidFill>
                  <a:srgbClr val="004E96"/>
                </a:solidFill>
              </a:defRPr>
            </a:pPr>
            <a:r>
              <a:t>Resolution Implemented:</a:t>
            </a:r>
          </a:p>
          <a:p>
            <a:pPr>
              <a:spcAft>
                <a:spcPts val="300"/>
              </a:spcAft>
              <a:defRPr sz="900">
                <a:solidFill>
                  <a:srgbClr val="1E293B"/>
                </a:solidFill>
              </a:defRPr>
            </a:pPr>
            <a:r>
              <a:t>Instituted a centralized IT Governance &amp; SLA Dashboard with automated latency/uptime telemetry. Standardized vendor contract SLAs with penalty clauses, monthly executive reviews, and automated idle resource termination.</a:t>
            </a:r>
          </a:p>
          <a:p>
            <a:pPr>
              <a:defRPr sz="900" b="1">
                <a:solidFill>
                  <a:srgbClr val="109563"/>
                </a:solidFill>
              </a:defRPr>
            </a:pPr>
            <a:r>
              <a:t>Result: Impact: Slashed mean-time-to-resolution (MTTR) by 40% and trimmed recurring cloud/vendor spend by 22%.</a:t>
            </a:r>
          </a:p>
        </p:txBody>
      </p:sp>
      <p:sp>
        <p:nvSpPr>
          <p:cNvPr id="18" name="TextBox 17"/>
          <p:cNvSpPr txBox="1"/>
          <p:nvPr/>
        </p:nvSpPr>
        <p:spPr>
          <a:xfrm>
            <a:off x="731520" y="6446520"/>
            <a:ext cx="10728655" cy="320040"/>
          </a:xfrm>
          <a:prstGeom prst="rect">
            <a:avLst/>
          </a:prstGeom>
          <a:noFill/>
        </p:spPr>
        <p:txBody>
          <a:bodyPr wrap="none" lIns="0" rIns="0" tIns="0" bIns="0">
            <a:spAutoFit/>
          </a:bodyPr>
          <a:lstStyle/>
          <a:p>
            <a:pPr>
              <a:defRPr sz="900">
                <a:solidFill>
                  <a:srgbClr val="64748B"/>
                </a:solidFill>
              </a:defRPr>
            </a:pPr>
            <a:r>
              <a:t>Obayashi Corporation · Senior Manager – IT Candidate Portfolio | Maheshchandra Hegde · Slide 8 of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74320"/>
          </a:xfrm>
          <a:prstGeom prst="rect">
            <a:avLst/>
          </a:prstGeom>
          <a:noFill/>
        </p:spPr>
        <p:txBody>
          <a:bodyPr wrap="square" lIns="0" rIns="0" tIns="0" bIns="0">
            <a:spAutoFit/>
          </a:bodyPr>
          <a:lstStyle/>
          <a:p>
            <a:pPr>
              <a:defRPr sz="1100" b="1">
                <a:solidFill>
                  <a:srgbClr val="004E96"/>
                </a:solidFill>
              </a:defRPr>
            </a:pPr>
            <a:r>
              <a:t>OPERATIONAL PHILOSOPHY</a:t>
            </a:r>
          </a:p>
        </p:txBody>
      </p:sp>
      <p:sp>
        <p:nvSpPr>
          <p:cNvPr id="4" name="TextBox 3"/>
          <p:cNvSpPr txBox="1"/>
          <p:nvPr/>
        </p:nvSpPr>
        <p:spPr>
          <a:xfrm>
            <a:off x="731520" y="658368"/>
            <a:ext cx="10698480" cy="502920"/>
          </a:xfrm>
          <a:prstGeom prst="rect">
            <a:avLst/>
          </a:prstGeom>
          <a:noFill/>
        </p:spPr>
        <p:txBody>
          <a:bodyPr wrap="square" lIns="0" rIns="0" tIns="0" bIns="0">
            <a:spAutoFit/>
          </a:bodyPr>
          <a:lstStyle/>
          <a:p>
            <a:pPr>
              <a:defRPr sz="2100" b="1">
                <a:solidFill>
                  <a:srgbClr val="0F1E36"/>
                </a:solidFill>
              </a:defRPr>
            </a:pPr>
            <a:r>
              <a:t>Lessons Learned &amp; Enterprise Best Practices</a:t>
            </a:r>
          </a:p>
        </p:txBody>
      </p:sp>
      <p:sp>
        <p:nvSpPr>
          <p:cNvPr id="5" name="Rectangle 4"/>
          <p:cNvSpPr/>
          <p:nvPr/>
        </p:nvSpPr>
        <p:spPr>
          <a:xfrm>
            <a:off x="731520" y="1234440"/>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10728655"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463040"/>
            <a:ext cx="109728" cy="1051560"/>
          </a:xfrm>
          <a:prstGeom prst="rect">
            <a:avLst/>
          </a:prstGeom>
          <a:solidFill>
            <a:srgbClr val="004E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572768"/>
            <a:ext cx="10149840" cy="868680"/>
          </a:xfrm>
          <a:prstGeom prst="rect">
            <a:avLst/>
          </a:prstGeom>
          <a:noFill/>
        </p:spPr>
        <p:txBody>
          <a:bodyPr wrap="square">
            <a:spAutoFit/>
          </a:bodyPr>
          <a:lstStyle/>
          <a:p>
            <a:pPr>
              <a:spcAft>
                <a:spcPts val="400"/>
              </a:spcAft>
              <a:defRPr sz="1200" b="1">
                <a:solidFill>
                  <a:srgbClr val="0F1E36"/>
                </a:solidFill>
              </a:defRPr>
            </a:pPr>
            <a:r>
              <a:t>1. Resilience Must Be Engineered into the Architecture, Not Added as an Afterthought</a:t>
            </a:r>
          </a:p>
          <a:p>
            <a:pPr>
              <a:defRPr sz="950">
                <a:solidFill>
                  <a:srgbClr val="1E293B"/>
                </a:solidFill>
              </a:defRPr>
            </a:pPr>
            <a:r>
              <a:t>In critical operations (whether hospitals or construction job sites), network connectivity and hardware will inevitably experience degradation. Systems must be designed with graceful degradation, local caching, and deterministic reconciliation rather than assuming continuous, low-latency broadband.</a:t>
            </a:r>
          </a:p>
        </p:txBody>
      </p:sp>
      <p:sp>
        <p:nvSpPr>
          <p:cNvPr id="9" name="Rounded Rectangle 8"/>
          <p:cNvSpPr/>
          <p:nvPr/>
        </p:nvSpPr>
        <p:spPr>
          <a:xfrm>
            <a:off x="731520" y="2651760"/>
            <a:ext cx="10728655"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651760"/>
            <a:ext cx="109728" cy="1051560"/>
          </a:xfrm>
          <a:prstGeom prst="rect">
            <a:avLst/>
          </a:prstGeom>
          <a:solidFill>
            <a:srgbClr val="004E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2761488"/>
            <a:ext cx="10149840" cy="868680"/>
          </a:xfrm>
          <a:prstGeom prst="rect">
            <a:avLst/>
          </a:prstGeom>
          <a:noFill/>
        </p:spPr>
        <p:txBody>
          <a:bodyPr wrap="square">
            <a:spAutoFit/>
          </a:bodyPr>
          <a:lstStyle/>
          <a:p>
            <a:pPr>
              <a:spcAft>
                <a:spcPts val="400"/>
              </a:spcAft>
              <a:defRPr sz="1200" b="1">
                <a:solidFill>
                  <a:srgbClr val="0F1E36"/>
                </a:solidFill>
              </a:defRPr>
            </a:pPr>
            <a:r>
              <a:t>2. Cybersecurity is an Organizational Culture, Not Merely a Perimeter Firewall</a:t>
            </a:r>
          </a:p>
          <a:p>
            <a:pPr>
              <a:defRPr sz="950">
                <a:solidFill>
                  <a:srgbClr val="1E293B"/>
                </a:solidFill>
              </a:defRPr>
            </a:pPr>
            <a:r>
              <a:t>A majority of enterprise security breaches stem from misconfigured access rights, third-party vendor credentials, or unpatched endpoints. Implementing Zero Trust Network Access (ZTNA), strict least-privilege RBAC, and continuous security hygiene reviews protects the organization far more effectively than traditional boundary defenses alone.</a:t>
            </a:r>
          </a:p>
        </p:txBody>
      </p:sp>
      <p:sp>
        <p:nvSpPr>
          <p:cNvPr id="12" name="Rounded Rectangle 11"/>
          <p:cNvSpPr/>
          <p:nvPr/>
        </p:nvSpPr>
        <p:spPr>
          <a:xfrm>
            <a:off x="731520" y="3840480"/>
            <a:ext cx="10728655"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3840480"/>
            <a:ext cx="109728" cy="1051560"/>
          </a:xfrm>
          <a:prstGeom prst="rect">
            <a:avLst/>
          </a:prstGeom>
          <a:solidFill>
            <a:srgbClr val="004E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3950208"/>
            <a:ext cx="10149840" cy="868680"/>
          </a:xfrm>
          <a:prstGeom prst="rect">
            <a:avLst/>
          </a:prstGeom>
          <a:noFill/>
        </p:spPr>
        <p:txBody>
          <a:bodyPr wrap="square">
            <a:spAutoFit/>
          </a:bodyPr>
          <a:lstStyle/>
          <a:p>
            <a:pPr>
              <a:spcAft>
                <a:spcPts val="400"/>
              </a:spcAft>
              <a:defRPr sz="1200" b="1">
                <a:solidFill>
                  <a:srgbClr val="0F1E36"/>
                </a:solidFill>
              </a:defRPr>
            </a:pPr>
            <a:r>
              <a:t>3. Proactive Telemetry &amp; Observability Prevents Operational Crises</a:t>
            </a:r>
          </a:p>
          <a:p>
            <a:pPr>
              <a:defRPr sz="950">
                <a:solidFill>
                  <a:srgbClr val="1E293B"/>
                </a:solidFill>
              </a:defRPr>
            </a:pPr>
            <a:r>
              <a:t>Waiting for users to report an outage is a failed IT strategy. Instituting synthetic transactions, automated latency monitoring, CPU/memory threshold alerts, and automated runbooks allows IT operations to resolve 80% of potential incidents before end users or project sites notice any disruption.</a:t>
            </a:r>
          </a:p>
        </p:txBody>
      </p:sp>
      <p:sp>
        <p:nvSpPr>
          <p:cNvPr id="15" name="Rounded Rectangle 14"/>
          <p:cNvSpPr/>
          <p:nvPr/>
        </p:nvSpPr>
        <p:spPr>
          <a:xfrm>
            <a:off x="731520" y="5029200"/>
            <a:ext cx="10728655" cy="1051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5029200"/>
            <a:ext cx="109728" cy="1051560"/>
          </a:xfrm>
          <a:prstGeom prst="rect">
            <a:avLst/>
          </a:prstGeom>
          <a:solidFill>
            <a:srgbClr val="004E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5138928"/>
            <a:ext cx="10149840" cy="868680"/>
          </a:xfrm>
          <a:prstGeom prst="rect">
            <a:avLst/>
          </a:prstGeom>
          <a:noFill/>
        </p:spPr>
        <p:txBody>
          <a:bodyPr wrap="square">
            <a:spAutoFit/>
          </a:bodyPr>
          <a:lstStyle/>
          <a:p>
            <a:pPr>
              <a:spcAft>
                <a:spcPts val="400"/>
              </a:spcAft>
              <a:defRPr sz="1200" b="1">
                <a:solidFill>
                  <a:srgbClr val="0F1E36"/>
                </a:solidFill>
              </a:defRPr>
            </a:pPr>
            <a:r>
              <a:t>4. Bridging 3D Engineering Realities with Corporate IT Strategy</a:t>
            </a:r>
          </a:p>
          <a:p>
            <a:pPr>
              <a:defRPr sz="950">
                <a:solidFill>
                  <a:srgbClr val="1E293B"/>
                </a:solidFill>
              </a:defRPr>
            </a:pPr>
            <a:r>
              <a:t>In modern engineering corporations, IT is no longer just back-office software; it is the backbone for heavy 3D CAD/BIM pipelines, digital twins, and job-site spatial data. IT leadership must understand 3D data workflows to provide infrastructure that accelerates rather than slows down engineering production.</a:t>
            </a:r>
          </a:p>
        </p:txBody>
      </p:sp>
      <p:sp>
        <p:nvSpPr>
          <p:cNvPr id="18" name="TextBox 17"/>
          <p:cNvSpPr txBox="1"/>
          <p:nvPr/>
        </p:nvSpPr>
        <p:spPr>
          <a:xfrm>
            <a:off x="731520" y="6446520"/>
            <a:ext cx="10728655" cy="320040"/>
          </a:xfrm>
          <a:prstGeom prst="rect">
            <a:avLst/>
          </a:prstGeom>
          <a:noFill/>
        </p:spPr>
        <p:txBody>
          <a:bodyPr wrap="none" lIns="0" rIns="0" tIns="0" bIns="0">
            <a:spAutoFit/>
          </a:bodyPr>
          <a:lstStyle/>
          <a:p>
            <a:pPr>
              <a:defRPr sz="900">
                <a:solidFill>
                  <a:srgbClr val="64748B"/>
                </a:solidFill>
              </a:defRPr>
            </a:pPr>
            <a:r>
              <a:t>Obayashi Corporation · Senior Manager – IT Candidate Portfolio | Maheshchandra Hegde · Slide 9 of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74320"/>
          </a:xfrm>
          <a:prstGeom prst="rect">
            <a:avLst/>
          </a:prstGeom>
          <a:noFill/>
        </p:spPr>
        <p:txBody>
          <a:bodyPr wrap="square" lIns="0" rIns="0" tIns="0" bIns="0">
            <a:spAutoFit/>
          </a:bodyPr>
          <a:lstStyle/>
          <a:p>
            <a:pPr>
              <a:defRPr sz="1100" b="1">
                <a:solidFill>
                  <a:srgbClr val="004E96"/>
                </a:solidFill>
              </a:defRPr>
            </a:pPr>
            <a:r>
              <a:t>STRATEGIC VISION FOR OBAYASHI</a:t>
            </a:r>
          </a:p>
        </p:txBody>
      </p:sp>
      <p:sp>
        <p:nvSpPr>
          <p:cNvPr id="4" name="TextBox 3"/>
          <p:cNvSpPr txBox="1"/>
          <p:nvPr/>
        </p:nvSpPr>
        <p:spPr>
          <a:xfrm>
            <a:off x="731520" y="658368"/>
            <a:ext cx="10698480" cy="502920"/>
          </a:xfrm>
          <a:prstGeom prst="rect">
            <a:avLst/>
          </a:prstGeom>
          <a:noFill/>
        </p:spPr>
        <p:txBody>
          <a:bodyPr wrap="square" lIns="0" rIns="0" tIns="0" bIns="0">
            <a:spAutoFit/>
          </a:bodyPr>
          <a:lstStyle/>
          <a:p>
            <a:pPr>
              <a:defRPr sz="2100" b="1">
                <a:solidFill>
                  <a:srgbClr val="0F1E36"/>
                </a:solidFill>
              </a:defRPr>
            </a:pPr>
            <a:r>
              <a:t>Suggestions for Future Process Improvements at Obayashi Corporation</a:t>
            </a:r>
          </a:p>
        </p:txBody>
      </p:sp>
      <p:sp>
        <p:nvSpPr>
          <p:cNvPr id="5" name="Rectangle 4"/>
          <p:cNvSpPr/>
          <p:nvPr/>
        </p:nvSpPr>
        <p:spPr>
          <a:xfrm>
            <a:off x="731520" y="1234440"/>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10728655" cy="10789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554480"/>
            <a:ext cx="10241280" cy="914400"/>
          </a:xfrm>
          <a:prstGeom prst="rect">
            <a:avLst/>
          </a:prstGeom>
          <a:noFill/>
        </p:spPr>
        <p:txBody>
          <a:bodyPr wrap="square">
            <a:spAutoFit/>
          </a:bodyPr>
          <a:lstStyle/>
          <a:p>
            <a:pPr>
              <a:spcAft>
                <a:spcPts val="200"/>
              </a:spcAft>
              <a:defRPr sz="1150" b="1">
                <a:solidFill>
                  <a:srgbClr val="004E96"/>
                </a:solidFill>
              </a:defRPr>
            </a:pPr>
            <a:r>
              <a:t>1. Standardized Construction Site 'IT-in-a-Box' Rapid Deployment Kit</a:t>
            </a:r>
          </a:p>
          <a:p>
            <a:pPr>
              <a:spcAft>
                <a:spcPts val="200"/>
              </a:spcAft>
              <a:defRPr sz="900" b="1">
                <a:solidFill>
                  <a:srgbClr val="1E293B"/>
                </a:solidFill>
              </a:defRPr>
            </a:pPr>
            <a:r>
              <a:t>Opportunity: Setting up reliable IT infrastructure at new construction sites often takes weeks and suffers from inconsistent hardware and security standards.</a:t>
            </a:r>
          </a:p>
          <a:p>
            <a:pPr>
              <a:defRPr sz="850">
                <a:solidFill>
                  <a:srgbClr val="64748B"/>
                </a:solidFill>
              </a:defRPr>
            </a:pPr>
            <a:r>
              <a:t>Proposed Solution: Design a containerized 'Site IT Kit' combining dual-SIM 5G/satellite SD-WAN routers, local edge server/caching node, pre-configured biometric access control, and ruggedized Wi-Fi 6 access points. Enables full site IT commissioning within 48 hours with automated zero-touch provisioning.</a:t>
            </a:r>
          </a:p>
        </p:txBody>
      </p:sp>
      <p:sp>
        <p:nvSpPr>
          <p:cNvPr id="8" name="Rounded Rectangle 7"/>
          <p:cNvSpPr/>
          <p:nvPr/>
        </p:nvSpPr>
        <p:spPr>
          <a:xfrm>
            <a:off x="731520" y="2651760"/>
            <a:ext cx="10728655" cy="10789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743200"/>
            <a:ext cx="10241280" cy="914400"/>
          </a:xfrm>
          <a:prstGeom prst="rect">
            <a:avLst/>
          </a:prstGeom>
          <a:noFill/>
        </p:spPr>
        <p:txBody>
          <a:bodyPr wrap="square">
            <a:spAutoFit/>
          </a:bodyPr>
          <a:lstStyle/>
          <a:p>
            <a:pPr>
              <a:spcAft>
                <a:spcPts val="200"/>
              </a:spcAft>
              <a:defRPr sz="1150" b="1">
                <a:solidFill>
                  <a:srgbClr val="004E96"/>
                </a:solidFill>
              </a:defRPr>
            </a:pPr>
            <a:r>
              <a:t>2. Cloud BIM &amp; Common Data Environment (CDE) Acceleration Node (Powered by Spatial 3D Tech)</a:t>
            </a:r>
          </a:p>
          <a:p>
            <a:pPr>
              <a:spcAft>
                <a:spcPts val="200"/>
              </a:spcAft>
              <a:defRPr sz="900" b="1">
                <a:solidFill>
                  <a:srgbClr val="1E293B"/>
                </a:solidFill>
              </a:defRPr>
            </a:pPr>
            <a:r>
              <a:t>Opportunity: Field teams struggle downloading and rendering multi-gigabyte 3D BIM models, CAD drawings, and point clouds over remote job-site cellular connections.</a:t>
            </a:r>
          </a:p>
          <a:p>
            <a:pPr>
              <a:defRPr sz="850">
                <a:solidFill>
                  <a:srgbClr val="64748B"/>
                </a:solidFill>
              </a:defRPr>
            </a:pPr>
            <a:r>
              <a:t>Proposed Solution: Deploy localized edge-caching appliances paired with Voxelforge AI / ayam3d retopology and WebGL progressive 3D rendering. Site engineers view and markup complex 3D digital twins instantly without saturating job-site uplink bandwidth.</a:t>
            </a:r>
          </a:p>
        </p:txBody>
      </p:sp>
      <p:sp>
        <p:nvSpPr>
          <p:cNvPr id="10" name="Rounded Rectangle 9"/>
          <p:cNvSpPr/>
          <p:nvPr/>
        </p:nvSpPr>
        <p:spPr>
          <a:xfrm>
            <a:off x="731520" y="3840480"/>
            <a:ext cx="10728655" cy="10789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931920"/>
            <a:ext cx="10241280" cy="914400"/>
          </a:xfrm>
          <a:prstGeom prst="rect">
            <a:avLst/>
          </a:prstGeom>
          <a:noFill/>
        </p:spPr>
        <p:txBody>
          <a:bodyPr wrap="square">
            <a:spAutoFit/>
          </a:bodyPr>
          <a:lstStyle/>
          <a:p>
            <a:pPr>
              <a:spcAft>
                <a:spcPts val="200"/>
              </a:spcAft>
              <a:defRPr sz="1150" b="1">
                <a:solidFill>
                  <a:srgbClr val="004E96"/>
                </a:solidFill>
              </a:defRPr>
            </a:pPr>
            <a:r>
              <a:t>3. Subcontractor Zero-Trust Security Mesh &amp; Automated Vendor Compliance</a:t>
            </a:r>
          </a:p>
          <a:p>
            <a:pPr>
              <a:spcAft>
                <a:spcPts val="200"/>
              </a:spcAft>
              <a:defRPr sz="900" b="1">
                <a:solidFill>
                  <a:srgbClr val="1E293B"/>
                </a:solidFill>
              </a:defRPr>
            </a:pPr>
            <a:r>
              <a:t>Opportunity: General contractors interact with hundreds of specialized subcontractors and vendors, introducing major cybersecurity and intellectual property leakage risks.</a:t>
            </a:r>
          </a:p>
          <a:p>
            <a:pPr>
              <a:defRPr sz="850">
                <a:solidFill>
                  <a:srgbClr val="64748B"/>
                </a:solidFill>
              </a:defRPr>
            </a:pPr>
            <a:r>
              <a:t>Proposed Solution: Establish a cloud-native Zero-Trust Network Access (ZTNA) portal. Subcontractors access only designated project folders with time-bound credentials, multi-factor authentication, watermarked document viewers, and automated endpoint compliance checks.</a:t>
            </a:r>
          </a:p>
        </p:txBody>
      </p:sp>
      <p:sp>
        <p:nvSpPr>
          <p:cNvPr id="12" name="Rounded Rectangle 11"/>
          <p:cNvSpPr/>
          <p:nvPr/>
        </p:nvSpPr>
        <p:spPr>
          <a:xfrm>
            <a:off x="731520" y="5029200"/>
            <a:ext cx="10728655" cy="10789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120640"/>
            <a:ext cx="10241280" cy="914400"/>
          </a:xfrm>
          <a:prstGeom prst="rect">
            <a:avLst/>
          </a:prstGeom>
          <a:noFill/>
        </p:spPr>
        <p:txBody>
          <a:bodyPr wrap="square">
            <a:spAutoFit/>
          </a:bodyPr>
          <a:lstStyle/>
          <a:p>
            <a:pPr>
              <a:spcAft>
                <a:spcPts val="200"/>
              </a:spcAft>
              <a:defRPr sz="1150" b="1">
                <a:solidFill>
                  <a:srgbClr val="004E96"/>
                </a:solidFill>
              </a:defRPr>
            </a:pPr>
            <a:r>
              <a:t>4. AIOps for Predictive IT Maintenance &amp; Automated Disaster Recovery (DR)</a:t>
            </a:r>
          </a:p>
          <a:p>
            <a:pPr>
              <a:spcAft>
                <a:spcPts val="200"/>
              </a:spcAft>
              <a:defRPr sz="900" b="1">
                <a:solidFill>
                  <a:srgbClr val="1E293B"/>
                </a:solidFill>
              </a:defRPr>
            </a:pPr>
            <a:r>
              <a:t>Opportunity: Unplanned server outages, ISP disconnections, or backup failures at remote regional hubs disrupt critical construction scheduling and bid deadlines.</a:t>
            </a:r>
          </a:p>
          <a:p>
            <a:pPr>
              <a:defRPr sz="850">
                <a:solidFill>
                  <a:srgbClr val="64748B"/>
                </a:solidFill>
              </a:defRPr>
            </a:pPr>
            <a:r>
              <a:t>Proposed Solution: Implement AI-assisted log analysis and telemetry to detect early indicators of disk failure, bandwidth saturation, or cyber anomalies. Pair with automated immutable cloud backups (ransomware-proof) and scheduled push-button disaster recovery failover drills.</a:t>
            </a:r>
          </a:p>
        </p:txBody>
      </p:sp>
      <p:sp>
        <p:nvSpPr>
          <p:cNvPr id="14" name="TextBox 13"/>
          <p:cNvSpPr txBox="1"/>
          <p:nvPr/>
        </p:nvSpPr>
        <p:spPr>
          <a:xfrm>
            <a:off x="731520" y="6446520"/>
            <a:ext cx="10728655" cy="320040"/>
          </a:xfrm>
          <a:prstGeom prst="rect">
            <a:avLst/>
          </a:prstGeom>
          <a:noFill/>
        </p:spPr>
        <p:txBody>
          <a:bodyPr wrap="none" lIns="0" rIns="0" tIns="0" bIns="0">
            <a:spAutoFit/>
          </a:bodyPr>
          <a:lstStyle/>
          <a:p>
            <a:pPr>
              <a:defRPr sz="900">
                <a:solidFill>
                  <a:srgbClr val="64748B"/>
                </a:solidFill>
              </a:defRPr>
            </a:pPr>
            <a:r>
              <a:t>Obayashi Corporation · Senior Manager – IT Candidate Portfolio | Maheshchandra Hegde · Slide 10 of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274320"/>
          </a:xfrm>
          <a:prstGeom prst="rect">
            <a:avLst/>
          </a:prstGeom>
          <a:noFill/>
        </p:spPr>
        <p:txBody>
          <a:bodyPr wrap="square" lIns="0" rIns="0" tIns="0" bIns="0">
            <a:spAutoFit/>
          </a:bodyPr>
          <a:lstStyle/>
          <a:p>
            <a:pPr>
              <a:defRPr sz="1100" b="1">
                <a:solidFill>
                  <a:srgbClr val="004E96"/>
                </a:solidFill>
              </a:defRPr>
            </a:pPr>
            <a:r>
              <a:t>LEADERSHIP ONBOARDING &amp; VALUE REALIZATION</a:t>
            </a:r>
          </a:p>
        </p:txBody>
      </p:sp>
      <p:sp>
        <p:nvSpPr>
          <p:cNvPr id="4" name="TextBox 3"/>
          <p:cNvSpPr txBox="1"/>
          <p:nvPr/>
        </p:nvSpPr>
        <p:spPr>
          <a:xfrm>
            <a:off x="731520" y="658368"/>
            <a:ext cx="10698480" cy="502920"/>
          </a:xfrm>
          <a:prstGeom prst="rect">
            <a:avLst/>
          </a:prstGeom>
          <a:noFill/>
        </p:spPr>
        <p:txBody>
          <a:bodyPr wrap="square" lIns="0" rIns="0" tIns="0" bIns="0">
            <a:spAutoFit/>
          </a:bodyPr>
          <a:lstStyle/>
          <a:p>
            <a:pPr>
              <a:defRPr sz="2100" b="1">
                <a:solidFill>
                  <a:srgbClr val="0F1E36"/>
                </a:solidFill>
              </a:defRPr>
            </a:pPr>
            <a:r>
              <a:t>First 90 Days: Strategic Execution Roadmap for Senior Manager – IT</a:t>
            </a:r>
          </a:p>
        </p:txBody>
      </p:sp>
      <p:sp>
        <p:nvSpPr>
          <p:cNvPr id="5" name="Rectangle 4"/>
          <p:cNvSpPr/>
          <p:nvPr/>
        </p:nvSpPr>
        <p:spPr>
          <a:xfrm>
            <a:off x="731520" y="1234440"/>
            <a:ext cx="10728655" cy="228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3401568"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0664" y="1472184"/>
            <a:ext cx="3383280" cy="438912"/>
          </a:xfrm>
          <a:prstGeom prst="rect">
            <a:avLst/>
          </a:prstGeom>
          <a:solidFill>
            <a:srgbClr val="004E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1536192"/>
            <a:ext cx="3182112" cy="320040"/>
          </a:xfrm>
          <a:prstGeom prst="rect">
            <a:avLst/>
          </a:prstGeom>
          <a:noFill/>
        </p:spPr>
        <p:txBody>
          <a:bodyPr wrap="none">
            <a:spAutoFit/>
          </a:bodyPr>
          <a:lstStyle/>
          <a:p>
            <a:pPr>
              <a:defRPr sz="1100" b="1">
                <a:solidFill>
                  <a:srgbClr val="FFFFFF"/>
                </a:solidFill>
              </a:defRPr>
            </a:pPr>
            <a:r>
              <a:t>Days 1 – 30: Discovery &amp; Baseline Assessment</a:t>
            </a:r>
          </a:p>
        </p:txBody>
      </p:sp>
      <p:sp>
        <p:nvSpPr>
          <p:cNvPr id="9" name="TextBox 8"/>
          <p:cNvSpPr txBox="1"/>
          <p:nvPr/>
        </p:nvSpPr>
        <p:spPr>
          <a:xfrm>
            <a:off x="868680" y="2011680"/>
            <a:ext cx="3127248" cy="4023360"/>
          </a:xfrm>
          <a:prstGeom prst="rect">
            <a:avLst/>
          </a:prstGeom>
          <a:noFill/>
        </p:spPr>
        <p:txBody>
          <a:bodyPr wrap="square">
            <a:spAutoFit/>
          </a:bodyPr>
          <a:lstStyle/>
          <a:p>
            <a:pPr>
              <a:spcAft>
                <a:spcPts val="1000"/>
              </a:spcAft>
              <a:defRPr sz="950" b="1">
                <a:solidFill>
                  <a:srgbClr val="0F1E36"/>
                </a:solidFill>
              </a:defRPr>
            </a:pPr>
            <a:r>
              <a:t>Objective: Understand Current State, Build Relationships &amp; Audit Risks</a:t>
            </a:r>
          </a:p>
          <a:p>
            <a:pPr>
              <a:spcAft>
                <a:spcPts val="800"/>
              </a:spcAft>
              <a:defRPr sz="950">
                <a:solidFill>
                  <a:srgbClr val="1E293B"/>
                </a:solidFill>
              </a:defRPr>
            </a:pPr>
            <a:r>
              <a:t>✔ Audit all existing IT infrastructure, networks, cloud tenancies, and active construction site connections.</a:t>
            </a:r>
          </a:p>
          <a:p>
            <a:pPr>
              <a:spcAft>
                <a:spcPts val="800"/>
              </a:spcAft>
              <a:defRPr sz="950">
                <a:solidFill>
                  <a:srgbClr val="1E293B"/>
                </a:solidFill>
              </a:defRPr>
            </a:pPr>
            <a:r>
              <a:t>✔ Interview business unit heads, site project managers, and executive leadership to identify operational bottlenecks.</a:t>
            </a:r>
          </a:p>
          <a:p>
            <a:pPr>
              <a:spcAft>
                <a:spcPts val="800"/>
              </a:spcAft>
              <a:defRPr sz="950">
                <a:solidFill>
                  <a:srgbClr val="1E293B"/>
                </a:solidFill>
              </a:defRPr>
            </a:pPr>
            <a:r>
              <a:t>✔ Review existing cybersecurity controls, backup regimes, DR documentation, and compliance standings.</a:t>
            </a:r>
          </a:p>
          <a:p>
            <a:pPr>
              <a:spcAft>
                <a:spcPts val="800"/>
              </a:spcAft>
              <a:defRPr sz="950">
                <a:solidFill>
                  <a:srgbClr val="1E293B"/>
                </a:solidFill>
              </a:defRPr>
            </a:pPr>
            <a:r>
              <a:t>✔ Analyze IT budget utilization, vendor contracts, software licenses, and current SLA performance metrics.</a:t>
            </a:r>
          </a:p>
        </p:txBody>
      </p:sp>
      <p:sp>
        <p:nvSpPr>
          <p:cNvPr id="10" name="Rounded Rectangle 9"/>
          <p:cNvSpPr/>
          <p:nvPr/>
        </p:nvSpPr>
        <p:spPr>
          <a:xfrm>
            <a:off x="4389120" y="1463040"/>
            <a:ext cx="3401568"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98264" y="1472184"/>
            <a:ext cx="3383280" cy="438912"/>
          </a:xfrm>
          <a:prstGeom prst="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98848" y="1536192"/>
            <a:ext cx="3182112" cy="320040"/>
          </a:xfrm>
          <a:prstGeom prst="rect">
            <a:avLst/>
          </a:prstGeom>
          <a:noFill/>
        </p:spPr>
        <p:txBody>
          <a:bodyPr wrap="none">
            <a:spAutoFit/>
          </a:bodyPr>
          <a:lstStyle/>
          <a:p>
            <a:pPr>
              <a:defRPr sz="1100" b="1">
                <a:solidFill>
                  <a:srgbClr val="FFFFFF"/>
                </a:solidFill>
              </a:defRPr>
            </a:pPr>
            <a:r>
              <a:t>Days 31 – 60: Stabilization &amp; Quick Wins</a:t>
            </a:r>
          </a:p>
        </p:txBody>
      </p:sp>
      <p:sp>
        <p:nvSpPr>
          <p:cNvPr id="13" name="TextBox 12"/>
          <p:cNvSpPr txBox="1"/>
          <p:nvPr/>
        </p:nvSpPr>
        <p:spPr>
          <a:xfrm>
            <a:off x="4526280" y="2011680"/>
            <a:ext cx="3127248" cy="4023360"/>
          </a:xfrm>
          <a:prstGeom prst="rect">
            <a:avLst/>
          </a:prstGeom>
          <a:noFill/>
        </p:spPr>
        <p:txBody>
          <a:bodyPr wrap="square">
            <a:spAutoFit/>
          </a:bodyPr>
          <a:lstStyle/>
          <a:p>
            <a:pPr>
              <a:spcAft>
                <a:spcPts val="1000"/>
              </a:spcAft>
              <a:defRPr sz="950" b="1">
                <a:solidFill>
                  <a:srgbClr val="0F1E36"/>
                </a:solidFill>
              </a:defRPr>
            </a:pPr>
            <a:r>
              <a:t>Objective: Fortify Security, Address Gaps &amp; Streamline Operations</a:t>
            </a:r>
          </a:p>
          <a:p>
            <a:pPr>
              <a:spcAft>
                <a:spcPts val="800"/>
              </a:spcAft>
              <a:defRPr sz="950">
                <a:solidFill>
                  <a:srgbClr val="1E293B"/>
                </a:solidFill>
              </a:defRPr>
            </a:pPr>
            <a:r>
              <a:t>✔ Remediate critical vulnerabilities identified during audit; enforce uniform MFA and access policies.</a:t>
            </a:r>
          </a:p>
          <a:p>
            <a:pPr>
              <a:spcAft>
                <a:spcPts val="800"/>
              </a:spcAft>
              <a:defRPr sz="950">
                <a:solidFill>
                  <a:srgbClr val="1E293B"/>
                </a:solidFill>
              </a:defRPr>
            </a:pPr>
            <a:r>
              <a:t>✔ Optimize job-site connectivity baselines; resolve recurring network instability pain points at active sites.</a:t>
            </a:r>
          </a:p>
          <a:p>
            <a:pPr>
              <a:spcAft>
                <a:spcPts val="800"/>
              </a:spcAft>
              <a:defRPr sz="950">
                <a:solidFill>
                  <a:srgbClr val="1E293B"/>
                </a:solidFill>
              </a:defRPr>
            </a:pPr>
            <a:r>
              <a:t>✔ Consolidate vendor SLAs, eliminate redundant licenses, and introduce transparent IT support ticketing KPIs.</a:t>
            </a:r>
          </a:p>
          <a:p>
            <a:pPr>
              <a:spcAft>
                <a:spcPts val="800"/>
              </a:spcAft>
              <a:defRPr sz="950">
                <a:solidFill>
                  <a:srgbClr val="1E293B"/>
                </a:solidFill>
              </a:defRPr>
            </a:pPr>
            <a:r>
              <a:t>✔ Conduct a full table-top Disaster Recovery (DR) and backup verification exercise to guarantee system resilience.</a:t>
            </a:r>
          </a:p>
        </p:txBody>
      </p:sp>
      <p:sp>
        <p:nvSpPr>
          <p:cNvPr id="14" name="Rounded Rectangle 13"/>
          <p:cNvSpPr/>
          <p:nvPr/>
        </p:nvSpPr>
        <p:spPr>
          <a:xfrm>
            <a:off x="8046720" y="1463040"/>
            <a:ext cx="3401568"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55864" y="1472184"/>
            <a:ext cx="3383280" cy="438912"/>
          </a:xfrm>
          <a:prstGeom prst="rect">
            <a:avLst/>
          </a:prstGeom>
          <a:solidFill>
            <a:srgbClr val="1095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56448" y="1536192"/>
            <a:ext cx="3182112" cy="320040"/>
          </a:xfrm>
          <a:prstGeom prst="rect">
            <a:avLst/>
          </a:prstGeom>
          <a:noFill/>
        </p:spPr>
        <p:txBody>
          <a:bodyPr wrap="none">
            <a:spAutoFit/>
          </a:bodyPr>
          <a:lstStyle/>
          <a:p>
            <a:pPr>
              <a:defRPr sz="1100" b="1">
                <a:solidFill>
                  <a:srgbClr val="FFFFFF"/>
                </a:solidFill>
              </a:defRPr>
            </a:pPr>
            <a:r>
              <a:t>Days 61 – 90: Modernization &amp; Strategic Roadmap</a:t>
            </a:r>
          </a:p>
        </p:txBody>
      </p:sp>
      <p:sp>
        <p:nvSpPr>
          <p:cNvPr id="17" name="TextBox 16"/>
          <p:cNvSpPr txBox="1"/>
          <p:nvPr/>
        </p:nvSpPr>
        <p:spPr>
          <a:xfrm>
            <a:off x="8183880" y="2011680"/>
            <a:ext cx="3127248" cy="4023360"/>
          </a:xfrm>
          <a:prstGeom prst="rect">
            <a:avLst/>
          </a:prstGeom>
          <a:noFill/>
        </p:spPr>
        <p:txBody>
          <a:bodyPr wrap="square">
            <a:spAutoFit/>
          </a:bodyPr>
          <a:lstStyle/>
          <a:p>
            <a:pPr>
              <a:spcAft>
                <a:spcPts val="1000"/>
              </a:spcAft>
              <a:defRPr sz="950" b="1">
                <a:solidFill>
                  <a:srgbClr val="0F1E36"/>
                </a:solidFill>
              </a:defRPr>
            </a:pPr>
            <a:r>
              <a:t>Objective: Drive Scalability, Digital Transformation &amp; Long-Term Value</a:t>
            </a:r>
          </a:p>
          <a:p>
            <a:pPr>
              <a:spcAft>
                <a:spcPts val="800"/>
              </a:spcAft>
              <a:defRPr sz="950">
                <a:solidFill>
                  <a:srgbClr val="1E293B"/>
                </a:solidFill>
              </a:defRPr>
            </a:pPr>
            <a:r>
              <a:t>✔ Present a 2-3 Year IT Strategy &amp; Digital Roadmap aligned directly with Obayashi's corporate objectives.</a:t>
            </a:r>
          </a:p>
          <a:p>
            <a:pPr>
              <a:spcAft>
                <a:spcPts val="800"/>
              </a:spcAft>
              <a:defRPr sz="950">
                <a:solidFill>
                  <a:srgbClr val="1E293B"/>
                </a:solidFill>
              </a:defRPr>
            </a:pPr>
            <a:r>
              <a:t>✔ Pilot the 'Site IT-in-a-Box' rapid deployment kit for upcoming construction projects.</a:t>
            </a:r>
          </a:p>
          <a:p>
            <a:pPr>
              <a:spcAft>
                <a:spcPts val="800"/>
              </a:spcAft>
              <a:defRPr sz="950">
                <a:solidFill>
                  <a:srgbClr val="1E293B"/>
                </a:solidFill>
              </a:defRPr>
            </a:pPr>
            <a:r>
              <a:t>✔ Initiate automation initiatives (CI/CD, automated log telemetry, self-service IT service catalog).</a:t>
            </a:r>
          </a:p>
          <a:p>
            <a:pPr>
              <a:spcAft>
                <a:spcPts val="800"/>
              </a:spcAft>
              <a:defRPr sz="950">
                <a:solidFill>
                  <a:srgbClr val="1E293B"/>
                </a:solidFill>
              </a:defRPr>
            </a:pPr>
            <a:r>
              <a:t>✔ Foster continuous team upskilling, mentorship, and technical excellence within the internal IT workforce.</a:t>
            </a:r>
          </a:p>
        </p:txBody>
      </p:sp>
      <p:sp>
        <p:nvSpPr>
          <p:cNvPr id="18" name="TextBox 17"/>
          <p:cNvSpPr txBox="1"/>
          <p:nvPr/>
        </p:nvSpPr>
        <p:spPr>
          <a:xfrm>
            <a:off x="731520" y="6446520"/>
            <a:ext cx="10728655" cy="320040"/>
          </a:xfrm>
          <a:prstGeom prst="rect">
            <a:avLst/>
          </a:prstGeom>
          <a:noFill/>
        </p:spPr>
        <p:txBody>
          <a:bodyPr wrap="none" lIns="0" rIns="0" tIns="0" bIns="0">
            <a:spAutoFit/>
          </a:bodyPr>
          <a:lstStyle/>
          <a:p>
            <a:pPr>
              <a:defRPr sz="900">
                <a:solidFill>
                  <a:srgbClr val="64748B"/>
                </a:solidFill>
              </a:defRPr>
            </a:pPr>
            <a:r>
              <a:t>Obayashi Corporation · Senior Manager – IT Candidate Portfolio | Maheshchandra Hegde · Slide 11 of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294790" y="1051560"/>
            <a:ext cx="9601200" cy="4754880"/>
          </a:xfrm>
          <a:prstGeom prst="roundRect">
            <a:avLst/>
          </a:prstGeom>
          <a:solidFill>
            <a:srgbClr val="182B49"/>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43430" y="1508760"/>
            <a:ext cx="8503920" cy="3840480"/>
          </a:xfrm>
          <a:prstGeom prst="rect">
            <a:avLst/>
          </a:prstGeom>
          <a:noFill/>
        </p:spPr>
        <p:txBody>
          <a:bodyPr wrap="square">
            <a:spAutoFit/>
          </a:bodyPr>
          <a:lstStyle/>
          <a:p>
            <a:pPr>
              <a:spcAft>
                <a:spcPts val="800"/>
              </a:spcAft>
              <a:defRPr sz="1200" b="1">
                <a:solidFill>
                  <a:srgbClr val="CC2229"/>
                </a:solidFill>
              </a:defRPr>
            </a:pPr>
            <a:r>
              <a:t>OBAYASHI CORPORATION · IT LEADERSHIP COMMITMENT</a:t>
            </a:r>
          </a:p>
          <a:p>
            <a:pPr>
              <a:spcAft>
                <a:spcPts val="1400"/>
              </a:spcAft>
              <a:defRPr sz="2400" b="1">
                <a:solidFill>
                  <a:srgbClr val="FFFFFF"/>
                </a:solidFill>
              </a:defRPr>
            </a:pPr>
            <a:r>
              <a:t>Delivering Reliable, Secure &amp; Future-Ready Technology Services</a:t>
            </a:r>
          </a:p>
          <a:p>
            <a:pPr>
              <a:spcAft>
                <a:spcPts val="700"/>
              </a:spcAft>
              <a:defRPr sz="1050">
                <a:solidFill>
                  <a:srgbClr val="E2E8F0"/>
                </a:solidFill>
              </a:defRPr>
            </a:pPr>
            <a:r>
              <a:t>• Strategic Value Creation: Aligning IT roadmaps directly with Obayashi's engineering excellence and corporate vision.</a:t>
            </a:r>
          </a:p>
          <a:p>
            <a:pPr>
              <a:spcAft>
                <a:spcPts val="700"/>
              </a:spcAft>
              <a:defRPr sz="1050">
                <a:solidFill>
                  <a:srgbClr val="E2E8F0"/>
                </a:solidFill>
              </a:defRPr>
            </a:pPr>
            <a:r>
              <a:t>• Operational Dependability: Ensuring 24/7 resilience, zero data loss, and rapid incident resolution across all offices and project job-sites.</a:t>
            </a:r>
          </a:p>
          <a:p>
            <a:pPr>
              <a:spcAft>
                <a:spcPts val="700"/>
              </a:spcAft>
              <a:defRPr sz="1050">
                <a:solidFill>
                  <a:srgbClr val="E2E8F0"/>
                </a:solidFill>
              </a:defRPr>
            </a:pPr>
            <a:r>
              <a:t>• Digital Construction &amp; 3D Synergy: Leveraging 50+ project visualization pedigree, Voxelforge AI, and ayam3d to power next-generation BIM and digital twins.</a:t>
            </a:r>
          </a:p>
          <a:p>
            <a:pPr>
              <a:spcAft>
                <a:spcPts val="700"/>
              </a:spcAft>
              <a:defRPr sz="1050">
                <a:solidFill>
                  <a:srgbClr val="E2E8F0"/>
                </a:solidFill>
              </a:defRPr>
            </a:pPr>
            <a:r>
              <a:t>• Robust Cybersecurity &amp; Risk Mitigation: Protecting critical blueprints, intellectual property, and supply chain integrity with Zero Trust governance.</a:t>
            </a:r>
          </a:p>
          <a:p>
            <a:pPr>
              <a:spcAft>
                <a:spcPts val="700"/>
              </a:spcAft>
              <a:defRPr sz="1050">
                <a:solidFill>
                  <a:srgbClr val="E2E8F0"/>
                </a:solidFill>
              </a:defRPr>
            </a:pPr>
            <a:r>
              <a:t>• Collaborative Culture &amp; Team Growth: Mentoring high-performing IT talent while upholding Japanese corporate standards of precision, quality, and mutual respect.</a:t>
            </a:r>
          </a:p>
          <a:p>
            <a:br/>
            <a:pPr>
              <a:defRPr sz="1100" b="1">
                <a:solidFill>
                  <a:srgbClr val="38BDF8"/>
                </a:solidFill>
              </a:defRPr>
            </a:pPr>
            <a:r>
              <a:t>Thank you for the opportunity. I look forward to our Final Interview discussion.</a:t>
            </a:r>
            <a:br/>
            <a:r>
              <a:t>Maheshchandra Hegde  |  hid.mahesh@gmail.com  |  +91 9535253329 / +91 7022407280</a:t>
            </a:r>
          </a:p>
        </p:txBody>
      </p:sp>
      <p:sp>
        <p:nvSpPr>
          <p:cNvPr id="5" name="TextBox 4"/>
          <p:cNvSpPr txBox="1"/>
          <p:nvPr/>
        </p:nvSpPr>
        <p:spPr>
          <a:xfrm>
            <a:off x="731520" y="6446520"/>
            <a:ext cx="10728655" cy="320040"/>
          </a:xfrm>
          <a:prstGeom prst="rect">
            <a:avLst/>
          </a:prstGeom>
          <a:noFill/>
        </p:spPr>
        <p:txBody>
          <a:bodyPr wrap="none" lIns="0" rIns="0" tIns="0" bIns="0">
            <a:spAutoFit/>
          </a:bodyPr>
          <a:lstStyle/>
          <a:p>
            <a:pPr>
              <a:defRPr sz="900">
                <a:solidFill>
                  <a:srgbClr val="94A3B8"/>
                </a:solidFill>
              </a:defRPr>
            </a:pPr>
            <a:r>
              <a:t>Obayashi Corporation · Senior Manager – IT Candidate Portfolio | Maheshchandra Hegde · Slide 12 of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