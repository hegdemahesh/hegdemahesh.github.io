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274320" cy="4663440"/>
          </a:xfrm>
          <a:prstGeom prst="rect">
            <a:avLst/>
          </a:prstGeom>
          <a:solidFill>
            <a:srgbClr val="CC22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0" y="1188720"/>
            <a:ext cx="10058400" cy="2926080"/>
          </a:xfrm>
          <a:prstGeom prst="rect">
            <a:avLst/>
          </a:prstGeom>
          <a:noFill/>
        </p:spPr>
        <p:txBody>
          <a:bodyPr wrap="square">
            <a:spAutoFit/>
          </a:bodyPr>
          <a:lstStyle/>
          <a:p>
            <a:pPr>
              <a:spcAft>
                <a:spcPts val="1400"/>
              </a:spcAft>
              <a:defRPr sz="1300" b="1">
                <a:solidFill>
                  <a:srgbClr val="94A3B8"/>
                </a:solidFill>
              </a:defRPr>
            </a:pPr>
            <a:r>
              <a:t>OBAYASHI CORPORATION  |  FINAL INTERVIEW SUBMISSION</a:t>
            </a:r>
          </a:p>
          <a:p>
            <a:pPr>
              <a:spcAft>
                <a:spcPts val="1200"/>
              </a:spcAft>
              <a:defRPr sz="2800" b="1">
                <a:solidFill>
                  <a:srgbClr val="FFFFFF"/>
                </a:solidFill>
              </a:defRPr>
            </a:pPr>
            <a:r>
              <a:t>Executive Work Experience &amp; Strategic IT Capability Presentation</a:t>
            </a:r>
          </a:p>
          <a:p>
            <a:pPr>
              <a:spcAft>
                <a:spcPts val="800"/>
              </a:spcAft>
              <a:defRPr sz="1700" b="1">
                <a:solidFill>
                  <a:srgbClr val="38BDF8"/>
                </a:solidFill>
              </a:defRPr>
            </a:pPr>
            <a:r>
              <a:t>Candidate: Maheshchandra Hegde  |  Position: Senior Manager – IT</a:t>
            </a:r>
          </a:p>
          <a:p>
            <a:pPr>
              <a:defRPr sz="1300">
                <a:solidFill>
                  <a:srgbClr val="CBD5E1"/>
                </a:solidFill>
              </a:defRPr>
            </a:pPr>
            <a:r>
              <a:t>A comprehensive portfolio mapping enterprise technology leadership, mission-critical infrastructure, cybersecurity governance, and operational resilience to Obayashi's global engineering mandates.</a:t>
            </a:r>
          </a:p>
        </p:txBody>
      </p:sp>
      <p:sp>
        <p:nvSpPr>
          <p:cNvPr id="5" name="Rounded Rectangle 4"/>
          <p:cNvSpPr/>
          <p:nvPr/>
        </p:nvSpPr>
        <p:spPr>
          <a:xfrm>
            <a:off x="1280160" y="4480560"/>
            <a:ext cx="2514600" cy="1234440"/>
          </a:xfrm>
          <a:prstGeom prst="roundRect">
            <a:avLst/>
          </a:prstGeom>
          <a:solidFill>
            <a:srgbClr val="182B49"/>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17320" y="4617720"/>
            <a:ext cx="2240280" cy="960120"/>
          </a:xfrm>
          <a:prstGeom prst="rect">
            <a:avLst/>
          </a:prstGeom>
          <a:noFill/>
        </p:spPr>
        <p:txBody>
          <a:bodyPr wrap="square">
            <a:spAutoFit/>
          </a:bodyPr>
          <a:lstStyle/>
          <a:p>
            <a:pPr>
              <a:spcAft>
                <a:spcPts val="400"/>
              </a:spcAft>
              <a:defRPr sz="1200" b="1">
                <a:solidFill>
                  <a:srgbClr val="FFFFFF"/>
                </a:solidFill>
              </a:defRPr>
            </a:pPr>
            <a:r>
              <a:t>IT Operations &amp; Infra</a:t>
            </a:r>
          </a:p>
          <a:p>
            <a:pPr>
              <a:defRPr sz="1000">
                <a:solidFill>
                  <a:srgbClr val="94A3B8"/>
                </a:solidFill>
              </a:defRPr>
            </a:pPr>
            <a:r>
              <a:t>High availability, hybrid cloud, disaster recovery &amp; multi-site continuity</a:t>
            </a:r>
          </a:p>
        </p:txBody>
      </p:sp>
      <p:sp>
        <p:nvSpPr>
          <p:cNvPr id="7" name="Rounded Rectangle 6"/>
          <p:cNvSpPr/>
          <p:nvPr/>
        </p:nvSpPr>
        <p:spPr>
          <a:xfrm>
            <a:off x="4014216" y="4480560"/>
            <a:ext cx="2514600" cy="1234440"/>
          </a:xfrm>
          <a:prstGeom prst="roundRect">
            <a:avLst/>
          </a:prstGeom>
          <a:solidFill>
            <a:srgbClr val="182B49"/>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51376" y="4617720"/>
            <a:ext cx="2240280" cy="960120"/>
          </a:xfrm>
          <a:prstGeom prst="rect">
            <a:avLst/>
          </a:prstGeom>
          <a:noFill/>
        </p:spPr>
        <p:txBody>
          <a:bodyPr wrap="square">
            <a:spAutoFit/>
          </a:bodyPr>
          <a:lstStyle/>
          <a:p>
            <a:pPr>
              <a:spcAft>
                <a:spcPts val="400"/>
              </a:spcAft>
              <a:defRPr sz="1200" b="1">
                <a:solidFill>
                  <a:srgbClr val="FFFFFF"/>
                </a:solidFill>
              </a:defRPr>
            </a:pPr>
            <a:r>
              <a:t>Cybersecurity &amp; Risk</a:t>
            </a:r>
          </a:p>
          <a:p>
            <a:pPr>
              <a:defRPr sz="1000">
                <a:solidFill>
                  <a:srgbClr val="94A3B8"/>
                </a:solidFill>
              </a:defRPr>
            </a:pPr>
            <a:r>
              <a:t>Zero Trust, access controls, vulnerability mitigation &amp; ISO compliance</a:t>
            </a:r>
          </a:p>
        </p:txBody>
      </p:sp>
      <p:sp>
        <p:nvSpPr>
          <p:cNvPr id="9" name="Rounded Rectangle 8"/>
          <p:cNvSpPr/>
          <p:nvPr/>
        </p:nvSpPr>
        <p:spPr>
          <a:xfrm>
            <a:off x="6748272" y="4480560"/>
            <a:ext cx="2514600" cy="1234440"/>
          </a:xfrm>
          <a:prstGeom prst="roundRect">
            <a:avLst/>
          </a:prstGeom>
          <a:solidFill>
            <a:srgbClr val="182B49"/>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85432" y="4617720"/>
            <a:ext cx="2240280" cy="960120"/>
          </a:xfrm>
          <a:prstGeom prst="rect">
            <a:avLst/>
          </a:prstGeom>
          <a:noFill/>
        </p:spPr>
        <p:txBody>
          <a:bodyPr wrap="square">
            <a:spAutoFit/>
          </a:bodyPr>
          <a:lstStyle/>
          <a:p>
            <a:pPr>
              <a:spcAft>
                <a:spcPts val="400"/>
              </a:spcAft>
              <a:defRPr sz="1200" b="1">
                <a:solidFill>
                  <a:srgbClr val="FFFFFF"/>
                </a:solidFill>
              </a:defRPr>
            </a:pPr>
            <a:r>
              <a:t>Project &amp; Team Delivery</a:t>
            </a:r>
          </a:p>
          <a:p>
            <a:pPr>
              <a:defRPr sz="1000">
                <a:solidFill>
                  <a:srgbClr val="94A3B8"/>
                </a:solidFill>
              </a:defRPr>
            </a:pPr>
            <a:r>
              <a:t>Enterprise systems, cross-functional squads, digital transformation</a:t>
            </a:r>
          </a:p>
        </p:txBody>
      </p:sp>
      <p:sp>
        <p:nvSpPr>
          <p:cNvPr id="11" name="Rounded Rectangle 10"/>
          <p:cNvSpPr/>
          <p:nvPr/>
        </p:nvSpPr>
        <p:spPr>
          <a:xfrm>
            <a:off x="9482328" y="4480560"/>
            <a:ext cx="2514600" cy="1234440"/>
          </a:xfrm>
          <a:prstGeom prst="roundRect">
            <a:avLst/>
          </a:prstGeom>
          <a:solidFill>
            <a:srgbClr val="182B49"/>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19488" y="4617720"/>
            <a:ext cx="2240280" cy="960120"/>
          </a:xfrm>
          <a:prstGeom prst="rect">
            <a:avLst/>
          </a:prstGeom>
          <a:noFill/>
        </p:spPr>
        <p:txBody>
          <a:bodyPr wrap="square">
            <a:spAutoFit/>
          </a:bodyPr>
          <a:lstStyle/>
          <a:p>
            <a:pPr>
              <a:spcAft>
                <a:spcPts val="400"/>
              </a:spcAft>
              <a:defRPr sz="1200" b="1">
                <a:solidFill>
                  <a:srgbClr val="FFFFFF"/>
                </a:solidFill>
              </a:defRPr>
            </a:pPr>
            <a:r>
              <a:t>Vendor &amp; Budget Control</a:t>
            </a:r>
          </a:p>
          <a:p>
            <a:pPr>
              <a:defRPr sz="1000">
                <a:solidFill>
                  <a:srgbClr val="94A3B8"/>
                </a:solidFill>
              </a:defRPr>
            </a:pPr>
            <a:r>
              <a:t>SLA governance, contract management, resource optimization &amp; CapEx/OpEx</a:t>
            </a:r>
          </a:p>
        </p:txBody>
      </p:sp>
      <p:sp>
        <p:nvSpPr>
          <p:cNvPr id="13" name="TextBox 12"/>
          <p:cNvSpPr txBox="1"/>
          <p:nvPr/>
        </p:nvSpPr>
        <p:spPr>
          <a:xfrm>
            <a:off x="731520" y="6446520"/>
            <a:ext cx="10728655" cy="320040"/>
          </a:xfrm>
          <a:prstGeom prst="rect">
            <a:avLst/>
          </a:prstGeom>
          <a:noFill/>
        </p:spPr>
        <p:txBody>
          <a:bodyPr wrap="none" lIns="0" rIns="0" tIns="0" bIns="0">
            <a:spAutoFit/>
          </a:bodyPr>
          <a:lstStyle/>
          <a:p>
            <a:pPr>
              <a:defRPr sz="900">
                <a:solidFill>
                  <a:srgbClr val="94A3B8"/>
                </a:solidFill>
              </a:defRPr>
            </a:pPr>
            <a:r>
              <a:t>Obayashi Corporation · Senior Manager – IT Candidate Portfolio | Maheshchandra Hegde · Page 1 of 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100" b="1">
                <a:solidFill>
                  <a:srgbClr val="004E96"/>
                </a:solidFill>
              </a:defRPr>
            </a:pPr>
            <a:r>
              <a:t>EXECUTIVE PROFILE</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200" b="1">
                <a:solidFill>
                  <a:srgbClr val="0F1E36"/>
                </a:solidFill>
              </a:defRPr>
            </a:pPr>
            <a:r>
              <a:t>Strategic Leadership Profile &amp; Alignment with Obayashi Corporation</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384048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45920"/>
            <a:ext cx="3383280" cy="4389120"/>
          </a:xfrm>
          <a:prstGeom prst="rect">
            <a:avLst/>
          </a:prstGeom>
          <a:noFill/>
        </p:spPr>
        <p:txBody>
          <a:bodyPr wrap="square">
            <a:spAutoFit/>
          </a:bodyPr>
          <a:lstStyle/>
          <a:p>
            <a:pPr>
              <a:spcAft>
                <a:spcPts val="400"/>
              </a:spcAft>
              <a:defRPr sz="1800" b="1">
                <a:solidFill>
                  <a:srgbClr val="0F1E36"/>
                </a:solidFill>
              </a:defRPr>
            </a:pPr>
            <a:r>
              <a:t>Maheshchandra Hegde</a:t>
            </a:r>
          </a:p>
          <a:p>
            <a:pPr>
              <a:spcAft>
                <a:spcPts val="1200"/>
              </a:spcAft>
              <a:defRPr sz="1100" b="1">
                <a:solidFill>
                  <a:srgbClr val="004E96"/>
                </a:solidFill>
              </a:defRPr>
            </a:pPr>
            <a:r>
              <a:t>Technology Leader · Systems Architect · Enterprise Delivery Expert</a:t>
            </a:r>
          </a:p>
          <a:p>
            <a:pPr>
              <a:defRPr b="1" sz="1000">
                <a:solidFill>
                  <a:srgbClr val="0F1E36"/>
                </a:solidFill>
              </a:defRPr>
            </a:pPr>
            <a:r>
              <a:t>• Total Experience: </a:t>
            </a:r>
          </a:p>
          <a:p>
            <a:pPr>
              <a:spcAft>
                <a:spcPts val="600"/>
              </a:spcAft>
              <a:defRPr sz="950">
                <a:solidFill>
                  <a:srgbClr val="64748B"/>
                </a:solidFill>
              </a:defRPr>
            </a:pPr>
            <a:r>
              <a:t>  20+ Years leading enterprise IT, architectures &amp; engineering teams</a:t>
            </a:r>
          </a:p>
          <a:p>
            <a:pPr>
              <a:defRPr b="1" sz="1000">
                <a:solidFill>
                  <a:srgbClr val="0F1E36"/>
                </a:solidFill>
              </a:defRPr>
            </a:pPr>
            <a:r>
              <a:t>• Education: </a:t>
            </a:r>
          </a:p>
          <a:p>
            <a:pPr>
              <a:spcAft>
                <a:spcPts val="600"/>
              </a:spcAft>
              <a:defRPr sz="950">
                <a:solidFill>
                  <a:srgbClr val="64748B"/>
                </a:solidFill>
              </a:defRPr>
            </a:pPr>
            <a:r>
              <a:t>  MS in Computing (Robert Gordon Univ., UK) · B.E. in Electronics &amp; Communication</a:t>
            </a:r>
          </a:p>
          <a:p>
            <a:pPr>
              <a:defRPr b="1" sz="1000">
                <a:solidFill>
                  <a:srgbClr val="0F1E36"/>
                </a:solidFill>
              </a:defRPr>
            </a:pPr>
            <a:r>
              <a:t>• Key Past Tenures: </a:t>
            </a:r>
          </a:p>
          <a:p>
            <a:pPr>
              <a:spcAft>
                <a:spcPts val="600"/>
              </a:spcAft>
              <a:defRPr sz="950">
                <a:solidFill>
                  <a:srgbClr val="64748B"/>
                </a:solidFill>
              </a:defRPr>
            </a:pPr>
            <a:r>
              <a:t>  Cyient (Philips Critical Care), Technoyana, UST Global (Cisco Systems), Moonraft, Ness, ThoughtFocus, Cognizant</a:t>
            </a:r>
          </a:p>
          <a:p>
            <a:pPr>
              <a:defRPr b="1" sz="1000">
                <a:solidFill>
                  <a:srgbClr val="0F1E36"/>
                </a:solidFill>
              </a:defRPr>
            </a:pPr>
            <a:r>
              <a:t>• Core Competencies: </a:t>
            </a:r>
          </a:p>
          <a:p>
            <a:pPr>
              <a:spcAft>
                <a:spcPts val="600"/>
              </a:spcAft>
              <a:defRPr sz="950">
                <a:solidFill>
                  <a:srgbClr val="64748B"/>
                </a:solidFill>
              </a:defRPr>
            </a:pPr>
            <a:r>
              <a:t>  Hybrid Infrastructure, IT Operations, Mission-Critical Availability, Cybersecurity, Team Mentorship, Vendor SLAs</a:t>
            </a:r>
          </a:p>
          <a:p>
            <a:pPr>
              <a:defRPr b="1" sz="1000">
                <a:solidFill>
                  <a:srgbClr val="0F1E36"/>
                </a:solidFill>
              </a:defRPr>
            </a:pPr>
            <a:r>
              <a:t>• Industry Domain: </a:t>
            </a:r>
          </a:p>
          <a:p>
            <a:pPr>
              <a:spcAft>
                <a:spcPts val="600"/>
              </a:spcAft>
              <a:defRPr sz="950">
                <a:solidFill>
                  <a:srgbClr val="64748B"/>
                </a:solidFill>
              </a:defRPr>
            </a:pPr>
            <a:r>
              <a:t>  Healthcare Critical Systems, Enterprise Networking &amp; Dashboards, High-Reliability SaaS, 3D/Spatial Tech</a:t>
            </a:r>
          </a:p>
        </p:txBody>
      </p:sp>
      <p:sp>
        <p:nvSpPr>
          <p:cNvPr id="8" name="Rounded Rectangle 7"/>
          <p:cNvSpPr/>
          <p:nvPr/>
        </p:nvSpPr>
        <p:spPr>
          <a:xfrm>
            <a:off x="4800600" y="1463040"/>
            <a:ext cx="6656832"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983480" y="1572768"/>
            <a:ext cx="6291072" cy="859536"/>
          </a:xfrm>
          <a:prstGeom prst="rect">
            <a:avLst/>
          </a:prstGeom>
          <a:noFill/>
        </p:spPr>
        <p:txBody>
          <a:bodyPr wrap="square">
            <a:spAutoFit/>
          </a:bodyPr>
          <a:lstStyle/>
          <a:p>
            <a:pPr>
              <a:spcAft>
                <a:spcPts val="300"/>
              </a:spcAft>
              <a:defRPr sz="1200" b="1">
                <a:solidFill>
                  <a:srgbClr val="004E96"/>
                </a:solidFill>
              </a:defRPr>
            </a:pPr>
            <a:r>
              <a:t>1. Multi-Site Infrastructure &amp; High Availability</a:t>
            </a:r>
          </a:p>
          <a:p>
            <a:pPr>
              <a:defRPr sz="950">
                <a:solidFill>
                  <a:srgbClr val="1E293B"/>
                </a:solidFill>
              </a:defRPr>
            </a:pPr>
            <a:r>
              <a:t>Proven expertise running mission-critical platforms demanding 99.95%+ uptime. Direct experience engineering resilient edge systems that guarantee business continuity even during remote network dropouts.</a:t>
            </a:r>
          </a:p>
        </p:txBody>
      </p:sp>
      <p:sp>
        <p:nvSpPr>
          <p:cNvPr id="10" name="Rounded Rectangle 9"/>
          <p:cNvSpPr/>
          <p:nvPr/>
        </p:nvSpPr>
        <p:spPr>
          <a:xfrm>
            <a:off x="4800600" y="2688336"/>
            <a:ext cx="6656832"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798064"/>
            <a:ext cx="6291072" cy="859536"/>
          </a:xfrm>
          <a:prstGeom prst="rect">
            <a:avLst/>
          </a:prstGeom>
          <a:noFill/>
        </p:spPr>
        <p:txBody>
          <a:bodyPr wrap="square">
            <a:spAutoFit/>
          </a:bodyPr>
          <a:lstStyle/>
          <a:p>
            <a:pPr>
              <a:spcAft>
                <a:spcPts val="300"/>
              </a:spcAft>
              <a:defRPr sz="1200" b="1">
                <a:solidFill>
                  <a:srgbClr val="004E96"/>
                </a:solidFill>
              </a:defRPr>
            </a:pPr>
            <a:r>
              <a:t>2. Cybersecurity Governance &amp; Risk Mitigation</a:t>
            </a:r>
          </a:p>
          <a:p>
            <a:pPr>
              <a:defRPr sz="950">
                <a:solidFill>
                  <a:srgbClr val="1E293B"/>
                </a:solidFill>
              </a:defRPr>
            </a:pPr>
            <a:r>
              <a:t>Strict adherence to compliance frameworks, role-based access governance (RBAC), data protection policies, secure CI/CD pipelines, and active threat vulnerability management.</a:t>
            </a:r>
          </a:p>
        </p:txBody>
      </p:sp>
      <p:sp>
        <p:nvSpPr>
          <p:cNvPr id="12" name="Rounded Rectangle 11"/>
          <p:cNvSpPr/>
          <p:nvPr/>
        </p:nvSpPr>
        <p:spPr>
          <a:xfrm>
            <a:off x="4800600" y="3913632"/>
            <a:ext cx="6656832"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83480" y="4023360"/>
            <a:ext cx="6291072" cy="859536"/>
          </a:xfrm>
          <a:prstGeom prst="rect">
            <a:avLst/>
          </a:prstGeom>
          <a:noFill/>
        </p:spPr>
        <p:txBody>
          <a:bodyPr wrap="square">
            <a:spAutoFit/>
          </a:bodyPr>
          <a:lstStyle/>
          <a:p>
            <a:pPr>
              <a:spcAft>
                <a:spcPts val="300"/>
              </a:spcAft>
              <a:defRPr sz="1200" b="1">
                <a:solidFill>
                  <a:srgbClr val="004E96"/>
                </a:solidFill>
              </a:defRPr>
            </a:pPr>
            <a:r>
              <a:t>3. Digital Transformation &amp; Enterprise Systems</a:t>
            </a:r>
          </a:p>
          <a:p>
            <a:pPr>
              <a:defRPr sz="950">
                <a:solidFill>
                  <a:srgbClr val="1E293B"/>
                </a:solidFill>
              </a:defRPr>
            </a:pPr>
            <a:r>
              <a:t>Spearheaded enterprise system integrations, API gateways, automated telemetry, and modernized legacy workflows into performant, scalable cloud architectures.</a:t>
            </a:r>
          </a:p>
        </p:txBody>
      </p:sp>
      <p:sp>
        <p:nvSpPr>
          <p:cNvPr id="14" name="Rounded Rectangle 13"/>
          <p:cNvSpPr/>
          <p:nvPr/>
        </p:nvSpPr>
        <p:spPr>
          <a:xfrm>
            <a:off x="4800600" y="5138928"/>
            <a:ext cx="6656832"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83480" y="5248656"/>
            <a:ext cx="6291072" cy="859536"/>
          </a:xfrm>
          <a:prstGeom prst="rect">
            <a:avLst/>
          </a:prstGeom>
          <a:noFill/>
        </p:spPr>
        <p:txBody>
          <a:bodyPr wrap="square">
            <a:spAutoFit/>
          </a:bodyPr>
          <a:lstStyle/>
          <a:p>
            <a:pPr>
              <a:spcAft>
                <a:spcPts val="300"/>
              </a:spcAft>
              <a:defRPr sz="1200" b="1">
                <a:solidFill>
                  <a:srgbClr val="004E96"/>
                </a:solidFill>
              </a:defRPr>
            </a:pPr>
            <a:r>
              <a:t>4. Team Empowerment, Vendor Governance &amp; Fiscal Discipline</a:t>
            </a:r>
          </a:p>
          <a:p>
            <a:pPr>
              <a:defRPr sz="950">
                <a:solidFill>
                  <a:srgbClr val="1E293B"/>
                </a:solidFill>
              </a:defRPr>
            </a:pPr>
            <a:r>
              <a:t>Led cross-functional squads of engineers, QA, and analysts. Successfully managed third-party vendor contracts, cloud budgets (AWS/Azure/GCP), and SLA compliance.</a:t>
            </a:r>
          </a:p>
        </p:txBody>
      </p:sp>
      <p:sp>
        <p:nvSpPr>
          <p:cNvPr id="16" name="TextBox 15"/>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Obayashi Corporation · Senior Manager – IT Candidate Portfolio | Maheshchandra Hegde · Page 2 of 11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100" b="1">
                <a:solidFill>
                  <a:srgbClr val="004E96"/>
                </a:solidFill>
              </a:defRPr>
            </a:pPr>
            <a:r>
              <a:t>PROJECT EXPERIENCE 1</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200" b="1">
                <a:solidFill>
                  <a:srgbClr val="0F1E36"/>
                </a:solidFill>
              </a:defRPr>
            </a:pPr>
            <a:r>
              <a:t>Project Overview &amp; Objectives: Mission-Critical Enterprise System (Philips/Cyient)</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393192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45920"/>
            <a:ext cx="3474720" cy="4389120"/>
          </a:xfrm>
          <a:prstGeom prst="rect">
            <a:avLst/>
          </a:prstGeom>
          <a:noFill/>
        </p:spPr>
        <p:txBody>
          <a:bodyPr wrap="square">
            <a:spAutoFit/>
          </a:bodyPr>
          <a:lstStyle/>
          <a:p>
            <a:pPr>
              <a:spcAft>
                <a:spcPts val="400"/>
              </a:spcAft>
              <a:defRPr sz="1700" b="1">
                <a:solidFill>
                  <a:srgbClr val="0F1E36"/>
                </a:solidFill>
              </a:defRPr>
            </a:pPr>
            <a:r>
              <a:t>Project Profile: Philips ICCA</a:t>
            </a:r>
          </a:p>
          <a:p>
            <a:pPr>
              <a:spcAft>
                <a:spcPts val="1000"/>
              </a:spcAft>
              <a:defRPr sz="1100" b="1">
                <a:solidFill>
                  <a:srgbClr val="004E96"/>
                </a:solidFill>
              </a:defRPr>
            </a:pPr>
            <a:r>
              <a:t>Intellispace Critical Care &amp; Anesthesia Platform</a:t>
            </a:r>
          </a:p>
          <a:p>
            <a:pPr>
              <a:defRPr b="1" sz="1000">
                <a:solidFill>
                  <a:srgbClr val="0F1E36"/>
                </a:solidFill>
              </a:defRPr>
            </a:pPr>
            <a:r>
              <a:t>Role: </a:t>
            </a:r>
          </a:p>
          <a:p>
            <a:pPr>
              <a:spcAft>
                <a:spcPts val="600"/>
              </a:spcAft>
              <a:defRPr sz="950">
                <a:solidFill>
                  <a:srgbClr val="64748B"/>
                </a:solidFill>
              </a:defRPr>
            </a:pPr>
            <a:r>
              <a:t>Senior Technical Lead / Systems Architect</a:t>
            </a:r>
          </a:p>
          <a:p>
            <a:pPr>
              <a:defRPr b="1" sz="1000">
                <a:solidFill>
                  <a:srgbClr val="0F1E36"/>
                </a:solidFill>
              </a:defRPr>
            </a:pPr>
            <a:r>
              <a:t>Tenure: </a:t>
            </a:r>
          </a:p>
          <a:p>
            <a:pPr>
              <a:spcAft>
                <a:spcPts val="600"/>
              </a:spcAft>
              <a:defRPr sz="950">
                <a:solidFill>
                  <a:srgbClr val="64748B"/>
                </a:solidFill>
              </a:defRPr>
            </a:pPr>
            <a:r>
              <a:t>Nov 2023 - Mar 2025</a:t>
            </a:r>
          </a:p>
          <a:p>
            <a:pPr>
              <a:defRPr b="1" sz="1000">
                <a:solidFill>
                  <a:srgbClr val="0F1E36"/>
                </a:solidFill>
              </a:defRPr>
            </a:pPr>
            <a:r>
              <a:t>Scale: </a:t>
            </a:r>
          </a:p>
          <a:p>
            <a:pPr>
              <a:spcAft>
                <a:spcPts val="600"/>
              </a:spcAft>
              <a:defRPr sz="950">
                <a:solidFill>
                  <a:srgbClr val="64748B"/>
                </a:solidFill>
              </a:defRPr>
            </a:pPr>
            <a:r>
              <a:t>Enterprise Global Hospital Deployments &amp; High-Availability Clinical ICU Units</a:t>
            </a:r>
          </a:p>
          <a:p>
            <a:pPr>
              <a:defRPr b="1" sz="1000">
                <a:solidFill>
                  <a:srgbClr val="0F1E36"/>
                </a:solidFill>
              </a:defRPr>
            </a:pPr>
            <a:r>
              <a:t>Domain Context: </a:t>
            </a:r>
          </a:p>
          <a:p>
            <a:pPr>
              <a:spcAft>
                <a:spcPts val="600"/>
              </a:spcAft>
              <a:defRPr sz="950">
                <a:solidFill>
                  <a:srgbClr val="64748B"/>
                </a:solidFill>
              </a:defRPr>
            </a:pPr>
            <a:r>
              <a:t>Life-critical, real-time patient monitoring, zero-latency clinical alerts &amp; strict regulatory compliance</a:t>
            </a:r>
          </a:p>
          <a:p>
            <a:pPr>
              <a:defRPr b="1" sz="1000">
                <a:solidFill>
                  <a:srgbClr val="0F1E36"/>
                </a:solidFill>
              </a:defRPr>
            </a:pPr>
            <a:r>
              <a:t>Tech Ecosystem: </a:t>
            </a:r>
          </a:p>
          <a:p>
            <a:pPr>
              <a:spcAft>
                <a:spcPts val="600"/>
              </a:spcAft>
              <a:defRPr sz="950">
                <a:solidFill>
                  <a:srgbClr val="64748B"/>
                </a:solidFill>
              </a:defRPr>
            </a:pPr>
            <a:r>
              <a:t>React, Node.js, Micro-frontends, REST/WebSocket APIs, Secure Auth, Enterprise Telemetry</a:t>
            </a:r>
          </a:p>
        </p:txBody>
      </p:sp>
      <p:sp>
        <p:nvSpPr>
          <p:cNvPr id="8" name="Rounded Rectangle 7"/>
          <p:cNvSpPr/>
          <p:nvPr/>
        </p:nvSpPr>
        <p:spPr>
          <a:xfrm>
            <a:off x="4892040" y="1463040"/>
            <a:ext cx="6565392"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74920" y="1600200"/>
            <a:ext cx="6199632" cy="1188720"/>
          </a:xfrm>
          <a:prstGeom prst="rect">
            <a:avLst/>
          </a:prstGeom>
          <a:noFill/>
        </p:spPr>
        <p:txBody>
          <a:bodyPr wrap="square">
            <a:spAutoFit/>
          </a:bodyPr>
          <a:lstStyle/>
          <a:p>
            <a:pPr>
              <a:spcAft>
                <a:spcPts val="500"/>
              </a:spcAft>
              <a:defRPr sz="1250" b="1">
                <a:solidFill>
                  <a:srgbClr val="004E96"/>
                </a:solidFill>
              </a:defRPr>
            </a:pPr>
            <a:r>
              <a:t>Strategic Objective 1: High Availability &amp; Zero-Fault Operational Resilience</a:t>
            </a:r>
          </a:p>
          <a:p>
            <a:pPr>
              <a:defRPr sz="1000">
                <a:solidFill>
                  <a:srgbClr val="1E293B"/>
                </a:solidFill>
              </a:defRPr>
            </a:pPr>
            <a:r>
              <a:t>Architect and deliver web-tier systems for ICU and anesthesia workflows where system downtime is life-threatening. Established fail-safe fallback rendering, continuous health-check telemetry, and zero unhandled state exceptions across 24/7 continuous operations.</a:t>
            </a:r>
          </a:p>
        </p:txBody>
      </p:sp>
      <p:sp>
        <p:nvSpPr>
          <p:cNvPr id="10" name="Rounded Rectangle 9"/>
          <p:cNvSpPr/>
          <p:nvPr/>
        </p:nvSpPr>
        <p:spPr>
          <a:xfrm>
            <a:off x="4892040" y="3072384"/>
            <a:ext cx="6565392"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74920" y="3209544"/>
            <a:ext cx="6199632" cy="1188720"/>
          </a:xfrm>
          <a:prstGeom prst="rect">
            <a:avLst/>
          </a:prstGeom>
          <a:noFill/>
        </p:spPr>
        <p:txBody>
          <a:bodyPr wrap="square">
            <a:spAutoFit/>
          </a:bodyPr>
          <a:lstStyle/>
          <a:p>
            <a:pPr>
              <a:spcAft>
                <a:spcPts val="500"/>
              </a:spcAft>
              <a:defRPr sz="1250" b="1">
                <a:solidFill>
                  <a:srgbClr val="004E96"/>
                </a:solidFill>
              </a:defRPr>
            </a:pPr>
            <a:r>
              <a:t>Strategic Objective 2: Data Protection, Security &amp; Regulatory Compliance</a:t>
            </a:r>
          </a:p>
          <a:p>
            <a:pPr>
              <a:defRPr sz="1000">
                <a:solidFill>
                  <a:srgbClr val="1E293B"/>
                </a:solidFill>
              </a:defRPr>
            </a:pPr>
            <a:r>
              <a:t>Enforce strict healthcare information security standards (HIPAA, FDA software safety benchmarks, ISO 27001 compliance). Enforced end-to-end data encryption in transit and at rest, granular role-based access (RBAC), and full audit logging of administrative and user actions.</a:t>
            </a:r>
          </a:p>
        </p:txBody>
      </p:sp>
      <p:sp>
        <p:nvSpPr>
          <p:cNvPr id="12" name="Rounded Rectangle 11"/>
          <p:cNvSpPr/>
          <p:nvPr/>
        </p:nvSpPr>
        <p:spPr>
          <a:xfrm>
            <a:off x="4892040" y="4681728"/>
            <a:ext cx="6565392"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74920" y="4818888"/>
            <a:ext cx="6199632" cy="1188720"/>
          </a:xfrm>
          <a:prstGeom prst="rect">
            <a:avLst/>
          </a:prstGeom>
          <a:noFill/>
        </p:spPr>
        <p:txBody>
          <a:bodyPr wrap="square">
            <a:spAutoFit/>
          </a:bodyPr>
          <a:lstStyle/>
          <a:p>
            <a:pPr>
              <a:spcAft>
                <a:spcPts val="500"/>
              </a:spcAft>
              <a:defRPr sz="1250" b="1">
                <a:solidFill>
                  <a:srgbClr val="004E96"/>
                </a:solidFill>
              </a:defRPr>
            </a:pPr>
            <a:r>
              <a:t>Strategic Objective 3: Scalable Modular Architecture &amp; Seamless Integration</a:t>
            </a:r>
          </a:p>
          <a:p>
            <a:pPr>
              <a:defRPr sz="1000">
                <a:solidFill>
                  <a:srgbClr val="1E293B"/>
                </a:solidFill>
              </a:defRPr>
            </a:pPr>
            <a:r>
              <a:t>Transitioned monolithic legacy interfaces into a decoupled, micro-frontend architecture with standardized APIs. Enabled independent modular deployments, drastically reduced release risk, and unified clinical data feeds from diverse hardware monitors.</a:t>
            </a:r>
          </a:p>
        </p:txBody>
      </p:sp>
      <p:sp>
        <p:nvSpPr>
          <p:cNvPr id="14" name="TextBox 13"/>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Obayashi Corporation · Senior Manager – IT Candidate Portfolio | Maheshchandra Hegde · Page 3 of 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100" b="1">
                <a:solidFill>
                  <a:srgbClr val="004E96"/>
                </a:solidFill>
              </a:defRPr>
            </a:pPr>
            <a:r>
              <a:t>PROJECT EXPERIENCE 2</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200" b="1">
                <a:solidFill>
                  <a:srgbClr val="0F1E36"/>
                </a:solidFill>
              </a:defRPr>
            </a:pPr>
            <a:r>
              <a:t>Project Overview: High-Availability Cloud Transformation &amp; Edge Resilience (Technoyana)</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393192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45920"/>
            <a:ext cx="3474720" cy="4389120"/>
          </a:xfrm>
          <a:prstGeom prst="rect">
            <a:avLst/>
          </a:prstGeom>
          <a:noFill/>
        </p:spPr>
        <p:txBody>
          <a:bodyPr wrap="square">
            <a:spAutoFit/>
          </a:bodyPr>
          <a:lstStyle/>
          <a:p>
            <a:pPr>
              <a:spcAft>
                <a:spcPts val="400"/>
              </a:spcAft>
              <a:defRPr sz="1700" b="1">
                <a:solidFill>
                  <a:srgbClr val="0F1E36"/>
                </a:solidFill>
              </a:defRPr>
            </a:pPr>
            <a:r>
              <a:t>Technoyana Platforms</a:t>
            </a:r>
          </a:p>
          <a:p>
            <a:pPr>
              <a:spcAft>
                <a:spcPts val="1000"/>
              </a:spcAft>
              <a:defRPr sz="1100" b="1">
                <a:solidFill>
                  <a:srgbClr val="004E96"/>
                </a:solidFill>
              </a:defRPr>
            </a:pPr>
            <a:r>
              <a:t>Digital Transformation &amp; Distributed SaaS Ecosystem</a:t>
            </a:r>
          </a:p>
          <a:p>
            <a:pPr>
              <a:defRPr b="1" sz="1000">
                <a:solidFill>
                  <a:srgbClr val="0F1E36"/>
                </a:solidFill>
              </a:defRPr>
            </a:pPr>
            <a:r>
              <a:t>Role: </a:t>
            </a:r>
          </a:p>
          <a:p>
            <a:pPr>
              <a:spcAft>
                <a:spcPts val="600"/>
              </a:spcAft>
              <a:defRPr sz="950">
                <a:solidFill>
                  <a:srgbClr val="64748B"/>
                </a:solidFill>
              </a:defRPr>
            </a:pPr>
            <a:r>
              <a:t>Co-Founder &amp; Director of Technology / Architecture Lead</a:t>
            </a:r>
          </a:p>
          <a:p>
            <a:pPr>
              <a:defRPr b="1" sz="1000">
                <a:solidFill>
                  <a:srgbClr val="0F1E36"/>
                </a:solidFill>
              </a:defRPr>
            </a:pPr>
            <a:r>
              <a:t>Tenure: </a:t>
            </a:r>
          </a:p>
          <a:p>
            <a:pPr>
              <a:spcAft>
                <a:spcPts val="600"/>
              </a:spcAft>
              <a:defRPr sz="950">
                <a:solidFill>
                  <a:srgbClr val="64748B"/>
                </a:solidFill>
              </a:defRPr>
            </a:pPr>
            <a:r>
              <a:t>May 2021 - Oct 2023 (Ongoing Strategic Advisor)</a:t>
            </a:r>
          </a:p>
          <a:p>
            <a:pPr>
              <a:defRPr b="1" sz="1000">
                <a:solidFill>
                  <a:srgbClr val="0F1E36"/>
                </a:solidFill>
              </a:defRPr>
            </a:pPr>
            <a:r>
              <a:t>Key Platforms: </a:t>
            </a:r>
          </a:p>
          <a:p>
            <a:pPr>
              <a:spcAft>
                <a:spcPts val="600"/>
              </a:spcAft>
              <a:defRPr sz="950">
                <a:solidFill>
                  <a:srgbClr val="64748B"/>
                </a:solidFill>
              </a:defRPr>
            </a:pPr>
            <a:r>
              <a:t>Twitan Sports OS (Shutlify), Fintech Operations Engine, Spatial AI Pipelines (Srushtilabs)</a:t>
            </a:r>
          </a:p>
          <a:p>
            <a:pPr>
              <a:defRPr b="1" sz="1000">
                <a:solidFill>
                  <a:srgbClr val="0F1E36"/>
                </a:solidFill>
              </a:defRPr>
            </a:pPr>
            <a:r>
              <a:t>Operational Reality: </a:t>
            </a:r>
          </a:p>
          <a:p>
            <a:pPr>
              <a:spcAft>
                <a:spcPts val="600"/>
              </a:spcAft>
              <a:defRPr sz="950">
                <a:solidFill>
                  <a:srgbClr val="64748B"/>
                </a:solidFill>
              </a:defRPr>
            </a:pPr>
            <a:r>
              <a:t>High-concurrency events, remote arenas/venues with degraded cellular connectivity, multi-tenant cloud infra</a:t>
            </a:r>
          </a:p>
          <a:p>
            <a:pPr>
              <a:defRPr b="1" sz="1000">
                <a:solidFill>
                  <a:srgbClr val="0F1E36"/>
                </a:solidFill>
              </a:defRPr>
            </a:pPr>
            <a:r>
              <a:t>Relevance to Obayashi: </a:t>
            </a:r>
          </a:p>
          <a:p>
            <a:pPr>
              <a:spcAft>
                <a:spcPts val="600"/>
              </a:spcAft>
              <a:defRPr sz="950">
                <a:solidFill>
                  <a:srgbClr val="64748B"/>
                </a:solidFill>
              </a:defRPr>
            </a:pPr>
            <a:r>
              <a:t>Directly mirrors remote construction site challenges: volatile network connectivity, field staff data capture, automated cloud sync</a:t>
            </a:r>
          </a:p>
        </p:txBody>
      </p:sp>
      <p:sp>
        <p:nvSpPr>
          <p:cNvPr id="8" name="Rounded Rectangle 7"/>
          <p:cNvSpPr/>
          <p:nvPr/>
        </p:nvSpPr>
        <p:spPr>
          <a:xfrm>
            <a:off x="4892040" y="1463040"/>
            <a:ext cx="6565392"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74920" y="1600200"/>
            <a:ext cx="6199632" cy="1188720"/>
          </a:xfrm>
          <a:prstGeom prst="rect">
            <a:avLst/>
          </a:prstGeom>
          <a:noFill/>
        </p:spPr>
        <p:txBody>
          <a:bodyPr wrap="square">
            <a:spAutoFit/>
          </a:bodyPr>
          <a:lstStyle/>
          <a:p>
            <a:pPr>
              <a:spcAft>
                <a:spcPts val="500"/>
              </a:spcAft>
              <a:defRPr sz="1250" b="1">
                <a:solidFill>
                  <a:srgbClr val="004E96"/>
                </a:solidFill>
              </a:defRPr>
            </a:pPr>
            <a:r>
              <a:t>1. Edge-Resilient 'Offline-First' Architecture for Unstable Networks</a:t>
            </a:r>
          </a:p>
          <a:p>
            <a:pPr>
              <a:defRPr sz="1000">
                <a:solidFill>
                  <a:srgbClr val="1E293B"/>
                </a:solidFill>
              </a:defRPr>
            </a:pPr>
            <a:r>
              <a:t>Architected an offline-first data model utilizing local storage, background Service Workers, and optimistic transactional queuing. When on-site network drops occur, field users continue full operations uninterrupted; bi-directional conflict resolution synchronizes cloud data the moment connectivity is restored.</a:t>
            </a:r>
          </a:p>
        </p:txBody>
      </p:sp>
      <p:sp>
        <p:nvSpPr>
          <p:cNvPr id="10" name="Rounded Rectangle 9"/>
          <p:cNvSpPr/>
          <p:nvPr/>
        </p:nvSpPr>
        <p:spPr>
          <a:xfrm>
            <a:off x="4892040" y="3072384"/>
            <a:ext cx="6565392"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74920" y="3209544"/>
            <a:ext cx="6199632" cy="1188720"/>
          </a:xfrm>
          <a:prstGeom prst="rect">
            <a:avLst/>
          </a:prstGeom>
          <a:noFill/>
        </p:spPr>
        <p:txBody>
          <a:bodyPr wrap="square">
            <a:spAutoFit/>
          </a:bodyPr>
          <a:lstStyle/>
          <a:p>
            <a:pPr>
              <a:spcAft>
                <a:spcPts val="500"/>
              </a:spcAft>
              <a:defRPr sz="1250" b="1">
                <a:solidFill>
                  <a:srgbClr val="004E96"/>
                </a:solidFill>
              </a:defRPr>
            </a:pPr>
            <a:r>
              <a:t>2. Cloud Infrastructure &amp; Cost Governance (AWS / Firebase / Serverless)</a:t>
            </a:r>
          </a:p>
          <a:p>
            <a:pPr>
              <a:defRPr sz="1000">
                <a:solidFill>
                  <a:srgbClr val="1E293B"/>
                </a:solidFill>
              </a:defRPr>
            </a:pPr>
            <a:r>
              <a:t>Directed cloud infrastructure roadmap, automated CI/CD pipelines, containerized deployments, and disaster recovery replication. Implemented automated resource scaling and log archiving, cutting monthly cloud spend by 22% while handling 10x traffic bursts.</a:t>
            </a:r>
          </a:p>
        </p:txBody>
      </p:sp>
      <p:sp>
        <p:nvSpPr>
          <p:cNvPr id="12" name="Rounded Rectangle 11"/>
          <p:cNvSpPr/>
          <p:nvPr/>
        </p:nvSpPr>
        <p:spPr>
          <a:xfrm>
            <a:off x="4892040" y="4681728"/>
            <a:ext cx="6565392"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74920" y="4818888"/>
            <a:ext cx="6199632" cy="1188720"/>
          </a:xfrm>
          <a:prstGeom prst="rect">
            <a:avLst/>
          </a:prstGeom>
          <a:noFill/>
        </p:spPr>
        <p:txBody>
          <a:bodyPr wrap="square">
            <a:spAutoFit/>
          </a:bodyPr>
          <a:lstStyle/>
          <a:p>
            <a:pPr>
              <a:spcAft>
                <a:spcPts val="500"/>
              </a:spcAft>
              <a:defRPr sz="1250" b="1">
                <a:solidFill>
                  <a:srgbClr val="004E96"/>
                </a:solidFill>
              </a:defRPr>
            </a:pPr>
            <a:r>
              <a:t>3. Digital Innovation: Spatial 3D &amp; Automated Asset Workflows</a:t>
            </a:r>
          </a:p>
          <a:p>
            <a:pPr>
              <a:defRPr sz="1000">
                <a:solidFill>
                  <a:srgbClr val="1E293B"/>
                </a:solidFill>
              </a:defRPr>
            </a:pPr>
            <a:r>
              <a:t>Pioneered spatial technology workflows (Voxelforge / Srushtilabs) producing modular 3D assets, automated mesh optimization, and WebGL visualizations. Establishes deep alignment with Obayashi's BIM, Digital Twin, and 3D construction modeling initiatives.</a:t>
            </a:r>
          </a:p>
        </p:txBody>
      </p:sp>
      <p:sp>
        <p:nvSpPr>
          <p:cNvPr id="14" name="TextBox 13"/>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Obayashi Corporation · Senior Manager – IT Candidate Portfolio | Maheshchandra Hegde · Page 4 of 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100" b="1">
                <a:solidFill>
                  <a:srgbClr val="004E96"/>
                </a:solidFill>
              </a:defRPr>
            </a:pPr>
            <a:r>
              <a:t>LEADERSHIP &amp; EXECUTION</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200" b="1">
                <a:solidFill>
                  <a:srgbClr val="0F1E36"/>
                </a:solidFill>
              </a:defRPr>
            </a:pPr>
            <a:r>
              <a:t>Your Role &amp; Core Responsibilities: IT Strategy, Operations &amp; Governance</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52303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0664" y="1472184"/>
            <a:ext cx="5212080" cy="384048"/>
          </a:xfrm>
          <a:prstGeom prst="rect">
            <a:avLst/>
          </a:prstGeom>
          <a:solidFill>
            <a:srgbClr val="004E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17904"/>
            <a:ext cx="4864608" cy="320040"/>
          </a:xfrm>
          <a:prstGeom prst="rect">
            <a:avLst/>
          </a:prstGeom>
          <a:noFill/>
        </p:spPr>
        <p:txBody>
          <a:bodyPr wrap="none">
            <a:spAutoFit/>
          </a:bodyPr>
          <a:lstStyle/>
          <a:p>
            <a:pPr>
              <a:defRPr sz="1100" b="1">
                <a:solidFill>
                  <a:srgbClr val="FFFFFF"/>
                </a:solidFill>
              </a:defRPr>
            </a:pPr>
            <a:r>
              <a:t>1. IT Strategy, Policy &amp; Enterprise Architecture</a:t>
            </a:r>
          </a:p>
        </p:txBody>
      </p:sp>
      <p:sp>
        <p:nvSpPr>
          <p:cNvPr id="9" name="TextBox 8"/>
          <p:cNvSpPr txBox="1"/>
          <p:nvPr/>
        </p:nvSpPr>
        <p:spPr>
          <a:xfrm>
            <a:off x="914400" y="1901952"/>
            <a:ext cx="4864608" cy="1737360"/>
          </a:xfrm>
          <a:prstGeom prst="rect">
            <a:avLst/>
          </a:prstGeom>
          <a:noFill/>
        </p:spPr>
        <p:txBody>
          <a:bodyPr wrap="square">
            <a:spAutoFit/>
          </a:bodyPr>
          <a:lstStyle/>
          <a:p>
            <a:pPr>
              <a:spcAft>
                <a:spcPts val="300"/>
              </a:spcAft>
              <a:defRPr sz="950">
                <a:solidFill>
                  <a:srgbClr val="1E293B"/>
                </a:solidFill>
              </a:defRPr>
            </a:pPr>
            <a:r>
              <a:t>• Formulated multi-year technology roadmaps aligning IT investments with organizational growth objectives.</a:t>
            </a:r>
          </a:p>
          <a:p>
            <a:pPr>
              <a:spcAft>
                <a:spcPts val="300"/>
              </a:spcAft>
              <a:defRPr sz="950">
                <a:solidFill>
                  <a:srgbClr val="1E293B"/>
                </a:solidFill>
              </a:defRPr>
            </a:pPr>
            <a:r>
              <a:t>• Established standardized IT policies, coding standards, system architectures, and documentation protocols.</a:t>
            </a:r>
          </a:p>
          <a:p>
            <a:pPr>
              <a:spcAft>
                <a:spcPts val="300"/>
              </a:spcAft>
              <a:defRPr sz="950">
                <a:solidFill>
                  <a:srgbClr val="1E293B"/>
                </a:solidFill>
              </a:defRPr>
            </a:pPr>
            <a:r>
              <a:t>• Conducted architectural governance reviews to ensure maintainability, scalability, and technical debt reduction.</a:t>
            </a:r>
          </a:p>
          <a:p>
            <a:pPr>
              <a:spcAft>
                <a:spcPts val="300"/>
              </a:spcAft>
              <a:defRPr sz="950">
                <a:solidFill>
                  <a:srgbClr val="1E293B"/>
                </a:solidFill>
              </a:defRPr>
            </a:pPr>
            <a:r>
              <a:t>• Evaluated emerging enterprise technologies (cloud, automation, spatial 3D) to drive continuous capability evolution.</a:t>
            </a:r>
          </a:p>
        </p:txBody>
      </p:sp>
      <p:sp>
        <p:nvSpPr>
          <p:cNvPr id="10" name="Rounded Rectangle 9"/>
          <p:cNvSpPr/>
          <p:nvPr/>
        </p:nvSpPr>
        <p:spPr>
          <a:xfrm>
            <a:off x="6217920" y="1463040"/>
            <a:ext cx="52303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27064" y="1472184"/>
            <a:ext cx="5212080" cy="384048"/>
          </a:xfrm>
          <a:prstGeom prst="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517904"/>
            <a:ext cx="4864608" cy="320040"/>
          </a:xfrm>
          <a:prstGeom prst="rect">
            <a:avLst/>
          </a:prstGeom>
          <a:noFill/>
        </p:spPr>
        <p:txBody>
          <a:bodyPr wrap="none">
            <a:spAutoFit/>
          </a:bodyPr>
          <a:lstStyle/>
          <a:p>
            <a:pPr>
              <a:defRPr sz="1100" b="1">
                <a:solidFill>
                  <a:srgbClr val="FFFFFF"/>
                </a:solidFill>
              </a:defRPr>
            </a:pPr>
            <a:r>
              <a:t>2. Infrastructure Operations, Cloud &amp; Business Continuity</a:t>
            </a:r>
          </a:p>
        </p:txBody>
      </p:sp>
      <p:sp>
        <p:nvSpPr>
          <p:cNvPr id="13" name="TextBox 12"/>
          <p:cNvSpPr txBox="1"/>
          <p:nvPr/>
        </p:nvSpPr>
        <p:spPr>
          <a:xfrm>
            <a:off x="6400800" y="1901952"/>
            <a:ext cx="4864608" cy="1737360"/>
          </a:xfrm>
          <a:prstGeom prst="rect">
            <a:avLst/>
          </a:prstGeom>
          <a:noFill/>
        </p:spPr>
        <p:txBody>
          <a:bodyPr wrap="square">
            <a:spAutoFit/>
          </a:bodyPr>
          <a:lstStyle/>
          <a:p>
            <a:pPr>
              <a:spcAft>
                <a:spcPts val="300"/>
              </a:spcAft>
              <a:defRPr sz="950">
                <a:solidFill>
                  <a:srgbClr val="1E293B"/>
                </a:solidFill>
              </a:defRPr>
            </a:pPr>
            <a:r>
              <a:t>• Ensured 24/7 availability and resilience of mission-critical systems and multi-tier network topologies.</a:t>
            </a:r>
          </a:p>
          <a:p>
            <a:pPr>
              <a:spcAft>
                <a:spcPts val="300"/>
              </a:spcAft>
              <a:defRPr sz="950">
                <a:solidFill>
                  <a:srgbClr val="1E293B"/>
                </a:solidFill>
              </a:defRPr>
            </a:pPr>
            <a:r>
              <a:t>• Supervised automated backup regimens, disaster recovery (DR) simulations, and zero-loss business continuity plans.</a:t>
            </a:r>
          </a:p>
          <a:p>
            <a:pPr>
              <a:spcAft>
                <a:spcPts val="300"/>
              </a:spcAft>
              <a:defRPr sz="950">
                <a:solidFill>
                  <a:srgbClr val="1E293B"/>
                </a:solidFill>
              </a:defRPr>
            </a:pPr>
            <a:r>
              <a:t>• Managed hybrid cloud workloads, virtualization environments, network security boundaries, and telemetry.</a:t>
            </a:r>
          </a:p>
          <a:p>
            <a:pPr>
              <a:spcAft>
                <a:spcPts val="300"/>
              </a:spcAft>
              <a:defRPr sz="950">
                <a:solidFill>
                  <a:srgbClr val="1E293B"/>
                </a:solidFill>
              </a:defRPr>
            </a:pPr>
            <a:r>
              <a:t>• Instituted synthetic monitoring and automated alerting to resolve system anomalies before end-user impact.</a:t>
            </a:r>
          </a:p>
        </p:txBody>
      </p:sp>
      <p:sp>
        <p:nvSpPr>
          <p:cNvPr id="14" name="Rounded Rectangle 13"/>
          <p:cNvSpPr/>
          <p:nvPr/>
        </p:nvSpPr>
        <p:spPr>
          <a:xfrm>
            <a:off x="731520" y="3931920"/>
            <a:ext cx="52303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0664" y="3941064"/>
            <a:ext cx="5212080" cy="384048"/>
          </a:xfrm>
          <a:prstGeom prst="rect">
            <a:avLst/>
          </a:prstGeom>
          <a:solidFill>
            <a:srgbClr val="CC22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986784"/>
            <a:ext cx="4864608" cy="320040"/>
          </a:xfrm>
          <a:prstGeom prst="rect">
            <a:avLst/>
          </a:prstGeom>
          <a:noFill/>
        </p:spPr>
        <p:txBody>
          <a:bodyPr wrap="none">
            <a:spAutoFit/>
          </a:bodyPr>
          <a:lstStyle/>
          <a:p>
            <a:pPr>
              <a:defRPr sz="1100" b="1">
                <a:solidFill>
                  <a:srgbClr val="FFFFFF"/>
                </a:solidFill>
              </a:defRPr>
            </a:pPr>
            <a:r>
              <a:t>3. Cybersecurity Controls, Access Management &amp; Risk Mitigation</a:t>
            </a:r>
          </a:p>
        </p:txBody>
      </p:sp>
      <p:sp>
        <p:nvSpPr>
          <p:cNvPr id="17" name="TextBox 16"/>
          <p:cNvSpPr txBox="1"/>
          <p:nvPr/>
        </p:nvSpPr>
        <p:spPr>
          <a:xfrm>
            <a:off x="914400" y="4370832"/>
            <a:ext cx="4864608" cy="1737360"/>
          </a:xfrm>
          <a:prstGeom prst="rect">
            <a:avLst/>
          </a:prstGeom>
          <a:noFill/>
        </p:spPr>
        <p:txBody>
          <a:bodyPr wrap="square">
            <a:spAutoFit/>
          </a:bodyPr>
          <a:lstStyle/>
          <a:p>
            <a:pPr>
              <a:spcAft>
                <a:spcPts val="300"/>
              </a:spcAft>
              <a:defRPr sz="950">
                <a:solidFill>
                  <a:srgbClr val="1E293B"/>
                </a:solidFill>
              </a:defRPr>
            </a:pPr>
            <a:r>
              <a:t>• Enforced Zero-Trust principles, role-based access control (RBAC), multi-factor authentication (MFA), and audit logging.</a:t>
            </a:r>
          </a:p>
          <a:p>
            <a:pPr>
              <a:spcAft>
                <a:spcPts val="300"/>
              </a:spcAft>
              <a:defRPr sz="950">
                <a:solidFill>
                  <a:srgbClr val="1E293B"/>
                </a:solidFill>
              </a:defRPr>
            </a:pPr>
            <a:r>
              <a:t>• Conducted proactive vulnerability assessments, dependency scanning, code audits, and third-party risk evaluations.</a:t>
            </a:r>
          </a:p>
          <a:p>
            <a:pPr>
              <a:spcAft>
                <a:spcPts val="300"/>
              </a:spcAft>
              <a:defRPr sz="950">
                <a:solidFill>
                  <a:srgbClr val="1E293B"/>
                </a:solidFill>
              </a:defRPr>
            </a:pPr>
            <a:r>
              <a:t>• Partnered with enterprise compliance teams to ensure strict adherence to ISO 27001 and industry safety standards.</a:t>
            </a:r>
          </a:p>
          <a:p>
            <a:pPr>
              <a:spcAft>
                <a:spcPts val="300"/>
              </a:spcAft>
              <a:defRPr sz="950">
                <a:solidFill>
                  <a:srgbClr val="1E293B"/>
                </a:solidFill>
              </a:defRPr>
            </a:pPr>
            <a:r>
              <a:t>• Formulated incident response playbooks, disaster containment procedures, and cybersecurity staff training.</a:t>
            </a:r>
          </a:p>
        </p:txBody>
      </p:sp>
      <p:sp>
        <p:nvSpPr>
          <p:cNvPr id="18" name="Rounded Rectangle 17"/>
          <p:cNvSpPr/>
          <p:nvPr/>
        </p:nvSpPr>
        <p:spPr>
          <a:xfrm>
            <a:off x="6217920" y="3931920"/>
            <a:ext cx="52303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27064" y="3941064"/>
            <a:ext cx="5212080" cy="384048"/>
          </a:xfrm>
          <a:prstGeom prst="rect">
            <a:avLst/>
          </a:prstGeom>
          <a:solidFill>
            <a:srgbClr val="1095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3986784"/>
            <a:ext cx="4864608" cy="320040"/>
          </a:xfrm>
          <a:prstGeom prst="rect">
            <a:avLst/>
          </a:prstGeom>
          <a:noFill/>
        </p:spPr>
        <p:txBody>
          <a:bodyPr wrap="none">
            <a:spAutoFit/>
          </a:bodyPr>
          <a:lstStyle/>
          <a:p>
            <a:pPr>
              <a:defRPr sz="1100" b="1">
                <a:solidFill>
                  <a:srgbClr val="FFFFFF"/>
                </a:solidFill>
              </a:defRPr>
            </a:pPr>
            <a:r>
              <a:t>4. Team Leadership, Vendor Governance &amp; Fiscal Management</a:t>
            </a:r>
          </a:p>
        </p:txBody>
      </p:sp>
      <p:sp>
        <p:nvSpPr>
          <p:cNvPr id="21" name="TextBox 20"/>
          <p:cNvSpPr txBox="1"/>
          <p:nvPr/>
        </p:nvSpPr>
        <p:spPr>
          <a:xfrm>
            <a:off x="6400800" y="4370832"/>
            <a:ext cx="4864608" cy="1737360"/>
          </a:xfrm>
          <a:prstGeom prst="rect">
            <a:avLst/>
          </a:prstGeom>
          <a:noFill/>
        </p:spPr>
        <p:txBody>
          <a:bodyPr wrap="square">
            <a:spAutoFit/>
          </a:bodyPr>
          <a:lstStyle/>
          <a:p>
            <a:pPr>
              <a:spcAft>
                <a:spcPts val="300"/>
              </a:spcAft>
              <a:defRPr sz="950">
                <a:solidFill>
                  <a:srgbClr val="1E293B"/>
                </a:solidFill>
              </a:defRPr>
            </a:pPr>
            <a:r>
              <a:t>• Led, mentored, and fostered technical excellence across cross-functional engineering, infrastructure, and QA squads.</a:t>
            </a:r>
          </a:p>
          <a:p>
            <a:pPr>
              <a:spcAft>
                <a:spcPts val="300"/>
              </a:spcAft>
              <a:defRPr sz="950">
                <a:solidFill>
                  <a:srgbClr val="1E293B"/>
                </a:solidFill>
              </a:defRPr>
            </a:pPr>
            <a:r>
              <a:t>• Governed multi-vendor contracts, service provider RFPs, cloud infrastructure budgets, and strict SLA compliance.</a:t>
            </a:r>
          </a:p>
          <a:p>
            <a:pPr>
              <a:spcAft>
                <a:spcPts val="300"/>
              </a:spcAft>
              <a:defRPr sz="950">
                <a:solidFill>
                  <a:srgbClr val="1E293B"/>
                </a:solidFill>
              </a:defRPr>
            </a:pPr>
            <a:r>
              <a:t>• Optimized CapEx and OpEx allocations through license rationalization, automation, and cloud cost management.</a:t>
            </a:r>
          </a:p>
          <a:p>
            <a:pPr>
              <a:spcAft>
                <a:spcPts val="300"/>
              </a:spcAft>
              <a:defRPr sz="950">
                <a:solidFill>
                  <a:srgbClr val="1E293B"/>
                </a:solidFill>
              </a:defRPr>
            </a:pPr>
            <a:r>
              <a:t>• Instituted transparent KPI dashboards tracking uptime, incident resolution MTTR, and engineering delivery velocity.</a:t>
            </a:r>
          </a:p>
        </p:txBody>
      </p:sp>
      <p:sp>
        <p:nvSpPr>
          <p:cNvPr id="22" name="TextBox 21"/>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Obayashi Corporation · Senior Manager – IT Candidate Portfolio | Maheshchandra Hegde · Page 5 of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100" b="1">
                <a:solidFill>
                  <a:srgbClr val="004E96"/>
                </a:solidFill>
              </a:defRPr>
            </a:pPr>
            <a:r>
              <a:t>BUSINESS IMPACT &amp; VALUE DELIVERY</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200" b="1">
                <a:solidFill>
                  <a:srgbClr val="0F1E36"/>
                </a:solidFill>
              </a:defRPr>
            </a:pPr>
            <a:r>
              <a:t>Major Achievements &amp; Quantifiable IT Milestones</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2542032" cy="1371600"/>
          </a:xfrm>
          <a:prstGeom prst="roundRect">
            <a:avLst/>
          </a:prstGeom>
          <a:solidFill>
            <a:srgbClr val="FFFFFF"/>
          </a:solidFill>
          <a:ln w="12700">
            <a:solidFill>
              <a:srgbClr val="004E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572768"/>
            <a:ext cx="2322576" cy="1152144"/>
          </a:xfrm>
          <a:prstGeom prst="rect">
            <a:avLst/>
          </a:prstGeom>
          <a:noFill/>
        </p:spPr>
        <p:txBody>
          <a:bodyPr wrap="square">
            <a:spAutoFit/>
          </a:bodyPr>
          <a:lstStyle/>
          <a:p>
            <a:pPr>
              <a:spcAft>
                <a:spcPts val="200"/>
              </a:spcAft>
              <a:defRPr sz="2400" b="1">
                <a:solidFill>
                  <a:srgbClr val="004E96"/>
                </a:solidFill>
              </a:defRPr>
            </a:pPr>
            <a:r>
              <a:t>99.95%+</a:t>
            </a:r>
          </a:p>
          <a:p>
            <a:pPr>
              <a:spcAft>
                <a:spcPts val="200"/>
              </a:spcAft>
              <a:defRPr sz="1000" b="1">
                <a:solidFill>
                  <a:srgbClr val="0F1E36"/>
                </a:solidFill>
              </a:defRPr>
            </a:pPr>
            <a:r>
              <a:t>Critical System Availability</a:t>
            </a:r>
          </a:p>
          <a:p>
            <a:pPr>
              <a:defRPr sz="850">
                <a:solidFill>
                  <a:srgbClr val="64748B"/>
                </a:solidFill>
              </a:defRPr>
            </a:pPr>
            <a:r>
              <a:t>Sustained across 24/7 clinical ICU operations and high-traffic event workloads</a:t>
            </a:r>
          </a:p>
        </p:txBody>
      </p:sp>
      <p:sp>
        <p:nvSpPr>
          <p:cNvPr id="8" name="Rounded Rectangle 7"/>
          <p:cNvSpPr/>
          <p:nvPr/>
        </p:nvSpPr>
        <p:spPr>
          <a:xfrm>
            <a:off x="3456432" y="1463040"/>
            <a:ext cx="2542032" cy="1371600"/>
          </a:xfrm>
          <a:prstGeom prst="roundRect">
            <a:avLst/>
          </a:prstGeom>
          <a:solidFill>
            <a:srgbClr val="FFFFFF"/>
          </a:solidFill>
          <a:ln w="12700">
            <a:solidFill>
              <a:srgbClr val="004E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66160" y="1572768"/>
            <a:ext cx="2322576" cy="1152144"/>
          </a:xfrm>
          <a:prstGeom prst="rect">
            <a:avLst/>
          </a:prstGeom>
          <a:noFill/>
        </p:spPr>
        <p:txBody>
          <a:bodyPr wrap="square">
            <a:spAutoFit/>
          </a:bodyPr>
          <a:lstStyle/>
          <a:p>
            <a:pPr>
              <a:spcAft>
                <a:spcPts val="200"/>
              </a:spcAft>
              <a:defRPr sz="2400" b="1">
                <a:solidFill>
                  <a:srgbClr val="004E96"/>
                </a:solidFill>
              </a:defRPr>
            </a:pPr>
            <a:r>
              <a:t>100%</a:t>
            </a:r>
          </a:p>
          <a:p>
            <a:pPr>
              <a:spcAft>
                <a:spcPts val="200"/>
              </a:spcAft>
              <a:defRPr sz="1000" b="1">
                <a:solidFill>
                  <a:srgbClr val="0F1E36"/>
                </a:solidFill>
              </a:defRPr>
            </a:pPr>
            <a:r>
              <a:t>Data Persistence at Edge</a:t>
            </a:r>
          </a:p>
          <a:p>
            <a:pPr>
              <a:defRPr sz="850">
                <a:solidFill>
                  <a:srgbClr val="64748B"/>
                </a:solidFill>
              </a:defRPr>
            </a:pPr>
            <a:r>
              <a:t>Zero data loss during field network disconnections via offline-first syncing engine</a:t>
            </a:r>
          </a:p>
        </p:txBody>
      </p:sp>
      <p:sp>
        <p:nvSpPr>
          <p:cNvPr id="10" name="Rounded Rectangle 9"/>
          <p:cNvSpPr/>
          <p:nvPr/>
        </p:nvSpPr>
        <p:spPr>
          <a:xfrm>
            <a:off x="6181344" y="1463040"/>
            <a:ext cx="2542032" cy="1371600"/>
          </a:xfrm>
          <a:prstGeom prst="roundRect">
            <a:avLst/>
          </a:prstGeom>
          <a:solidFill>
            <a:srgbClr val="FFFFFF"/>
          </a:solidFill>
          <a:ln w="12700">
            <a:solidFill>
              <a:srgbClr val="004E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91072" y="1572768"/>
            <a:ext cx="2322576" cy="1152144"/>
          </a:xfrm>
          <a:prstGeom prst="rect">
            <a:avLst/>
          </a:prstGeom>
          <a:noFill/>
        </p:spPr>
        <p:txBody>
          <a:bodyPr wrap="square">
            <a:spAutoFit/>
          </a:bodyPr>
          <a:lstStyle/>
          <a:p>
            <a:pPr>
              <a:spcAft>
                <a:spcPts val="200"/>
              </a:spcAft>
              <a:defRPr sz="2400" b="1">
                <a:solidFill>
                  <a:srgbClr val="004E96"/>
                </a:solidFill>
              </a:defRPr>
            </a:pPr>
            <a:r>
              <a:t>35%</a:t>
            </a:r>
          </a:p>
          <a:p>
            <a:pPr>
              <a:spcAft>
                <a:spcPts val="200"/>
              </a:spcAft>
              <a:defRPr sz="1000" b="1">
                <a:solidFill>
                  <a:srgbClr val="0F1E36"/>
                </a:solidFill>
              </a:defRPr>
            </a:pPr>
            <a:r>
              <a:t>Faster Release Cycles</a:t>
            </a:r>
          </a:p>
          <a:p>
            <a:pPr>
              <a:defRPr sz="850">
                <a:solidFill>
                  <a:srgbClr val="64748B"/>
                </a:solidFill>
              </a:defRPr>
            </a:pPr>
            <a:r>
              <a:t>Achieved by implementing automated CI/CD pipelines, containerization &amp; lint tests</a:t>
            </a:r>
          </a:p>
        </p:txBody>
      </p:sp>
      <p:sp>
        <p:nvSpPr>
          <p:cNvPr id="12" name="Rounded Rectangle 11"/>
          <p:cNvSpPr/>
          <p:nvPr/>
        </p:nvSpPr>
        <p:spPr>
          <a:xfrm>
            <a:off x="8906256" y="1463040"/>
            <a:ext cx="2542032" cy="1371600"/>
          </a:xfrm>
          <a:prstGeom prst="roundRect">
            <a:avLst/>
          </a:prstGeom>
          <a:solidFill>
            <a:srgbClr val="FFFFFF"/>
          </a:solidFill>
          <a:ln w="12700">
            <a:solidFill>
              <a:srgbClr val="004E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15984" y="1572768"/>
            <a:ext cx="2322576" cy="1152144"/>
          </a:xfrm>
          <a:prstGeom prst="rect">
            <a:avLst/>
          </a:prstGeom>
          <a:noFill/>
        </p:spPr>
        <p:txBody>
          <a:bodyPr wrap="square">
            <a:spAutoFit/>
          </a:bodyPr>
          <a:lstStyle/>
          <a:p>
            <a:pPr>
              <a:spcAft>
                <a:spcPts val="200"/>
              </a:spcAft>
              <a:defRPr sz="2400" b="1">
                <a:solidFill>
                  <a:srgbClr val="004E96"/>
                </a:solidFill>
              </a:defRPr>
            </a:pPr>
            <a:r>
              <a:t>22%</a:t>
            </a:r>
          </a:p>
          <a:p>
            <a:pPr>
              <a:spcAft>
                <a:spcPts val="200"/>
              </a:spcAft>
              <a:defRPr sz="1000" b="1">
                <a:solidFill>
                  <a:srgbClr val="0F1E36"/>
                </a:solidFill>
              </a:defRPr>
            </a:pPr>
            <a:r>
              <a:t>Cloud Cost Optimization</a:t>
            </a:r>
          </a:p>
          <a:p>
            <a:pPr>
              <a:defRPr sz="850">
                <a:solidFill>
                  <a:srgbClr val="64748B"/>
                </a:solidFill>
              </a:defRPr>
            </a:pPr>
            <a:r>
              <a:t>Saved through resource rightsizing, auto-scaling policies, and license rationalization</a:t>
            </a:r>
          </a:p>
        </p:txBody>
      </p:sp>
      <p:sp>
        <p:nvSpPr>
          <p:cNvPr id="14" name="Rounded Rectangle 13"/>
          <p:cNvSpPr/>
          <p:nvPr/>
        </p:nvSpPr>
        <p:spPr>
          <a:xfrm>
            <a:off x="731520" y="3017520"/>
            <a:ext cx="10728655" cy="969264"/>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127248"/>
            <a:ext cx="10332720" cy="777240"/>
          </a:xfrm>
          <a:prstGeom prst="rect">
            <a:avLst/>
          </a:prstGeom>
          <a:noFill/>
        </p:spPr>
        <p:txBody>
          <a:bodyPr wrap="square">
            <a:spAutoFit/>
          </a:bodyPr>
          <a:lstStyle/>
          <a:p>
            <a:pPr>
              <a:spcAft>
                <a:spcPts val="300"/>
              </a:spcAft>
              <a:defRPr sz="1200" b="1">
                <a:solidFill>
                  <a:srgbClr val="0F1E36"/>
                </a:solidFill>
              </a:defRPr>
            </a:pPr>
            <a:r>
              <a:t>★  Enterprise Architecture Modernization &amp; Zero-Downtime Migration</a:t>
            </a:r>
          </a:p>
          <a:p>
            <a:pPr>
              <a:defRPr sz="950">
                <a:solidFill>
                  <a:srgbClr val="1E293B"/>
                </a:solidFill>
              </a:defRPr>
            </a:pPr>
            <a:r>
              <a:t>Successfully transformed legacy monolithic systems into modular, API-driven architectures at Cyient/Philips and Technoyana. Reduced regression cycles from weeks to hours and eliminated deployment downtime, ensuring hospital and enterprise operations remained completely uninterrupted during version upgrades.</a:t>
            </a:r>
          </a:p>
        </p:txBody>
      </p:sp>
      <p:sp>
        <p:nvSpPr>
          <p:cNvPr id="16" name="Rounded Rectangle 15"/>
          <p:cNvSpPr/>
          <p:nvPr/>
        </p:nvSpPr>
        <p:spPr>
          <a:xfrm>
            <a:off x="731520" y="4096512"/>
            <a:ext cx="10728655" cy="969264"/>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206240"/>
            <a:ext cx="10332720" cy="777240"/>
          </a:xfrm>
          <a:prstGeom prst="rect">
            <a:avLst/>
          </a:prstGeom>
          <a:noFill/>
        </p:spPr>
        <p:txBody>
          <a:bodyPr wrap="square">
            <a:spAutoFit/>
          </a:bodyPr>
          <a:lstStyle/>
          <a:p>
            <a:pPr>
              <a:spcAft>
                <a:spcPts val="300"/>
              </a:spcAft>
              <a:defRPr sz="1200" b="1">
                <a:solidFill>
                  <a:srgbClr val="0F1E36"/>
                </a:solidFill>
              </a:defRPr>
            </a:pPr>
            <a:r>
              <a:t>★  Multi-Site Network Resilience &amp; Field Data Integrity Engine</a:t>
            </a:r>
          </a:p>
          <a:p>
            <a:pPr>
              <a:defRPr sz="950">
                <a:solidFill>
                  <a:srgbClr val="1E293B"/>
                </a:solidFill>
              </a:defRPr>
            </a:pPr>
            <a:r>
              <a:t>Designed and deployed an edge-resilient synchronization pipeline for environments plagued by unstable cellular and local networks. Handled thousands of concurrent transactional updates offline with automatic background sync and deterministic conflict resolution upon network restoration.</a:t>
            </a:r>
          </a:p>
        </p:txBody>
      </p:sp>
      <p:sp>
        <p:nvSpPr>
          <p:cNvPr id="18" name="Rounded Rectangle 17"/>
          <p:cNvSpPr/>
          <p:nvPr/>
        </p:nvSpPr>
        <p:spPr>
          <a:xfrm>
            <a:off x="731520" y="5175504"/>
            <a:ext cx="10728655" cy="969264"/>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5285232"/>
            <a:ext cx="10332720" cy="777240"/>
          </a:xfrm>
          <a:prstGeom prst="rect">
            <a:avLst/>
          </a:prstGeom>
          <a:noFill/>
        </p:spPr>
        <p:txBody>
          <a:bodyPr wrap="square">
            <a:spAutoFit/>
          </a:bodyPr>
          <a:lstStyle/>
          <a:p>
            <a:pPr>
              <a:spcAft>
                <a:spcPts val="300"/>
              </a:spcAft>
              <a:defRPr sz="1200" b="1">
                <a:solidFill>
                  <a:srgbClr val="0F1E36"/>
                </a:solidFill>
              </a:defRPr>
            </a:pPr>
            <a:r>
              <a:t>★  Enterprise Operational Governance &amp; Multi-Vendor SLA Excellence</a:t>
            </a:r>
          </a:p>
          <a:p>
            <a:pPr>
              <a:defRPr sz="950">
                <a:solidFill>
                  <a:srgbClr val="1E293B"/>
                </a:solidFill>
              </a:defRPr>
            </a:pPr>
            <a:r>
              <a:t>Managed cross-functional technical teams (15+ engineers, QA, DevOps) and vendor relationships with infrastructure providers, software vendors, and hardware suppliers. Standardized SLA benchmarks, improved incident MTTR by 40%, and received multiple corporate awards for excellence.</a:t>
            </a:r>
          </a:p>
        </p:txBody>
      </p:sp>
      <p:sp>
        <p:nvSpPr>
          <p:cNvPr id="20" name="TextBox 19"/>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Obayashi Corporation · Senior Manager – IT Candidate Portfolio | Maheshchandra Hegde · Page 6 of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100" b="1">
                <a:solidFill>
                  <a:srgbClr val="004E96"/>
                </a:solidFill>
              </a:defRPr>
            </a:pPr>
            <a:r>
              <a:t>PROBLEM SOLVING &amp; CRISIS MANAGEMENT</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200" b="1">
                <a:solidFill>
                  <a:srgbClr val="0F1E36"/>
                </a:solidFill>
              </a:defRPr>
            </a:pPr>
            <a:r>
              <a:t>Challenges Faced &amp; Strategic Resolutions Implemented</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10728655" cy="148132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572768"/>
            <a:ext cx="4389120" cy="1280160"/>
          </a:xfrm>
          <a:prstGeom prst="rect">
            <a:avLst/>
          </a:prstGeom>
          <a:noFill/>
        </p:spPr>
        <p:txBody>
          <a:bodyPr wrap="square">
            <a:spAutoFit/>
          </a:bodyPr>
          <a:lstStyle/>
          <a:p>
            <a:pPr>
              <a:spcAft>
                <a:spcPts val="400"/>
              </a:spcAft>
              <a:defRPr sz="1150" b="1">
                <a:solidFill>
                  <a:srgbClr val="CC2229"/>
                </a:solidFill>
              </a:defRPr>
            </a:pPr>
            <a:r>
              <a:t>Challenge 1: Severe Network Fluctuation &amp; Remote Connectivity Drops</a:t>
            </a:r>
          </a:p>
          <a:p>
            <a:pPr>
              <a:defRPr sz="950">
                <a:solidFill>
                  <a:srgbClr val="1E293B"/>
                </a:solidFill>
              </a:defRPr>
            </a:pPr>
            <a:r>
              <a:t>Operating conditions at remote event venues and distributed client sites suffered frequent Wi-Fi packet drops, ISP latency spikes, and dead zones, causing cloud disconnects and user data loss.</a:t>
            </a:r>
          </a:p>
        </p:txBody>
      </p:sp>
      <p:sp>
        <p:nvSpPr>
          <p:cNvPr id="8" name="Rectangle 7"/>
          <p:cNvSpPr/>
          <p:nvPr/>
        </p:nvSpPr>
        <p:spPr>
          <a:xfrm>
            <a:off x="5486400" y="1600200"/>
            <a:ext cx="18288" cy="118872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0" y="1572768"/>
            <a:ext cx="5577840" cy="1280160"/>
          </a:xfrm>
          <a:prstGeom prst="rect">
            <a:avLst/>
          </a:prstGeom>
          <a:noFill/>
        </p:spPr>
        <p:txBody>
          <a:bodyPr wrap="square">
            <a:spAutoFit/>
          </a:bodyPr>
          <a:lstStyle/>
          <a:p>
            <a:pPr>
              <a:spcAft>
                <a:spcPts val="200"/>
              </a:spcAft>
              <a:defRPr sz="1100" b="1">
                <a:solidFill>
                  <a:srgbClr val="004E96"/>
                </a:solidFill>
              </a:defRPr>
            </a:pPr>
            <a:r>
              <a:t>Resolution Implemented:</a:t>
            </a:r>
          </a:p>
          <a:p>
            <a:pPr>
              <a:spcAft>
                <a:spcPts val="300"/>
              </a:spcAft>
              <a:defRPr sz="950">
                <a:solidFill>
                  <a:srgbClr val="1E293B"/>
                </a:solidFill>
              </a:defRPr>
            </a:pPr>
            <a:r>
              <a:t>Architected an 'Offline-First' state engine using IndexedDB client persistence and service workers. Implemented optimistic UI updates and a transactional event replay queue that automatically resynchronizes once the network reconnects.</a:t>
            </a:r>
          </a:p>
          <a:p>
            <a:pPr>
              <a:defRPr sz="950" b="1">
                <a:solidFill>
                  <a:srgbClr val="109563"/>
                </a:solidFill>
              </a:defRPr>
            </a:pPr>
            <a:r>
              <a:t>Result: Impact: 100% data preservation, zero operator workflow interruptions, seamless user experience.</a:t>
            </a:r>
          </a:p>
        </p:txBody>
      </p:sp>
      <p:sp>
        <p:nvSpPr>
          <p:cNvPr id="10" name="Rounded Rectangle 9"/>
          <p:cNvSpPr/>
          <p:nvPr/>
        </p:nvSpPr>
        <p:spPr>
          <a:xfrm>
            <a:off x="731520" y="3072384"/>
            <a:ext cx="10728655" cy="148132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182112"/>
            <a:ext cx="4389120" cy="1280160"/>
          </a:xfrm>
          <a:prstGeom prst="rect">
            <a:avLst/>
          </a:prstGeom>
          <a:noFill/>
        </p:spPr>
        <p:txBody>
          <a:bodyPr wrap="square">
            <a:spAutoFit/>
          </a:bodyPr>
          <a:lstStyle/>
          <a:p>
            <a:pPr>
              <a:spcAft>
                <a:spcPts val="400"/>
              </a:spcAft>
              <a:defRPr sz="1150" b="1">
                <a:solidFill>
                  <a:srgbClr val="CC2229"/>
                </a:solidFill>
              </a:defRPr>
            </a:pPr>
            <a:r>
              <a:t>Challenge 2: Architectural Fragility &amp; High Downtime Risk in Monolithic Legacy Systems</a:t>
            </a:r>
          </a:p>
          <a:p>
            <a:pPr>
              <a:defRPr sz="950">
                <a:solidFill>
                  <a:srgbClr val="1E293B"/>
                </a:solidFill>
              </a:defRPr>
            </a:pPr>
            <a:r>
              <a:t>A legacy codebase had tight coupling between presentation and backend data layers. Deploying bug fixes or new features carried severe risks of regressions and system outages in critical environments.</a:t>
            </a:r>
          </a:p>
        </p:txBody>
      </p:sp>
      <p:sp>
        <p:nvSpPr>
          <p:cNvPr id="12" name="Rectangle 11"/>
          <p:cNvSpPr/>
          <p:nvPr/>
        </p:nvSpPr>
        <p:spPr>
          <a:xfrm>
            <a:off x="5486400" y="3209544"/>
            <a:ext cx="18288" cy="118872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0" y="3182112"/>
            <a:ext cx="5577840" cy="1280160"/>
          </a:xfrm>
          <a:prstGeom prst="rect">
            <a:avLst/>
          </a:prstGeom>
          <a:noFill/>
        </p:spPr>
        <p:txBody>
          <a:bodyPr wrap="square">
            <a:spAutoFit/>
          </a:bodyPr>
          <a:lstStyle/>
          <a:p>
            <a:pPr>
              <a:spcAft>
                <a:spcPts val="200"/>
              </a:spcAft>
              <a:defRPr sz="1100" b="1">
                <a:solidFill>
                  <a:srgbClr val="004E96"/>
                </a:solidFill>
              </a:defRPr>
            </a:pPr>
            <a:r>
              <a:t>Resolution Implemented:</a:t>
            </a:r>
          </a:p>
          <a:p>
            <a:pPr>
              <a:spcAft>
                <a:spcPts val="300"/>
              </a:spcAft>
              <a:defRPr sz="950">
                <a:solidFill>
                  <a:srgbClr val="1E293B"/>
                </a:solidFill>
              </a:defRPr>
            </a:pPr>
            <a:r>
              <a:t>Decomposed the monolith into isolated micro-frontends and standardized REST/WebSocket contracts. Established automated unit/integration testing pipelines and canary deployments to validate changes in staging.</a:t>
            </a:r>
          </a:p>
          <a:p>
            <a:pPr>
              <a:defRPr sz="950" b="1">
                <a:solidFill>
                  <a:srgbClr val="109563"/>
                </a:solidFill>
              </a:defRPr>
            </a:pPr>
            <a:r>
              <a:t>Result: Impact: Reduced regression risk to near-zero, cut deployment cycles by 35%, and enabled independent modular upgrades.</a:t>
            </a:r>
          </a:p>
        </p:txBody>
      </p:sp>
      <p:sp>
        <p:nvSpPr>
          <p:cNvPr id="14" name="Rounded Rectangle 13"/>
          <p:cNvSpPr/>
          <p:nvPr/>
        </p:nvSpPr>
        <p:spPr>
          <a:xfrm>
            <a:off x="731520" y="4681728"/>
            <a:ext cx="10728655" cy="148132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791456"/>
            <a:ext cx="4389120" cy="1280160"/>
          </a:xfrm>
          <a:prstGeom prst="rect">
            <a:avLst/>
          </a:prstGeom>
          <a:noFill/>
        </p:spPr>
        <p:txBody>
          <a:bodyPr wrap="square">
            <a:spAutoFit/>
          </a:bodyPr>
          <a:lstStyle/>
          <a:p>
            <a:pPr>
              <a:spcAft>
                <a:spcPts val="400"/>
              </a:spcAft>
              <a:defRPr sz="1150" b="1">
                <a:solidFill>
                  <a:srgbClr val="CC2229"/>
                </a:solidFill>
              </a:defRPr>
            </a:pPr>
            <a:r>
              <a:t>Challenge 3: Complex Multi-Vendor Dependencies &amp; SLA Enforcement Gaps</a:t>
            </a:r>
          </a:p>
          <a:p>
            <a:pPr>
              <a:defRPr sz="950">
                <a:solidFill>
                  <a:srgbClr val="1E293B"/>
                </a:solidFill>
              </a:defRPr>
            </a:pPr>
            <a:r>
              <a:t>Dispersed third-party cloud tools, software licenses, and hardware vendors lacked centralized SLA tracking, resulting in finger-pointing during service degradation and creeping monthly cloud expenditure.</a:t>
            </a:r>
          </a:p>
        </p:txBody>
      </p:sp>
      <p:sp>
        <p:nvSpPr>
          <p:cNvPr id="16" name="Rectangle 15"/>
          <p:cNvSpPr/>
          <p:nvPr/>
        </p:nvSpPr>
        <p:spPr>
          <a:xfrm>
            <a:off x="5486400" y="4818888"/>
            <a:ext cx="18288" cy="118872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0" y="4791456"/>
            <a:ext cx="5577840" cy="1280160"/>
          </a:xfrm>
          <a:prstGeom prst="rect">
            <a:avLst/>
          </a:prstGeom>
          <a:noFill/>
        </p:spPr>
        <p:txBody>
          <a:bodyPr wrap="square">
            <a:spAutoFit/>
          </a:bodyPr>
          <a:lstStyle/>
          <a:p>
            <a:pPr>
              <a:spcAft>
                <a:spcPts val="200"/>
              </a:spcAft>
              <a:defRPr sz="1100" b="1">
                <a:solidFill>
                  <a:srgbClr val="004E96"/>
                </a:solidFill>
              </a:defRPr>
            </a:pPr>
            <a:r>
              <a:t>Resolution Implemented:</a:t>
            </a:r>
          </a:p>
          <a:p>
            <a:pPr>
              <a:spcAft>
                <a:spcPts val="300"/>
              </a:spcAft>
              <a:defRPr sz="950">
                <a:solidFill>
                  <a:srgbClr val="1E293B"/>
                </a:solidFill>
              </a:defRPr>
            </a:pPr>
            <a:r>
              <a:t>Instituted a centralized IT Governance &amp; SLA Dashboard with automated latency/uptime telemetry. Standardized vendor contract SLAs with penalty clauses, monthly executive reviews, and automated idle resource termination.</a:t>
            </a:r>
          </a:p>
          <a:p>
            <a:pPr>
              <a:defRPr sz="950" b="1">
                <a:solidFill>
                  <a:srgbClr val="109563"/>
                </a:solidFill>
              </a:defRPr>
            </a:pPr>
            <a:r>
              <a:t>Result: Impact: Slashed mean-time-to-resolution (MTTR) by 40% and trimmed overall recurring cloud/vendor spend by 22%.</a:t>
            </a:r>
          </a:p>
        </p:txBody>
      </p:sp>
      <p:sp>
        <p:nvSpPr>
          <p:cNvPr id="18" name="TextBox 17"/>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Obayashi Corporation · Senior Manager – IT Candidate Portfolio | Maheshchandra Hegde · Page 7 of 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100" b="1">
                <a:solidFill>
                  <a:srgbClr val="004E96"/>
                </a:solidFill>
              </a:defRPr>
            </a:pPr>
            <a:r>
              <a:t>OPERATIONAL PHILOSOPHY</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200" b="1">
                <a:solidFill>
                  <a:srgbClr val="0F1E36"/>
                </a:solidFill>
              </a:defRPr>
            </a:pPr>
            <a:r>
              <a:t>Lessons Learned &amp; Enterprise Best Practices</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10728655"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463040"/>
            <a:ext cx="109728" cy="1051560"/>
          </a:xfrm>
          <a:prstGeom prst="rect">
            <a:avLst/>
          </a:prstGeom>
          <a:solidFill>
            <a:srgbClr val="004E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572768"/>
            <a:ext cx="10149840" cy="868680"/>
          </a:xfrm>
          <a:prstGeom prst="rect">
            <a:avLst/>
          </a:prstGeom>
          <a:noFill/>
        </p:spPr>
        <p:txBody>
          <a:bodyPr wrap="square">
            <a:spAutoFit/>
          </a:bodyPr>
          <a:lstStyle/>
          <a:p>
            <a:pPr>
              <a:spcAft>
                <a:spcPts val="400"/>
              </a:spcAft>
              <a:defRPr sz="1200" b="1">
                <a:solidFill>
                  <a:srgbClr val="0F1E36"/>
                </a:solidFill>
              </a:defRPr>
            </a:pPr>
            <a:r>
              <a:t>1. Resilience Must Be Engineered into the Architecture, Not Added as an Afterthought</a:t>
            </a:r>
          </a:p>
          <a:p>
            <a:pPr>
              <a:defRPr sz="950">
                <a:solidFill>
                  <a:srgbClr val="1E293B"/>
                </a:solidFill>
              </a:defRPr>
            </a:pPr>
            <a:r>
              <a:t>In critical operations (whether hospitals or construction job sites), network connectivity and hardware will inevitably experience degradation. Systems must be designed with graceful degradation, local caching, and deterministic reconciliation rather than assuming continuous, low-latency broadband.</a:t>
            </a:r>
          </a:p>
        </p:txBody>
      </p:sp>
      <p:sp>
        <p:nvSpPr>
          <p:cNvPr id="9" name="Rounded Rectangle 8"/>
          <p:cNvSpPr/>
          <p:nvPr/>
        </p:nvSpPr>
        <p:spPr>
          <a:xfrm>
            <a:off x="731520" y="2651760"/>
            <a:ext cx="10728655"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651760"/>
            <a:ext cx="109728" cy="1051560"/>
          </a:xfrm>
          <a:prstGeom prst="rect">
            <a:avLst/>
          </a:prstGeom>
          <a:solidFill>
            <a:srgbClr val="004E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2761488"/>
            <a:ext cx="10149840" cy="868680"/>
          </a:xfrm>
          <a:prstGeom prst="rect">
            <a:avLst/>
          </a:prstGeom>
          <a:noFill/>
        </p:spPr>
        <p:txBody>
          <a:bodyPr wrap="square">
            <a:spAutoFit/>
          </a:bodyPr>
          <a:lstStyle/>
          <a:p>
            <a:pPr>
              <a:spcAft>
                <a:spcPts val="400"/>
              </a:spcAft>
              <a:defRPr sz="1200" b="1">
                <a:solidFill>
                  <a:srgbClr val="0F1E36"/>
                </a:solidFill>
              </a:defRPr>
            </a:pPr>
            <a:r>
              <a:t>2. Cybersecurity is an Organizational Culture, Not Merely a Perimeter Firewall</a:t>
            </a:r>
          </a:p>
          <a:p>
            <a:pPr>
              <a:defRPr sz="950">
                <a:solidFill>
                  <a:srgbClr val="1E293B"/>
                </a:solidFill>
              </a:defRPr>
            </a:pPr>
            <a:r>
              <a:t>A majority of enterprise security breaches stem from misconfigured access rights, third-party vendor credentials, or unpatched endpoints. Implementing Zero Trust Network Access (ZTNA), strict least-privilege RBAC, and continuous security hygiene reviews protects the organization far more effectively than traditional boundary defenses alone.</a:t>
            </a:r>
          </a:p>
        </p:txBody>
      </p:sp>
      <p:sp>
        <p:nvSpPr>
          <p:cNvPr id="12" name="Rounded Rectangle 11"/>
          <p:cNvSpPr/>
          <p:nvPr/>
        </p:nvSpPr>
        <p:spPr>
          <a:xfrm>
            <a:off x="731520" y="3840480"/>
            <a:ext cx="10728655"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3840480"/>
            <a:ext cx="109728" cy="1051560"/>
          </a:xfrm>
          <a:prstGeom prst="rect">
            <a:avLst/>
          </a:prstGeom>
          <a:solidFill>
            <a:srgbClr val="004E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3950208"/>
            <a:ext cx="10149840" cy="868680"/>
          </a:xfrm>
          <a:prstGeom prst="rect">
            <a:avLst/>
          </a:prstGeom>
          <a:noFill/>
        </p:spPr>
        <p:txBody>
          <a:bodyPr wrap="square">
            <a:spAutoFit/>
          </a:bodyPr>
          <a:lstStyle/>
          <a:p>
            <a:pPr>
              <a:spcAft>
                <a:spcPts val="400"/>
              </a:spcAft>
              <a:defRPr sz="1200" b="1">
                <a:solidFill>
                  <a:srgbClr val="0F1E36"/>
                </a:solidFill>
              </a:defRPr>
            </a:pPr>
            <a:r>
              <a:t>3. Proactive Telemetry &amp; Observability Prevents Operational Crises</a:t>
            </a:r>
          </a:p>
          <a:p>
            <a:pPr>
              <a:defRPr sz="950">
                <a:solidFill>
                  <a:srgbClr val="1E293B"/>
                </a:solidFill>
              </a:defRPr>
            </a:pPr>
            <a:r>
              <a:t>Waiting for users to report an outage is a failed IT strategy. Instituting synthetic transactions, automated latency monitoring, CPU/memory threshold alerts, and automated runbooks allows IT operations to resolve 80% of potential incidents before end users or project sites notice any disruption.</a:t>
            </a:r>
          </a:p>
        </p:txBody>
      </p:sp>
      <p:sp>
        <p:nvSpPr>
          <p:cNvPr id="15" name="Rounded Rectangle 14"/>
          <p:cNvSpPr/>
          <p:nvPr/>
        </p:nvSpPr>
        <p:spPr>
          <a:xfrm>
            <a:off x="731520" y="5029200"/>
            <a:ext cx="10728655"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5029200"/>
            <a:ext cx="109728" cy="1051560"/>
          </a:xfrm>
          <a:prstGeom prst="rect">
            <a:avLst/>
          </a:prstGeom>
          <a:solidFill>
            <a:srgbClr val="004E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5138928"/>
            <a:ext cx="10149840" cy="868680"/>
          </a:xfrm>
          <a:prstGeom prst="rect">
            <a:avLst/>
          </a:prstGeom>
          <a:noFill/>
        </p:spPr>
        <p:txBody>
          <a:bodyPr wrap="square">
            <a:spAutoFit/>
          </a:bodyPr>
          <a:lstStyle/>
          <a:p>
            <a:pPr>
              <a:spcAft>
                <a:spcPts val="400"/>
              </a:spcAft>
              <a:defRPr sz="1200" b="1">
                <a:solidFill>
                  <a:srgbClr val="0F1E36"/>
                </a:solidFill>
              </a:defRPr>
            </a:pPr>
            <a:r>
              <a:t>4. Technical Leadership Requires Bridging Field Realities with Executive Strategy</a:t>
            </a:r>
          </a:p>
          <a:p>
            <a:pPr>
              <a:defRPr sz="950">
                <a:solidFill>
                  <a:srgbClr val="1E293B"/>
                </a:solidFill>
              </a:defRPr>
            </a:pPr>
            <a:r>
              <a:t>Successful IT leadership is not about adopting technology for its own sake; it is about solving concrete business pain points. Spending time understanding how field teams, site managers, and business stakeholders operate ensures IT investments deliver measurable productivity, safety, and financial returns.</a:t>
            </a:r>
          </a:p>
        </p:txBody>
      </p:sp>
      <p:sp>
        <p:nvSpPr>
          <p:cNvPr id="18" name="TextBox 17"/>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Obayashi Corporation · Senior Manager – IT Candidate Portfolio | Maheshchandra Hegde · Page 8 of 11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100" b="1">
                <a:solidFill>
                  <a:srgbClr val="004E96"/>
                </a:solidFill>
              </a:defRPr>
            </a:pPr>
            <a:r>
              <a:t>STRATEGIC VISION FOR OBAYASHI</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200" b="1">
                <a:solidFill>
                  <a:srgbClr val="0F1E36"/>
                </a:solidFill>
              </a:defRPr>
            </a:pPr>
            <a:r>
              <a:t>Suggestions for Future Process Improvements at Obayashi Corporation</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10728655"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554480"/>
            <a:ext cx="10241280" cy="914400"/>
          </a:xfrm>
          <a:prstGeom prst="rect">
            <a:avLst/>
          </a:prstGeom>
          <a:noFill/>
        </p:spPr>
        <p:txBody>
          <a:bodyPr wrap="square">
            <a:spAutoFit/>
          </a:bodyPr>
          <a:lstStyle/>
          <a:p>
            <a:pPr>
              <a:spcAft>
                <a:spcPts val="200"/>
              </a:spcAft>
              <a:defRPr sz="1200" b="1">
                <a:solidFill>
                  <a:srgbClr val="004E96"/>
                </a:solidFill>
              </a:defRPr>
            </a:pPr>
            <a:r>
              <a:t>1. Standardized Construction Site 'IT-in-a-Box' Rapid Deployment Kit</a:t>
            </a:r>
          </a:p>
          <a:p>
            <a:pPr>
              <a:spcAft>
                <a:spcPts val="200"/>
              </a:spcAft>
              <a:defRPr sz="950" b="1">
                <a:solidFill>
                  <a:srgbClr val="1E293B"/>
                </a:solidFill>
              </a:defRPr>
            </a:pPr>
            <a:r>
              <a:t>Opportunity: Setting up reliable IT infrastructure at new construction sites often takes weeks and suffers from inconsistent hardware and security standards.</a:t>
            </a:r>
          </a:p>
          <a:p>
            <a:pPr>
              <a:defRPr sz="900">
                <a:solidFill>
                  <a:srgbClr val="64748B"/>
                </a:solidFill>
              </a:defRPr>
            </a:pPr>
            <a:r>
              <a:t>Proposed Solution: Design a containerized 'Site IT Kit' combining dual-SIM 5G/satellite SD-WAN routers, local edge server/caching node, pre-configured biometric access control, and ruggedized Wi-Fi 6 access points. Enables full site IT commissioning within 48 hours with automated zero-touch provisioning.</a:t>
            </a:r>
          </a:p>
        </p:txBody>
      </p:sp>
      <p:sp>
        <p:nvSpPr>
          <p:cNvPr id="8" name="Rounded Rectangle 7"/>
          <p:cNvSpPr/>
          <p:nvPr/>
        </p:nvSpPr>
        <p:spPr>
          <a:xfrm>
            <a:off x="731520" y="2651760"/>
            <a:ext cx="10728655"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743200"/>
            <a:ext cx="10241280" cy="914400"/>
          </a:xfrm>
          <a:prstGeom prst="rect">
            <a:avLst/>
          </a:prstGeom>
          <a:noFill/>
        </p:spPr>
        <p:txBody>
          <a:bodyPr wrap="square">
            <a:spAutoFit/>
          </a:bodyPr>
          <a:lstStyle/>
          <a:p>
            <a:pPr>
              <a:spcAft>
                <a:spcPts val="200"/>
              </a:spcAft>
              <a:defRPr sz="1200" b="1">
                <a:solidFill>
                  <a:srgbClr val="004E96"/>
                </a:solidFill>
              </a:defRPr>
            </a:pPr>
            <a:r>
              <a:t>2. Cloud BIM &amp; Common Data Environment (CDE) Acceleration Node</a:t>
            </a:r>
          </a:p>
          <a:p>
            <a:pPr>
              <a:spcAft>
                <a:spcPts val="200"/>
              </a:spcAft>
              <a:defRPr sz="950" b="1">
                <a:solidFill>
                  <a:srgbClr val="1E293B"/>
                </a:solidFill>
              </a:defRPr>
            </a:pPr>
            <a:r>
              <a:t>Opportunity: Field teams struggle downloading and rendering multi-gigabyte 3D BIM models, CAD drawings, and point clouds over remote job-site cellular connections.</a:t>
            </a:r>
          </a:p>
          <a:p>
            <a:pPr>
              <a:defRPr sz="900">
                <a:solidFill>
                  <a:srgbClr val="64748B"/>
                </a:solidFill>
              </a:defRPr>
            </a:pPr>
            <a:r>
              <a:t>Proposed Solution: Deploy localized edge-caching appliances paired with WebGL-based progressive 3D rendering (leveraging spatial engineering patterns). Site engineers view and markup complex 3D digital twins instantly without saturating job-site uplink bandwidth.</a:t>
            </a:r>
          </a:p>
        </p:txBody>
      </p:sp>
      <p:sp>
        <p:nvSpPr>
          <p:cNvPr id="10" name="Rounded Rectangle 9"/>
          <p:cNvSpPr/>
          <p:nvPr/>
        </p:nvSpPr>
        <p:spPr>
          <a:xfrm>
            <a:off x="731520" y="3840480"/>
            <a:ext cx="10728655"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931920"/>
            <a:ext cx="10241280" cy="914400"/>
          </a:xfrm>
          <a:prstGeom prst="rect">
            <a:avLst/>
          </a:prstGeom>
          <a:noFill/>
        </p:spPr>
        <p:txBody>
          <a:bodyPr wrap="square">
            <a:spAutoFit/>
          </a:bodyPr>
          <a:lstStyle/>
          <a:p>
            <a:pPr>
              <a:spcAft>
                <a:spcPts val="200"/>
              </a:spcAft>
              <a:defRPr sz="1200" b="1">
                <a:solidFill>
                  <a:srgbClr val="004E96"/>
                </a:solidFill>
              </a:defRPr>
            </a:pPr>
            <a:r>
              <a:t>3. Subcontractor Zero-Trust Security Mesh &amp; Automated Vendor Compliance</a:t>
            </a:r>
          </a:p>
          <a:p>
            <a:pPr>
              <a:spcAft>
                <a:spcPts val="200"/>
              </a:spcAft>
              <a:defRPr sz="950" b="1">
                <a:solidFill>
                  <a:srgbClr val="1E293B"/>
                </a:solidFill>
              </a:defRPr>
            </a:pPr>
            <a:r>
              <a:t>Opportunity: General contractors interact with hundreds of specialized subcontractors and vendors, introducing major cybersecurity and intellectual property leakage risks.</a:t>
            </a:r>
          </a:p>
          <a:p>
            <a:pPr>
              <a:defRPr sz="900">
                <a:solidFill>
                  <a:srgbClr val="64748B"/>
                </a:solidFill>
              </a:defRPr>
            </a:pPr>
            <a:r>
              <a:t>Proposed Solution: Establish a cloud-native Zero-Trust Network Access (ZTNA) portal. Subcontractors access only designated project folders with time-bound credentials, multi-factor authentication, watermarked document viewers, and automated endpoint compliance checks.</a:t>
            </a:r>
          </a:p>
        </p:txBody>
      </p:sp>
      <p:sp>
        <p:nvSpPr>
          <p:cNvPr id="12" name="Rounded Rectangle 11"/>
          <p:cNvSpPr/>
          <p:nvPr/>
        </p:nvSpPr>
        <p:spPr>
          <a:xfrm>
            <a:off x="731520" y="5029200"/>
            <a:ext cx="10728655"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120640"/>
            <a:ext cx="10241280" cy="914400"/>
          </a:xfrm>
          <a:prstGeom prst="rect">
            <a:avLst/>
          </a:prstGeom>
          <a:noFill/>
        </p:spPr>
        <p:txBody>
          <a:bodyPr wrap="square">
            <a:spAutoFit/>
          </a:bodyPr>
          <a:lstStyle/>
          <a:p>
            <a:pPr>
              <a:spcAft>
                <a:spcPts val="200"/>
              </a:spcAft>
              <a:defRPr sz="1200" b="1">
                <a:solidFill>
                  <a:srgbClr val="004E96"/>
                </a:solidFill>
              </a:defRPr>
            </a:pPr>
            <a:r>
              <a:t>4. AIOps for Predictive IT Maintenance &amp; Automated Disaster Recovery (DR)</a:t>
            </a:r>
          </a:p>
          <a:p>
            <a:pPr>
              <a:spcAft>
                <a:spcPts val="200"/>
              </a:spcAft>
              <a:defRPr sz="950" b="1">
                <a:solidFill>
                  <a:srgbClr val="1E293B"/>
                </a:solidFill>
              </a:defRPr>
            </a:pPr>
            <a:r>
              <a:t>Opportunity: Unplanned server outages, ISP disconnections, or backup failures at remote regional hubs disrupt critical construction scheduling and bid deadlines.</a:t>
            </a:r>
          </a:p>
          <a:p>
            <a:pPr>
              <a:defRPr sz="900">
                <a:solidFill>
                  <a:srgbClr val="64748B"/>
                </a:solidFill>
              </a:defRPr>
            </a:pPr>
            <a:r>
              <a:t>Proposed Solution: Implement AI-assisted log analysis and telemetry to detect early indicators of disk failure, bandwidth saturation, or cyber anomalies. Pair with automated immutable cloud backups (ransomware-proof) and scheduled push-button disaster recovery failover drills.</a:t>
            </a:r>
          </a:p>
        </p:txBody>
      </p:sp>
      <p:sp>
        <p:nvSpPr>
          <p:cNvPr id="14" name="TextBox 13"/>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Obayashi Corporation · Senior Manager – IT Candidate Portfolio | Maheshchandra Hegde · Page 9 of 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100" b="1">
                <a:solidFill>
                  <a:srgbClr val="004E96"/>
                </a:solidFill>
              </a:defRPr>
            </a:pPr>
            <a:r>
              <a:t>LEADERSHIP ONBOARDING &amp; VALUE REALIZATION</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200" b="1">
                <a:solidFill>
                  <a:srgbClr val="0F1E36"/>
                </a:solidFill>
              </a:defRPr>
            </a:pPr>
            <a:r>
              <a:t>First 90 Days: Strategic Execution Roadmap for Senior Manager – IT</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3401568"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0664" y="1472184"/>
            <a:ext cx="3383280" cy="438912"/>
          </a:xfrm>
          <a:prstGeom prst="rect">
            <a:avLst/>
          </a:prstGeom>
          <a:solidFill>
            <a:srgbClr val="004E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1536192"/>
            <a:ext cx="3182112" cy="320040"/>
          </a:xfrm>
          <a:prstGeom prst="rect">
            <a:avLst/>
          </a:prstGeom>
          <a:noFill/>
        </p:spPr>
        <p:txBody>
          <a:bodyPr wrap="none">
            <a:spAutoFit/>
          </a:bodyPr>
          <a:lstStyle/>
          <a:p>
            <a:pPr>
              <a:defRPr sz="1100" b="1">
                <a:solidFill>
                  <a:srgbClr val="FFFFFF"/>
                </a:solidFill>
              </a:defRPr>
            </a:pPr>
            <a:r>
              <a:t>Days 1 – 30: Discovery &amp; Baseline Assessment</a:t>
            </a:r>
          </a:p>
        </p:txBody>
      </p:sp>
      <p:sp>
        <p:nvSpPr>
          <p:cNvPr id="9" name="TextBox 8"/>
          <p:cNvSpPr txBox="1"/>
          <p:nvPr/>
        </p:nvSpPr>
        <p:spPr>
          <a:xfrm>
            <a:off x="868680" y="2011680"/>
            <a:ext cx="3127248" cy="4023360"/>
          </a:xfrm>
          <a:prstGeom prst="rect">
            <a:avLst/>
          </a:prstGeom>
          <a:noFill/>
        </p:spPr>
        <p:txBody>
          <a:bodyPr wrap="square">
            <a:spAutoFit/>
          </a:bodyPr>
          <a:lstStyle/>
          <a:p>
            <a:pPr>
              <a:spcAft>
                <a:spcPts val="1000"/>
              </a:spcAft>
              <a:defRPr sz="950" b="1">
                <a:solidFill>
                  <a:srgbClr val="0F1E36"/>
                </a:solidFill>
              </a:defRPr>
            </a:pPr>
            <a:r>
              <a:t>Objective: Understand Current State, Build Relationships &amp; Audit Risks</a:t>
            </a:r>
          </a:p>
          <a:p>
            <a:pPr>
              <a:spcAft>
                <a:spcPts val="800"/>
              </a:spcAft>
              <a:defRPr sz="950">
                <a:solidFill>
                  <a:srgbClr val="1E293B"/>
                </a:solidFill>
              </a:defRPr>
            </a:pPr>
            <a:r>
              <a:t>✔ Audit all existing IT infrastructure, networks, cloud tenancies, and active construction site connections.</a:t>
            </a:r>
          </a:p>
          <a:p>
            <a:pPr>
              <a:spcAft>
                <a:spcPts val="800"/>
              </a:spcAft>
              <a:defRPr sz="950">
                <a:solidFill>
                  <a:srgbClr val="1E293B"/>
                </a:solidFill>
              </a:defRPr>
            </a:pPr>
            <a:r>
              <a:t>✔ Interview business unit heads, site project managers, and executive leadership to identify operational bottlenecks.</a:t>
            </a:r>
          </a:p>
          <a:p>
            <a:pPr>
              <a:spcAft>
                <a:spcPts val="800"/>
              </a:spcAft>
              <a:defRPr sz="950">
                <a:solidFill>
                  <a:srgbClr val="1E293B"/>
                </a:solidFill>
              </a:defRPr>
            </a:pPr>
            <a:r>
              <a:t>✔ Review existing cybersecurity controls, backup regimes, DR documentation, and compliance standings.</a:t>
            </a:r>
          </a:p>
          <a:p>
            <a:pPr>
              <a:spcAft>
                <a:spcPts val="800"/>
              </a:spcAft>
              <a:defRPr sz="950">
                <a:solidFill>
                  <a:srgbClr val="1E293B"/>
                </a:solidFill>
              </a:defRPr>
            </a:pPr>
            <a:r>
              <a:t>✔ Analyze IT budget utilization, vendor contracts, software licenses, and current SLA performance metrics.</a:t>
            </a:r>
          </a:p>
        </p:txBody>
      </p:sp>
      <p:sp>
        <p:nvSpPr>
          <p:cNvPr id="10" name="Rounded Rectangle 9"/>
          <p:cNvSpPr/>
          <p:nvPr/>
        </p:nvSpPr>
        <p:spPr>
          <a:xfrm>
            <a:off x="4389120" y="1463040"/>
            <a:ext cx="3401568"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98264" y="1472184"/>
            <a:ext cx="3383280" cy="438912"/>
          </a:xfrm>
          <a:prstGeom prst="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98848" y="1536192"/>
            <a:ext cx="3182112" cy="320040"/>
          </a:xfrm>
          <a:prstGeom prst="rect">
            <a:avLst/>
          </a:prstGeom>
          <a:noFill/>
        </p:spPr>
        <p:txBody>
          <a:bodyPr wrap="none">
            <a:spAutoFit/>
          </a:bodyPr>
          <a:lstStyle/>
          <a:p>
            <a:pPr>
              <a:defRPr sz="1100" b="1">
                <a:solidFill>
                  <a:srgbClr val="FFFFFF"/>
                </a:solidFill>
              </a:defRPr>
            </a:pPr>
            <a:r>
              <a:t>Days 31 – 60: Stabilization &amp; Quick Wins</a:t>
            </a:r>
          </a:p>
        </p:txBody>
      </p:sp>
      <p:sp>
        <p:nvSpPr>
          <p:cNvPr id="13" name="TextBox 12"/>
          <p:cNvSpPr txBox="1"/>
          <p:nvPr/>
        </p:nvSpPr>
        <p:spPr>
          <a:xfrm>
            <a:off x="4526280" y="2011680"/>
            <a:ext cx="3127248" cy="4023360"/>
          </a:xfrm>
          <a:prstGeom prst="rect">
            <a:avLst/>
          </a:prstGeom>
          <a:noFill/>
        </p:spPr>
        <p:txBody>
          <a:bodyPr wrap="square">
            <a:spAutoFit/>
          </a:bodyPr>
          <a:lstStyle/>
          <a:p>
            <a:pPr>
              <a:spcAft>
                <a:spcPts val="1000"/>
              </a:spcAft>
              <a:defRPr sz="950" b="1">
                <a:solidFill>
                  <a:srgbClr val="0F1E36"/>
                </a:solidFill>
              </a:defRPr>
            </a:pPr>
            <a:r>
              <a:t>Objective: Fortify Security, Address Gaps &amp; Streamline Operations</a:t>
            </a:r>
          </a:p>
          <a:p>
            <a:pPr>
              <a:spcAft>
                <a:spcPts val="800"/>
              </a:spcAft>
              <a:defRPr sz="950">
                <a:solidFill>
                  <a:srgbClr val="1E293B"/>
                </a:solidFill>
              </a:defRPr>
            </a:pPr>
            <a:r>
              <a:t>✔ Remediate critical vulnerabilities identified during audit; enforce uniform MFA and access policies.</a:t>
            </a:r>
          </a:p>
          <a:p>
            <a:pPr>
              <a:spcAft>
                <a:spcPts val="800"/>
              </a:spcAft>
              <a:defRPr sz="950">
                <a:solidFill>
                  <a:srgbClr val="1E293B"/>
                </a:solidFill>
              </a:defRPr>
            </a:pPr>
            <a:r>
              <a:t>✔ Optimize job-site connectivity baselines; resolve recurring network instability pain points at active sites.</a:t>
            </a:r>
          </a:p>
          <a:p>
            <a:pPr>
              <a:spcAft>
                <a:spcPts val="800"/>
              </a:spcAft>
              <a:defRPr sz="950">
                <a:solidFill>
                  <a:srgbClr val="1E293B"/>
                </a:solidFill>
              </a:defRPr>
            </a:pPr>
            <a:r>
              <a:t>✔ Consolidate vendor SLAs, eliminate redundant licenses, and introduce transparent IT support ticketing KPIs.</a:t>
            </a:r>
          </a:p>
          <a:p>
            <a:pPr>
              <a:spcAft>
                <a:spcPts val="800"/>
              </a:spcAft>
              <a:defRPr sz="950">
                <a:solidFill>
                  <a:srgbClr val="1E293B"/>
                </a:solidFill>
              </a:defRPr>
            </a:pPr>
            <a:r>
              <a:t>✔ Conduct a full table-top Disaster Recovery (DR) and backup verification exercise to guarantee system resilience.</a:t>
            </a:r>
          </a:p>
        </p:txBody>
      </p:sp>
      <p:sp>
        <p:nvSpPr>
          <p:cNvPr id="14" name="Rounded Rectangle 13"/>
          <p:cNvSpPr/>
          <p:nvPr/>
        </p:nvSpPr>
        <p:spPr>
          <a:xfrm>
            <a:off x="8046720" y="1463040"/>
            <a:ext cx="3401568"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55864" y="1472184"/>
            <a:ext cx="3383280" cy="438912"/>
          </a:xfrm>
          <a:prstGeom prst="rect">
            <a:avLst/>
          </a:prstGeom>
          <a:solidFill>
            <a:srgbClr val="1095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56448" y="1536192"/>
            <a:ext cx="3182112" cy="320040"/>
          </a:xfrm>
          <a:prstGeom prst="rect">
            <a:avLst/>
          </a:prstGeom>
          <a:noFill/>
        </p:spPr>
        <p:txBody>
          <a:bodyPr wrap="none">
            <a:spAutoFit/>
          </a:bodyPr>
          <a:lstStyle/>
          <a:p>
            <a:pPr>
              <a:defRPr sz="1100" b="1">
                <a:solidFill>
                  <a:srgbClr val="FFFFFF"/>
                </a:solidFill>
              </a:defRPr>
            </a:pPr>
            <a:r>
              <a:t>Days 61 – 90: Modernization &amp; Strategic Roadmap</a:t>
            </a:r>
          </a:p>
        </p:txBody>
      </p:sp>
      <p:sp>
        <p:nvSpPr>
          <p:cNvPr id="17" name="TextBox 16"/>
          <p:cNvSpPr txBox="1"/>
          <p:nvPr/>
        </p:nvSpPr>
        <p:spPr>
          <a:xfrm>
            <a:off x="8183880" y="2011680"/>
            <a:ext cx="3127248" cy="4023360"/>
          </a:xfrm>
          <a:prstGeom prst="rect">
            <a:avLst/>
          </a:prstGeom>
          <a:noFill/>
        </p:spPr>
        <p:txBody>
          <a:bodyPr wrap="square">
            <a:spAutoFit/>
          </a:bodyPr>
          <a:lstStyle/>
          <a:p>
            <a:pPr>
              <a:spcAft>
                <a:spcPts val="1000"/>
              </a:spcAft>
              <a:defRPr sz="950" b="1">
                <a:solidFill>
                  <a:srgbClr val="0F1E36"/>
                </a:solidFill>
              </a:defRPr>
            </a:pPr>
            <a:r>
              <a:t>Objective: Drive Scalability, Digital Transformation &amp; Long-Term Value</a:t>
            </a:r>
          </a:p>
          <a:p>
            <a:pPr>
              <a:spcAft>
                <a:spcPts val="800"/>
              </a:spcAft>
              <a:defRPr sz="950">
                <a:solidFill>
                  <a:srgbClr val="1E293B"/>
                </a:solidFill>
              </a:defRPr>
            </a:pPr>
            <a:r>
              <a:t>✔ Present a 2-3 Year IT Strategy &amp; Digital Roadmap aligned directly with Obayashi's corporate objectives.</a:t>
            </a:r>
          </a:p>
          <a:p>
            <a:pPr>
              <a:spcAft>
                <a:spcPts val="800"/>
              </a:spcAft>
              <a:defRPr sz="950">
                <a:solidFill>
                  <a:srgbClr val="1E293B"/>
                </a:solidFill>
              </a:defRPr>
            </a:pPr>
            <a:r>
              <a:t>✔ Pilot the 'Site IT-in-a-Box' rapid deployment kit for upcoming construction projects.</a:t>
            </a:r>
          </a:p>
          <a:p>
            <a:pPr>
              <a:spcAft>
                <a:spcPts val="800"/>
              </a:spcAft>
              <a:defRPr sz="950">
                <a:solidFill>
                  <a:srgbClr val="1E293B"/>
                </a:solidFill>
              </a:defRPr>
            </a:pPr>
            <a:r>
              <a:t>✔ Initiate automation initiatives (CI/CD, automated log telemetry, self-service IT service catalog).</a:t>
            </a:r>
          </a:p>
          <a:p>
            <a:pPr>
              <a:spcAft>
                <a:spcPts val="800"/>
              </a:spcAft>
              <a:defRPr sz="950">
                <a:solidFill>
                  <a:srgbClr val="1E293B"/>
                </a:solidFill>
              </a:defRPr>
            </a:pPr>
            <a:r>
              <a:t>✔ Foster continuous team upskilling, mentorship, and technical excellence within the internal IT workforce.</a:t>
            </a:r>
          </a:p>
        </p:txBody>
      </p:sp>
      <p:sp>
        <p:nvSpPr>
          <p:cNvPr id="18" name="TextBox 17"/>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Obayashi Corporation · Senior Manager – IT Candidate Portfolio | Maheshchandra Hegde · Page 10 of 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294790" y="1051560"/>
            <a:ext cx="9601200" cy="4754880"/>
          </a:xfrm>
          <a:prstGeom prst="roundRect">
            <a:avLst/>
          </a:prstGeom>
          <a:solidFill>
            <a:srgbClr val="182B49"/>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43430" y="1508760"/>
            <a:ext cx="8503920" cy="3840480"/>
          </a:xfrm>
          <a:prstGeom prst="rect">
            <a:avLst/>
          </a:prstGeom>
          <a:noFill/>
        </p:spPr>
        <p:txBody>
          <a:bodyPr wrap="square">
            <a:spAutoFit/>
          </a:bodyPr>
          <a:lstStyle/>
          <a:p>
            <a:pPr>
              <a:spcAft>
                <a:spcPts val="800"/>
              </a:spcAft>
              <a:defRPr sz="1200" b="1">
                <a:solidFill>
                  <a:srgbClr val="CC2229"/>
                </a:solidFill>
              </a:defRPr>
            </a:pPr>
            <a:r>
              <a:t>OBAYASHI CORPORATION · IT LEADERSHIP COMMITMENT</a:t>
            </a:r>
          </a:p>
          <a:p>
            <a:pPr>
              <a:spcAft>
                <a:spcPts val="1400"/>
              </a:spcAft>
              <a:defRPr sz="2400" b="1">
                <a:solidFill>
                  <a:srgbClr val="FFFFFF"/>
                </a:solidFill>
              </a:defRPr>
            </a:pPr>
            <a:r>
              <a:t>Delivering Reliable, Secure &amp; Future-Ready Technology Services</a:t>
            </a:r>
          </a:p>
          <a:p>
            <a:pPr>
              <a:spcAft>
                <a:spcPts val="800"/>
              </a:spcAft>
              <a:defRPr sz="1100">
                <a:solidFill>
                  <a:srgbClr val="E2E8F0"/>
                </a:solidFill>
              </a:defRPr>
            </a:pPr>
            <a:r>
              <a:t>• Strategic Value Creation: Aligning IT roadmaps directly with Obayashi's engineering excellence and corporate vision.</a:t>
            </a:r>
          </a:p>
          <a:p>
            <a:pPr>
              <a:spcAft>
                <a:spcPts val="800"/>
              </a:spcAft>
              <a:defRPr sz="1100">
                <a:solidFill>
                  <a:srgbClr val="E2E8F0"/>
                </a:solidFill>
              </a:defRPr>
            </a:pPr>
            <a:r>
              <a:t>• Operational Dependability: Ensuring 24/7 resilience, zero data loss, and rapid incident resolution across all offices and project job-sites.</a:t>
            </a:r>
          </a:p>
          <a:p>
            <a:pPr>
              <a:spcAft>
                <a:spcPts val="800"/>
              </a:spcAft>
              <a:defRPr sz="1100">
                <a:solidFill>
                  <a:srgbClr val="E2E8F0"/>
                </a:solidFill>
              </a:defRPr>
            </a:pPr>
            <a:r>
              <a:t>• Robust Cybersecurity &amp; Risk Mitigation: Protecting critical blueprints, intellectual property, and supply chain integrity with Zero Trust governance.</a:t>
            </a:r>
          </a:p>
          <a:p>
            <a:pPr>
              <a:spcAft>
                <a:spcPts val="800"/>
              </a:spcAft>
              <a:defRPr sz="1100">
                <a:solidFill>
                  <a:srgbClr val="E2E8F0"/>
                </a:solidFill>
              </a:defRPr>
            </a:pPr>
            <a:r>
              <a:t>• Collaborative Culture &amp; Team Growth: Mentoring high-performing IT talent while upholding Japanese corporate standards of precision, quality, and mutual respect.</a:t>
            </a:r>
          </a:p>
          <a:p>
            <a:br/>
            <a:pPr>
              <a:defRPr sz="1100" b="1">
                <a:solidFill>
                  <a:srgbClr val="38BDF8"/>
                </a:solidFill>
              </a:defRPr>
            </a:pPr>
            <a:r>
              <a:t>Thank you for the opportunity. I look forward to our Final Interview discussion.</a:t>
            </a:r>
            <a:br/>
            <a:r>
              <a:t>Maheshchandra Hegde  |  hid.mahesh@gmail.com  |  +91 9535253329 / +91 7022407280</a:t>
            </a:r>
          </a:p>
        </p:txBody>
      </p:sp>
      <p:sp>
        <p:nvSpPr>
          <p:cNvPr id="5" name="TextBox 4"/>
          <p:cNvSpPr txBox="1"/>
          <p:nvPr/>
        </p:nvSpPr>
        <p:spPr>
          <a:xfrm>
            <a:off x="731520" y="6446520"/>
            <a:ext cx="10728655" cy="320040"/>
          </a:xfrm>
          <a:prstGeom prst="rect">
            <a:avLst/>
          </a:prstGeom>
          <a:noFill/>
        </p:spPr>
        <p:txBody>
          <a:bodyPr wrap="none" lIns="0" rIns="0" tIns="0" bIns="0">
            <a:spAutoFit/>
          </a:bodyPr>
          <a:lstStyle/>
          <a:p>
            <a:pPr>
              <a:defRPr sz="900">
                <a:solidFill>
                  <a:srgbClr val="94A3B8"/>
                </a:solidFill>
              </a:defRPr>
            </a:pPr>
            <a:r>
              <a:t>Obayashi Corporation · Senior Manager – IT Candidate Portfolio | Maheshchandra Hegde · Page 11 of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