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188720"/>
            <a:ext cx="228600" cy="438912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188720"/>
            <a:ext cx="10241280" cy="3108960"/>
          </a:xfrm>
          <a:prstGeom prst="rect">
            <a:avLst/>
          </a:prstGeom>
          <a:noFill/>
        </p:spPr>
        <p:txBody>
          <a:bodyPr wrap="square">
            <a:spAutoFit/>
          </a:bodyPr>
          <a:lstStyle/>
          <a:p>
            <a:pPr>
              <a:spcAft>
                <a:spcPts val="1000"/>
              </a:spcAft>
              <a:defRPr sz="1200" b="1">
                <a:solidFill>
                  <a:srgbClr val="38BDF8"/>
                </a:solidFill>
              </a:defRPr>
            </a:pPr>
            <a:r>
              <a:t>TECHNICAL LEADERSHIP &amp; WORK EXPERIENCE PRESENTATION</a:t>
            </a:r>
          </a:p>
          <a:p>
            <a:pPr>
              <a:spcAft>
                <a:spcPts val="400"/>
              </a:spcAft>
              <a:defRPr sz="3000" b="1">
                <a:solidFill>
                  <a:srgbClr val="FFFFFF"/>
                </a:solidFill>
              </a:defRPr>
            </a:pPr>
            <a:r>
              <a:t>Maheshchandra Hegde</a:t>
            </a:r>
          </a:p>
          <a:p>
            <a:pPr>
              <a:spcAft>
                <a:spcPts val="1000"/>
              </a:spcAft>
              <a:defRPr sz="1350" b="1">
                <a:solidFill>
                  <a:srgbClr val="38BDF8"/>
                </a:solidFill>
              </a:defRPr>
            </a:pPr>
            <a:r>
              <a:t>Founder &amp; CTO | Building AI‑Driven 3D Asset Platforms &amp; Spatial Computing Solutions @srushtilabs.com</a:t>
            </a:r>
          </a:p>
          <a:p>
            <a:pPr>
              <a:defRPr sz="1100">
                <a:solidFill>
                  <a:srgbClr val="94A3B8"/>
                </a:solidFill>
              </a:defRPr>
            </a:pPr>
            <a:r>
              <a:t>16+ years delivering scalable enterprise frontend systems, high-reliability clinical platforms, offline-first architectures, and generative 3D spatial tools.</a:t>
            </a:r>
            <a:br/>
            <a:r>
              <a:t>Bangalore, India | hid.mahesh@gmail.com | +91 9535253329 / 7022407280 | hegdemahesh.in | linkedin.com/in/maheshchandrahegde</a:t>
            </a:r>
          </a:p>
        </p:txBody>
      </p:sp>
      <p:sp>
        <p:nvSpPr>
          <p:cNvPr id="5" name="Rounded Rectangle 4"/>
          <p:cNvSpPr/>
          <p:nvPr/>
        </p:nvSpPr>
        <p:spPr>
          <a:xfrm>
            <a:off x="1234440"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681728"/>
            <a:ext cx="2240280" cy="1014984"/>
          </a:xfrm>
          <a:prstGeom prst="rect">
            <a:avLst/>
          </a:prstGeom>
          <a:noFill/>
        </p:spPr>
        <p:txBody>
          <a:bodyPr wrap="square">
            <a:spAutoFit/>
          </a:bodyPr>
          <a:lstStyle/>
          <a:p>
            <a:pPr>
              <a:spcAft>
                <a:spcPts val="400"/>
              </a:spcAft>
              <a:defRPr sz="1150" b="1">
                <a:solidFill>
                  <a:srgbClr val="FFFFFF"/>
                </a:solidFill>
              </a:defRPr>
            </a:pPr>
            <a:r>
              <a:t>Scalable Enterprise Systems</a:t>
            </a:r>
          </a:p>
          <a:p>
            <a:pPr>
              <a:defRPr sz="900">
                <a:solidFill>
                  <a:srgbClr val="94A3B8"/>
                </a:solidFill>
              </a:defRPr>
            </a:pPr>
            <a:r>
              <a:t>Philips Healthcare (Cyient), Cisco Systems, enterprise web apps, micro-frontends</a:t>
            </a:r>
          </a:p>
        </p:txBody>
      </p:sp>
      <p:sp>
        <p:nvSpPr>
          <p:cNvPr id="7" name="Rounded Rectangle 6"/>
          <p:cNvSpPr/>
          <p:nvPr/>
        </p:nvSpPr>
        <p:spPr>
          <a:xfrm>
            <a:off x="3968496"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05656" y="4681728"/>
            <a:ext cx="2240280" cy="1014984"/>
          </a:xfrm>
          <a:prstGeom prst="rect">
            <a:avLst/>
          </a:prstGeom>
          <a:noFill/>
        </p:spPr>
        <p:txBody>
          <a:bodyPr wrap="square">
            <a:spAutoFit/>
          </a:bodyPr>
          <a:lstStyle/>
          <a:p>
            <a:pPr>
              <a:spcAft>
                <a:spcPts val="400"/>
              </a:spcAft>
              <a:defRPr sz="1150" b="1">
                <a:solidFill>
                  <a:srgbClr val="FFFFFF"/>
                </a:solidFill>
              </a:defRPr>
            </a:pPr>
            <a:r>
              <a:t>Startup Founder &amp; Tech Director</a:t>
            </a:r>
          </a:p>
          <a:p>
            <a:pPr>
              <a:defRPr sz="900">
                <a:solidFill>
                  <a:srgbClr val="94A3B8"/>
                </a:solidFill>
              </a:defRPr>
            </a:pPr>
            <a:r>
              <a:t>Technoyana (technoyana.in), Twitan.com (high-reliability sports OS), InnoBrik</a:t>
            </a:r>
          </a:p>
        </p:txBody>
      </p:sp>
      <p:sp>
        <p:nvSpPr>
          <p:cNvPr id="9" name="Rounded Rectangle 8"/>
          <p:cNvSpPr/>
          <p:nvPr/>
        </p:nvSpPr>
        <p:spPr>
          <a:xfrm>
            <a:off x="6702552"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9712" y="4681728"/>
            <a:ext cx="2240280" cy="1014984"/>
          </a:xfrm>
          <a:prstGeom prst="rect">
            <a:avLst/>
          </a:prstGeom>
          <a:noFill/>
        </p:spPr>
        <p:txBody>
          <a:bodyPr wrap="square">
            <a:spAutoFit/>
          </a:bodyPr>
          <a:lstStyle/>
          <a:p>
            <a:pPr>
              <a:spcAft>
                <a:spcPts val="400"/>
              </a:spcAft>
              <a:defRPr sz="1150" b="1">
                <a:solidFill>
                  <a:srgbClr val="FFFFFF"/>
                </a:solidFill>
              </a:defRPr>
            </a:pPr>
            <a:r>
              <a:t>3D Spatial &amp; Generative AI</a:t>
            </a:r>
          </a:p>
          <a:p>
            <a:pPr>
              <a:defRPr sz="900">
                <a:solidFill>
                  <a:srgbClr val="94A3B8"/>
                </a:solidFill>
              </a:defRPr>
            </a:pPr>
            <a:r>
              <a:t>Voxelforge AI (srushtilabs.com/voxelforge), ayam3d, CAE flight simulation</a:t>
            </a:r>
          </a:p>
        </p:txBody>
      </p:sp>
      <p:sp>
        <p:nvSpPr>
          <p:cNvPr id="11" name="Rounded Rectangle 10"/>
          <p:cNvSpPr/>
          <p:nvPr/>
        </p:nvSpPr>
        <p:spPr>
          <a:xfrm>
            <a:off x="9436608" y="4572000"/>
            <a:ext cx="2514600" cy="123444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73768" y="4681728"/>
            <a:ext cx="2240280" cy="1014984"/>
          </a:xfrm>
          <a:prstGeom prst="rect">
            <a:avLst/>
          </a:prstGeom>
          <a:noFill/>
        </p:spPr>
        <p:txBody>
          <a:bodyPr wrap="square">
            <a:spAutoFit/>
          </a:bodyPr>
          <a:lstStyle/>
          <a:p>
            <a:pPr>
              <a:spcAft>
                <a:spcPts val="400"/>
              </a:spcAft>
              <a:defRPr sz="1150" b="1">
                <a:solidFill>
                  <a:srgbClr val="FFFFFF"/>
                </a:solidFill>
              </a:defRPr>
            </a:pPr>
            <a:r>
              <a:t>Architectural Heritage</a:t>
            </a:r>
          </a:p>
          <a:p>
            <a:pPr>
              <a:defRPr sz="900">
                <a:solidFill>
                  <a:srgbClr val="94A3B8"/>
                </a:solidFill>
              </a:defRPr>
            </a:pPr>
            <a:r>
              <a:t>Rooted in CAD &amp; 3D visualization assisting architect father; 50+ 3D projects delivered</a:t>
            </a:r>
          </a:p>
        </p:txBody>
      </p:sp>
      <p:sp>
        <p:nvSpPr>
          <p:cNvPr id="13" name="TextBox 12"/>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Maheshchandra Hegde · Technical Work Experience &amp; Capability Presentation | Slide 1 of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EXECUTIVE PROFILE</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Professional Background, Architectural Heritage &amp; Technical Philosophy</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102352"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4846320" cy="320040"/>
          </a:xfrm>
          <a:prstGeom prst="rect">
            <a:avLst/>
          </a:prstGeom>
          <a:noFill/>
        </p:spPr>
        <p:txBody>
          <a:bodyPr wrap="none">
            <a:spAutoFit/>
          </a:bodyPr>
          <a:lstStyle/>
          <a:p>
            <a:pPr>
              <a:defRPr sz="1100" b="1">
                <a:solidFill>
                  <a:srgbClr val="FFFFFF"/>
                </a:solidFill>
              </a:defRPr>
            </a:pPr>
            <a:r>
              <a:t>ARCHITECTURAL LINEAGE &amp; PASSION FOR 3D</a:t>
            </a:r>
          </a:p>
        </p:txBody>
      </p:sp>
      <p:sp>
        <p:nvSpPr>
          <p:cNvPr id="9" name="TextBox 8"/>
          <p:cNvSpPr txBox="1"/>
          <p:nvPr/>
        </p:nvSpPr>
        <p:spPr>
          <a:xfrm>
            <a:off x="914400" y="1965960"/>
            <a:ext cx="4754880" cy="4114800"/>
          </a:xfrm>
          <a:prstGeom prst="rect">
            <a:avLst/>
          </a:prstGeom>
          <a:noFill/>
        </p:spPr>
        <p:txBody>
          <a:bodyPr wrap="square">
            <a:spAutoFit/>
          </a:bodyPr>
          <a:lstStyle/>
          <a:p>
            <a:pPr>
              <a:spcAft>
                <a:spcPts val="600"/>
              </a:spcAft>
              <a:defRPr sz="1300" b="1">
                <a:solidFill>
                  <a:srgbClr val="0F172A"/>
                </a:solidFill>
              </a:defRPr>
            </a:pPr>
            <a:r>
              <a:t>Natural Convergence of Architecture and Computing</a:t>
            </a:r>
          </a:p>
          <a:p>
            <a:pPr>
              <a:defRPr sz="950">
                <a:solidFill>
                  <a:srgbClr val="1E293B"/>
                </a:solidFill>
              </a:defRPr>
            </a:pPr>
            <a:r>
              <a:t>• Early Foundation with Architect Father: Growing up assisting my architect father in his studio provided my earliest foundation in drafting, spatial coordination, blueprints, CAD, and architectural drawings. This practical exposure sparked an enduring passion for 3D modeling, spatial thinking, and visualization.</a:t>
            </a:r>
            <a:br/>
            <a:br/>
            <a:r>
              <a:t>• Blending Engineering with Human Interface: Pursued formal education with a Bachelor of Engineering in Electronics &amp; Communication and a Master of Science in Computing (Robert Gordon University, UK), specializing in Human Interface Design &amp; Development.</a:t>
            </a:r>
            <a:br/>
            <a:br/>
            <a:r>
              <a:t>• 16+ Years Hands-on Leadership: Combined rigorous software architecture with creative spatial technologies—spanning flight simulation visual databases (CAE), enterprise dashboards (Cisco), healthcare platforms (Philips), startup products (Technoyana, Twitan), and generative 3D AI (Voxelforge AI, ayam3d).</a:t>
            </a:r>
          </a:p>
        </p:txBody>
      </p:sp>
      <p:sp>
        <p:nvSpPr>
          <p:cNvPr id="10" name="Rounded Rectangle 9"/>
          <p:cNvSpPr/>
          <p:nvPr/>
        </p:nvSpPr>
        <p:spPr>
          <a:xfrm>
            <a:off x="6108192" y="1463040"/>
            <a:ext cx="53492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17336" y="1472184"/>
            <a:ext cx="5330952" cy="38404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1536192"/>
            <a:ext cx="5074920" cy="320040"/>
          </a:xfrm>
          <a:prstGeom prst="rect">
            <a:avLst/>
          </a:prstGeom>
          <a:noFill/>
        </p:spPr>
        <p:txBody>
          <a:bodyPr wrap="none">
            <a:spAutoFit/>
          </a:bodyPr>
          <a:lstStyle/>
          <a:p>
            <a:pPr>
              <a:defRPr sz="1100" b="1">
                <a:solidFill>
                  <a:srgbClr val="FFFFFF"/>
                </a:solidFill>
              </a:defRPr>
            </a:pPr>
            <a:r>
              <a:t>CAREER SNAPSHOT &amp; CORE COMPETENCIES</a:t>
            </a:r>
          </a:p>
        </p:txBody>
      </p:sp>
      <p:sp>
        <p:nvSpPr>
          <p:cNvPr id="13" name="TextBox 12"/>
          <p:cNvSpPr txBox="1"/>
          <p:nvPr/>
        </p:nvSpPr>
        <p:spPr>
          <a:xfrm>
            <a:off x="6291072" y="1965960"/>
            <a:ext cx="4983480" cy="4114800"/>
          </a:xfrm>
          <a:prstGeom prst="rect">
            <a:avLst/>
          </a:prstGeom>
          <a:noFill/>
        </p:spPr>
        <p:txBody>
          <a:bodyPr wrap="square">
            <a:spAutoFit/>
          </a:bodyPr>
          <a:lstStyle/>
          <a:p>
            <a:pPr>
              <a:defRPr b="1" sz="1000">
                <a:solidFill>
                  <a:srgbClr val="0F172A"/>
                </a:solidFill>
              </a:defRPr>
            </a:pPr>
            <a:r>
              <a:t>• Frontend &amp; Scalable Architecture: </a:t>
            </a:r>
          </a:p>
          <a:p>
            <a:pPr>
              <a:spcAft>
                <a:spcPts val="400"/>
              </a:spcAft>
              <a:defRPr sz="900">
                <a:solidFill>
                  <a:srgbClr val="64748B"/>
                </a:solidFill>
              </a:defRPr>
            </a:pPr>
            <a:r>
              <a:t>  React, Angular, TypeScript, Node.js, Web Components, Micro-frontends, LitElement, Design Systems.</a:t>
            </a:r>
          </a:p>
          <a:p>
            <a:pPr>
              <a:defRPr b="1" sz="1000">
                <a:solidFill>
                  <a:srgbClr val="0F172A"/>
                </a:solidFill>
              </a:defRPr>
            </a:pPr>
            <a:r>
              <a:t>• Cloud, Edge &amp; Reliability: </a:t>
            </a:r>
          </a:p>
          <a:p>
            <a:pPr>
              <a:spcAft>
                <a:spcPts val="400"/>
              </a:spcAft>
              <a:defRPr sz="900">
                <a:solidFill>
                  <a:srgbClr val="64748B"/>
                </a:solidFill>
              </a:defRPr>
            </a:pPr>
            <a:r>
              <a:t>  GCP, Firebase, AWS, offline-first architectures, IndexedDB/Service Workers, WebSockets, real-time data sync.</a:t>
            </a:r>
          </a:p>
          <a:p>
            <a:pPr>
              <a:defRPr b="1" sz="1000">
                <a:solidFill>
                  <a:srgbClr val="0F172A"/>
                </a:solidFill>
              </a:defRPr>
            </a:pPr>
            <a:r>
              <a:t>• Spatial 3D &amp; Generative AI: </a:t>
            </a:r>
          </a:p>
          <a:p>
            <a:pPr>
              <a:spcAft>
                <a:spcPts val="400"/>
              </a:spcAft>
              <a:defRPr sz="900">
                <a:solidFill>
                  <a:srgbClr val="64748B"/>
                </a:solidFill>
              </a:defRPr>
            </a:pPr>
            <a:r>
              <a:t>  AI-assisted 3D generation (Voxelforge AI), automated mesh retopology (ayam3d), WebGL, Three.js, CAD drafting, 3D walkthroughs.</a:t>
            </a:r>
          </a:p>
          <a:p>
            <a:pPr>
              <a:defRPr b="1" sz="1000">
                <a:solidFill>
                  <a:srgbClr val="0F172A"/>
                </a:solidFill>
              </a:defRPr>
            </a:pPr>
            <a:r>
              <a:t>• Product &amp; Startup Leadership: </a:t>
            </a:r>
          </a:p>
          <a:p>
            <a:pPr>
              <a:spcAft>
                <a:spcPts val="400"/>
              </a:spcAft>
              <a:defRPr sz="900">
                <a:solidFill>
                  <a:srgbClr val="64748B"/>
                </a:solidFill>
              </a:defRPr>
            </a:pPr>
            <a:r>
              <a:t>  Founder/Co-Founder across Technoyana, Twitan.com, SrushtiLabs, InnoBrik; product strategy, sprint governance, mentoring.</a:t>
            </a:r>
          </a:p>
          <a:p>
            <a:pPr>
              <a:defRPr b="1" sz="1000">
                <a:solidFill>
                  <a:srgbClr val="0F172A"/>
                </a:solidFill>
              </a:defRPr>
            </a:pPr>
            <a:r>
              <a:t>• Key Industry Tenures: </a:t>
            </a:r>
          </a:p>
          <a:p>
            <a:pPr>
              <a:spcAft>
                <a:spcPts val="400"/>
              </a:spcAft>
              <a:defRPr sz="900">
                <a:solidFill>
                  <a:srgbClr val="64748B"/>
                </a:solidFill>
              </a:defRPr>
            </a:pPr>
            <a:r>
              <a:t>  Cyient (Philips Healthcare), UST Global (Cisco Systems), Ness Technologies, Moonraft Innovation Labs, ThoughtFocus, CAE Simulation.</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2 of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ENTERPRISE PROJECT EXPERIENCE 1</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Healthcare Mission-Critical Systems: Philips ICCA (Cyient Limited)</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72A"/>
                </a:solidFill>
              </a:defRPr>
            </a:pPr>
            <a:r>
              <a:t>Philips ICCA</a:t>
            </a:r>
          </a:p>
          <a:p>
            <a:pPr>
              <a:spcAft>
                <a:spcPts val="1000"/>
              </a:spcAft>
              <a:defRPr sz="1100" b="1">
                <a:solidFill>
                  <a:srgbClr val="0E7490"/>
                </a:solidFill>
              </a:defRPr>
            </a:pPr>
            <a:r>
              <a:t>Intellispace Critical Care &amp; Anesthesia</a:t>
            </a:r>
          </a:p>
          <a:p>
            <a:pPr>
              <a:defRPr b="1" sz="1000">
                <a:solidFill>
                  <a:srgbClr val="0F172A"/>
                </a:solidFill>
              </a:defRPr>
            </a:pPr>
            <a:r>
              <a:t>Role: </a:t>
            </a:r>
          </a:p>
          <a:p>
            <a:pPr>
              <a:spcAft>
                <a:spcPts val="500"/>
              </a:spcAft>
              <a:defRPr sz="900">
                <a:solidFill>
                  <a:srgbClr val="64748B"/>
                </a:solidFill>
              </a:defRPr>
            </a:pPr>
            <a:r>
              <a:t>Senior Technical Lead (React / NodeJS)</a:t>
            </a:r>
          </a:p>
          <a:p>
            <a:pPr>
              <a:defRPr b="1" sz="1000">
                <a:solidFill>
                  <a:srgbClr val="0F172A"/>
                </a:solidFill>
              </a:defRPr>
            </a:pPr>
            <a:r>
              <a:t>Tenure: </a:t>
            </a:r>
          </a:p>
          <a:p>
            <a:pPr>
              <a:spcAft>
                <a:spcPts val="500"/>
              </a:spcAft>
              <a:defRPr sz="900">
                <a:solidFill>
                  <a:srgbClr val="64748B"/>
                </a:solidFill>
              </a:defRPr>
            </a:pPr>
            <a:r>
              <a:t>Nov 2023 – Mar 2025</a:t>
            </a:r>
          </a:p>
          <a:p>
            <a:pPr>
              <a:defRPr b="1" sz="1000">
                <a:solidFill>
                  <a:srgbClr val="0F172A"/>
                </a:solidFill>
              </a:defRPr>
            </a:pPr>
            <a:r>
              <a:t>Company: </a:t>
            </a:r>
          </a:p>
          <a:p>
            <a:pPr>
              <a:spcAft>
                <a:spcPts val="500"/>
              </a:spcAft>
              <a:defRPr sz="900">
                <a:solidFill>
                  <a:srgbClr val="64748B"/>
                </a:solidFill>
              </a:defRPr>
            </a:pPr>
            <a:r>
              <a:t>Cyient Limited for Philips Healthcare, Bangalore</a:t>
            </a:r>
          </a:p>
          <a:p>
            <a:pPr>
              <a:defRPr b="1" sz="1000">
                <a:solidFill>
                  <a:srgbClr val="0F172A"/>
                </a:solidFill>
              </a:defRPr>
            </a:pPr>
            <a:r>
              <a:t>Operational Reality: </a:t>
            </a:r>
          </a:p>
          <a:p>
            <a:pPr>
              <a:spcAft>
                <a:spcPts val="500"/>
              </a:spcAft>
              <a:defRPr sz="900">
                <a:solidFill>
                  <a:srgbClr val="64748B"/>
                </a:solidFill>
              </a:defRPr>
            </a:pPr>
            <a:r>
              <a:t>24/7 continuous ICU hospital environments; zero tolerance for UI freeze or missing patient vitals</a:t>
            </a:r>
          </a:p>
          <a:p>
            <a:pPr>
              <a:defRPr b="1" sz="1000">
                <a:solidFill>
                  <a:srgbClr val="0F172A"/>
                </a:solidFill>
              </a:defRPr>
            </a:pPr>
            <a:r>
              <a:t>Key Focus: </a:t>
            </a:r>
          </a:p>
          <a:p>
            <a:pPr>
              <a:spcAft>
                <a:spcPts val="500"/>
              </a:spcAft>
              <a:defRPr sz="900">
                <a:solidFill>
                  <a:srgbClr val="64748B"/>
                </a:solidFill>
              </a:defRPr>
            </a:pPr>
            <a:r>
              <a:t>Scalable frontend architecture, high performance, strict healthcare standards compliance</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00" b="1">
                <a:solidFill>
                  <a:srgbClr val="0284C7"/>
                </a:solidFill>
              </a:defRPr>
            </a:pPr>
            <a:r>
              <a:t>1. High-Performance Clinical Telemetry &amp; Zero Latency</a:t>
            </a:r>
          </a:p>
          <a:p>
            <a:pPr>
              <a:defRPr sz="950">
                <a:solidFill>
                  <a:srgbClr val="1E293B"/>
                </a:solidFill>
              </a:defRPr>
            </a:pPr>
            <a:r>
              <a:t>Architected React-based frontend modules responsible for rendering complex clinical time-series charts, vitals, and medication administration workflows. Enforced strict memory management and component memoization to prevent garbage collection pauses during long-running bedside sessions.</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00" b="1">
                <a:solidFill>
                  <a:srgbClr val="0284C7"/>
                </a:solidFill>
              </a:defRPr>
            </a:pPr>
            <a:r>
              <a:t>2. Decoupled Modular Architecture &amp; Maintainability</a:t>
            </a:r>
          </a:p>
          <a:p>
            <a:pPr>
              <a:defRPr sz="950">
                <a:solidFill>
                  <a:srgbClr val="1E293B"/>
                </a:solidFill>
              </a:defRPr>
            </a:pPr>
            <a:r>
              <a:t>Deconstructed complex clinical workflows into reusable, modular component libraries. Created robust contract boundaries with backend REST and streaming APIs, accelerating multi-developer collaboration while eliminating regression risks across unrelated clinical modules.</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00" b="1">
                <a:solidFill>
                  <a:srgbClr val="0284C7"/>
                </a:solidFill>
              </a:defRPr>
            </a:pPr>
            <a:r>
              <a:t>3. Healthcare Regulatory &amp; Security Standards Compliance</a:t>
            </a:r>
          </a:p>
          <a:p>
            <a:pPr>
              <a:defRPr sz="950">
                <a:solidFill>
                  <a:srgbClr val="1E293B"/>
                </a:solidFill>
              </a:defRPr>
            </a:pPr>
            <a:r>
              <a:t>Ensured all developed UI modules strictly complied with medical software safety benchmarks, HIPAA data protection guidelines, role-based clinician access controls, and robust audit trails for all patient data modifications.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3 of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STARTUP VENTURES &amp; CLOUD SYSTEMS</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Product Engineering &amp; Edge Resilience: Technoyana &amp; Twitan.com</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72A"/>
                </a:solidFill>
              </a:defRPr>
            </a:pPr>
            <a:r>
              <a:t>Technoyana &amp; Twitan</a:t>
            </a:r>
          </a:p>
          <a:p>
            <a:pPr>
              <a:spcAft>
                <a:spcPts val="1000"/>
              </a:spcAft>
              <a:defRPr sz="1100" b="1">
                <a:solidFill>
                  <a:srgbClr val="0284C7"/>
                </a:solidFill>
              </a:defRPr>
            </a:pPr>
            <a:r>
              <a:t>technoyana.in | twitan.com</a:t>
            </a:r>
          </a:p>
          <a:p>
            <a:pPr>
              <a:defRPr b="1" sz="1000">
                <a:solidFill>
                  <a:srgbClr val="0F172A"/>
                </a:solidFill>
              </a:defRPr>
            </a:pPr>
            <a:r>
              <a:t>Technoyana (2021 – 2023): </a:t>
            </a:r>
          </a:p>
          <a:p>
            <a:pPr>
              <a:spcAft>
                <a:spcPts val="500"/>
              </a:spcAft>
              <a:defRPr sz="900">
                <a:solidFill>
                  <a:srgbClr val="64748B"/>
                </a:solidFill>
              </a:defRPr>
            </a:pPr>
            <a:r>
              <a:t>Co-Founder &amp; Director; delivered fintech apps, product discovery engines, web &amp; cross-platform mobile apps (React Native / Ionic).</a:t>
            </a:r>
          </a:p>
          <a:p>
            <a:pPr>
              <a:defRPr b="1" sz="1000">
                <a:solidFill>
                  <a:srgbClr val="0F172A"/>
                </a:solidFill>
              </a:defRPr>
            </a:pPr>
            <a:r>
              <a:t>Twitan.com (Apr 2025 – Present): </a:t>
            </a:r>
          </a:p>
          <a:p>
            <a:pPr>
              <a:spcAft>
                <a:spcPts val="500"/>
              </a:spcAft>
              <a:defRPr sz="900">
                <a:solidFill>
                  <a:srgbClr val="64748B"/>
                </a:solidFill>
              </a:defRPr>
            </a:pPr>
            <a:r>
              <a:t>Founder &amp; Product Design Lead; AI-driven sports management, bracket engines &amp; live scoring (Shutlify badminton OS).</a:t>
            </a:r>
          </a:p>
          <a:p>
            <a:pPr>
              <a:defRPr b="1" sz="1000">
                <a:solidFill>
                  <a:srgbClr val="0F172A"/>
                </a:solidFill>
              </a:defRPr>
            </a:pPr>
            <a:r>
              <a:t>Operational Reality: </a:t>
            </a:r>
          </a:p>
          <a:p>
            <a:pPr>
              <a:spcAft>
                <a:spcPts val="500"/>
              </a:spcAft>
              <a:defRPr sz="900">
                <a:solidFill>
                  <a:srgbClr val="64748B"/>
                </a:solidFill>
              </a:defRPr>
            </a:pPr>
            <a:r>
              <a:t>Tournament venues with dead-zones, unstable cellular Wi-Fi, and real-time live match arbitration.</a:t>
            </a:r>
          </a:p>
          <a:p>
            <a:pPr>
              <a:defRPr b="1" sz="1000">
                <a:solidFill>
                  <a:srgbClr val="0F172A"/>
                </a:solidFill>
              </a:defRPr>
            </a:pPr>
            <a:r>
              <a:t>Tech Stack: </a:t>
            </a:r>
          </a:p>
          <a:p>
            <a:pPr>
              <a:spcAft>
                <a:spcPts val="500"/>
              </a:spcAft>
              <a:defRPr sz="900">
                <a:solidFill>
                  <a:srgbClr val="64748B"/>
                </a:solidFill>
              </a:defRPr>
            </a:pPr>
            <a:r>
              <a:t>React, Angular, Node.js, Firebase/GCP, PWA, IndexedDB, WebSockets.</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00" b="1">
                <a:solidFill>
                  <a:srgbClr val="0284C7"/>
                </a:solidFill>
              </a:defRPr>
            </a:pPr>
            <a:r>
              <a:t>1. Offline-First Resilience for Unstable Physical Venues</a:t>
            </a:r>
          </a:p>
          <a:p>
            <a:pPr>
              <a:defRPr sz="950">
                <a:solidFill>
                  <a:srgbClr val="1E293B"/>
                </a:solidFill>
              </a:defRPr>
            </a:pPr>
            <a:r>
              <a:t>Architected an offline-first state machine using IndexedDB local storage and Service Workers for courtside officials. When Wi-Fi or cellular connections fluctuate, the app operates without interruption; all scores and events queue locally and sync with conflict-resolution algorithms upon reconnection.</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00" b="1">
                <a:solidFill>
                  <a:srgbClr val="0284C7"/>
                </a:solidFill>
              </a:defRPr>
            </a:pPr>
            <a:r>
              <a:t>2. Cloud Architecture, Firebase &amp; Rapid Delivery Workflows</a:t>
            </a:r>
          </a:p>
          <a:p>
            <a:pPr>
              <a:defRPr sz="950">
                <a:solidFill>
                  <a:srgbClr val="1E293B"/>
                </a:solidFill>
              </a:defRPr>
            </a:pPr>
            <a:r>
              <a:t>Set up scalable backend cloud services using GCP, Firebase, and Node.js microservices. Evaluated and optimized tech stacks for clients, drastically reducing delivery timelines for complex fintech and consumer applications while keeping cloud operating expenses lean.</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00" b="1">
                <a:solidFill>
                  <a:srgbClr val="0284C7"/>
                </a:solidFill>
              </a:defRPr>
            </a:pPr>
            <a:r>
              <a:t>3. Modular Athlete &amp; Tournament Dashboards</a:t>
            </a:r>
          </a:p>
          <a:p>
            <a:pPr>
              <a:defRPr sz="950">
                <a:solidFill>
                  <a:srgbClr val="1E293B"/>
                </a:solidFill>
              </a:defRPr>
            </a:pPr>
            <a:r>
              <a:t>Designed modular dashboards integrating live statistics, tournament bracket generation (knockout, round-robin), court scheduling engines, and analytical insights, recognized for exceptional user experience and responsiveness.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4 of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GENERATIVE AI &amp; SPATIAL TECH</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Spatial AI &amp; Generative 3D Pipelines: SrushtiLabs (Voxelforge AI) &amp; ayam3d</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102352"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4846320" cy="320040"/>
          </a:xfrm>
          <a:prstGeom prst="rect">
            <a:avLst/>
          </a:prstGeom>
          <a:noFill/>
        </p:spPr>
        <p:txBody>
          <a:bodyPr wrap="none">
            <a:spAutoFit/>
          </a:bodyPr>
          <a:lstStyle/>
          <a:p>
            <a:pPr>
              <a:defRPr sz="1100" b="1">
                <a:solidFill>
                  <a:srgbClr val="FFFFFF"/>
                </a:solidFill>
              </a:defRPr>
            </a:pPr>
            <a:r>
              <a:t>SRUSHTILABS · VOXELFORGE AI (srushtilabs.com/voxelforge/)</a:t>
            </a:r>
          </a:p>
        </p:txBody>
      </p:sp>
      <p:sp>
        <p:nvSpPr>
          <p:cNvPr id="9" name="TextBox 8"/>
          <p:cNvSpPr txBox="1"/>
          <p:nvPr/>
        </p:nvSpPr>
        <p:spPr>
          <a:xfrm>
            <a:off x="914400" y="1965960"/>
            <a:ext cx="4754880" cy="4114800"/>
          </a:xfrm>
          <a:prstGeom prst="rect">
            <a:avLst/>
          </a:prstGeom>
          <a:noFill/>
        </p:spPr>
        <p:txBody>
          <a:bodyPr wrap="square">
            <a:spAutoFit/>
          </a:bodyPr>
          <a:lstStyle/>
          <a:p>
            <a:pPr>
              <a:spcAft>
                <a:spcPts val="600"/>
              </a:spcAft>
              <a:defRPr sz="1250" b="1">
                <a:solidFill>
                  <a:srgbClr val="0F172A"/>
                </a:solidFill>
              </a:defRPr>
            </a:pPr>
            <a:r>
              <a:t>Founder &amp; CTO, SrushtiLabs (srushtilabs.com)</a:t>
            </a:r>
          </a:p>
          <a:p>
            <a:pPr>
              <a:defRPr sz="950">
                <a:solidFill>
                  <a:srgbClr val="1E293B"/>
                </a:solidFill>
              </a:defRPr>
            </a:pPr>
            <a:r>
              <a:t>• Current Headline: Founder &amp; CTO | Building AI-driven 3D asset platforms and spatial computing solutions @srushtilabs.com</a:t>
            </a:r>
            <a:br/>
            <a:br/>
            <a:r>
              <a:t>• Live Application: srushtilabs.com/voxelforge/ — Developing AI-based workflows for generative 3D asset creation and modular bundle assembly.</a:t>
            </a:r>
            <a:br/>
            <a:br/>
            <a:r>
              <a:t>• Modular Game-Ready Bundles: Generates optimized, low-poly modular 3D assets ready for immediate assembly in Unreal Engine, Unity, and real-time WebGL engines.</a:t>
            </a:r>
            <a:br/>
            <a:br/>
            <a:r>
              <a:t>• Rapid Prototyping Pipeline: Bridges text/image prompts into 3D voxel geometry with automated UV unwrapping and texture generation, cutting 3D asset prototyping time from days to minutes.</a:t>
            </a:r>
            <a:br/>
            <a:br/>
            <a:r>
              <a:t>• Lightweight In-Browser Rendering: Specifically engineered to deliver compact asset payloads that stream effortlessly into web browsers without requiring heavy GPU rendering workstations.</a:t>
            </a:r>
          </a:p>
        </p:txBody>
      </p:sp>
      <p:sp>
        <p:nvSpPr>
          <p:cNvPr id="10" name="Rounded Rectangle 9"/>
          <p:cNvSpPr/>
          <p:nvPr/>
        </p:nvSpPr>
        <p:spPr>
          <a:xfrm>
            <a:off x="6108192" y="1463040"/>
            <a:ext cx="53492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600200"/>
            <a:ext cx="4983480" cy="2011680"/>
          </a:xfrm>
          <a:prstGeom prst="rect">
            <a:avLst/>
          </a:prstGeom>
          <a:noFill/>
        </p:spPr>
        <p:txBody>
          <a:bodyPr wrap="square">
            <a:spAutoFit/>
          </a:bodyPr>
          <a:lstStyle/>
          <a:p>
            <a:pPr>
              <a:spcAft>
                <a:spcPts val="400"/>
              </a:spcAft>
              <a:defRPr sz="1200" b="1">
                <a:solidFill>
                  <a:srgbClr val="0284C7"/>
                </a:solidFill>
              </a:defRPr>
            </a:pPr>
            <a:r>
              <a:t>ayam3d — Advanced Mesh Synthesis &amp; Retopology</a:t>
            </a:r>
          </a:p>
          <a:p>
            <a:pPr>
              <a:defRPr sz="950">
                <a:solidFill>
                  <a:srgbClr val="1E293B"/>
                </a:solidFill>
              </a:defRPr>
            </a:pPr>
            <a:r>
              <a:t>• Exploratory R&amp;D into automated 3D mesh synthesis, intelligent quad retopology, and PBR texture generation.</a:t>
            </a:r>
            <a:br/>
            <a:r>
              <a:t>• Converts complex, unorganized high-poly meshes into clean, lightweight geometry with preserved edge flow.</a:t>
            </a:r>
            <a:br/>
            <a:r>
              <a:t>• Solves real-time visualization challenges by creating Level of Detail (LOD) hierarchies for seamless 3D streaming.</a:t>
            </a:r>
          </a:p>
        </p:txBody>
      </p:sp>
      <p:sp>
        <p:nvSpPr>
          <p:cNvPr id="12" name="Rounded Rectangle 11"/>
          <p:cNvSpPr/>
          <p:nvPr/>
        </p:nvSpPr>
        <p:spPr>
          <a:xfrm>
            <a:off x="6108192" y="3840480"/>
            <a:ext cx="5349240" cy="2377440"/>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2" y="3977639"/>
            <a:ext cx="4983480" cy="2103120"/>
          </a:xfrm>
          <a:prstGeom prst="rect">
            <a:avLst/>
          </a:prstGeom>
          <a:noFill/>
        </p:spPr>
        <p:txBody>
          <a:bodyPr wrap="square">
            <a:spAutoFit/>
          </a:bodyPr>
          <a:lstStyle/>
          <a:p>
            <a:pPr>
              <a:spcAft>
                <a:spcPts val="400"/>
              </a:spcAft>
              <a:defRPr sz="1150" b="1">
                <a:solidFill>
                  <a:srgbClr val="0E7490"/>
                </a:solidFill>
              </a:defRPr>
            </a:pPr>
            <a:r>
              <a:t>Applied Value to Physical &amp; Digital Infrastructure</a:t>
            </a:r>
          </a:p>
          <a:p>
            <a:pPr>
              <a:defRPr sz="950">
                <a:solidFill>
                  <a:srgbClr val="1E293B"/>
                </a:solidFill>
              </a:defRPr>
            </a:pPr>
            <a:r>
              <a:t>• Bridging Digital Twins with Web Applications: Enables lightweight 3D asset representations of physical spaces, facilities, and structures without multi-gigabyte download bottlenecks.</a:t>
            </a:r>
            <a:br/>
            <a:r>
              <a:t>• Practical Spatial Computing: Demonstrates deep technical competence in polygon reduction, coordinate systems, and automated 3D pipelines that directly benefit modern spatial workflows and digital engineering.</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5 of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3D VISUALIZATION TRACK RECORD</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3D Visualizer Expert Pedigree: 50+ Projects, CAE Simulation &amp; Cisco Systems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00200"/>
            <a:ext cx="3127248" cy="4480560"/>
          </a:xfrm>
          <a:prstGeom prst="rect">
            <a:avLst/>
          </a:prstGeom>
          <a:noFill/>
        </p:spPr>
        <p:txBody>
          <a:bodyPr wrap="square">
            <a:spAutoFit/>
          </a:bodyPr>
          <a:lstStyle/>
          <a:p>
            <a:pPr>
              <a:spcAft>
                <a:spcPts val="200"/>
              </a:spcAft>
              <a:defRPr sz="1300" b="1">
                <a:solidFill>
                  <a:srgbClr val="0284C7"/>
                </a:solidFill>
              </a:defRPr>
            </a:pPr>
            <a:r>
              <a:t>Architectural 3D &amp; Walkthroughs</a:t>
            </a:r>
          </a:p>
          <a:p>
            <a:pPr>
              <a:spcAft>
                <a:spcPts val="800"/>
              </a:spcAft>
              <a:defRPr sz="1000" b="1">
                <a:solidFill>
                  <a:srgbClr val="0E7490"/>
                </a:solidFill>
              </a:defRPr>
            </a:pPr>
            <a:r>
              <a:t>35+ Commercial &amp; Residential Projects</a:t>
            </a:r>
          </a:p>
          <a:p>
            <a:pPr>
              <a:defRPr sz="900">
                <a:solidFill>
                  <a:srgbClr val="1E293B"/>
                </a:solidFill>
              </a:defRPr>
            </a:pPr>
            <a:r>
              <a:t>• Working with Architect Father: Built foundational expertise interpreting 2D plans, elevations, and structural schematics into accurate 3D models.</a:t>
            </a:r>
            <a:br/>
            <a:br/>
            <a:r>
              <a:t>• Photorealistic Visualizations: Produced photorealistic exterior and interior architectural renderings, lighting studies, and texture mappings.</a:t>
            </a:r>
            <a:br/>
            <a:br/>
            <a:r>
              <a:t>• 3D Walkthrough Animations: Produced animated camera walkthroughs for real estate developers and commercial builders to visualize spaces prior to construction.</a:t>
            </a:r>
            <a:br/>
            <a:br/>
            <a:r>
              <a:t>• CAD &amp; Drafting Precision: Hands-on mastery with CAD drafting tools, layer management, and dimensional accuracy.</a:t>
            </a:r>
          </a:p>
        </p:txBody>
      </p:sp>
      <p:sp>
        <p:nvSpPr>
          <p:cNvPr id="8" name="Rounded Rectangle 7"/>
          <p:cNvSpPr/>
          <p:nvPr/>
        </p:nvSpPr>
        <p:spPr>
          <a:xfrm>
            <a:off x="43891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600200"/>
            <a:ext cx="3127248" cy="4480560"/>
          </a:xfrm>
          <a:prstGeom prst="rect">
            <a:avLst/>
          </a:prstGeom>
          <a:noFill/>
        </p:spPr>
        <p:txBody>
          <a:bodyPr wrap="square">
            <a:spAutoFit/>
          </a:bodyPr>
          <a:lstStyle/>
          <a:p>
            <a:pPr>
              <a:spcAft>
                <a:spcPts val="200"/>
              </a:spcAft>
              <a:defRPr sz="1300" b="1">
                <a:solidFill>
                  <a:srgbClr val="0284C7"/>
                </a:solidFill>
              </a:defRPr>
            </a:pPr>
            <a:r>
              <a:t>CAE Simulation Technologies</a:t>
            </a:r>
          </a:p>
          <a:p>
            <a:pPr>
              <a:spcAft>
                <a:spcPts val="800"/>
              </a:spcAft>
              <a:defRPr sz="1000" b="1">
                <a:solidFill>
                  <a:srgbClr val="0E7490"/>
                </a:solidFill>
              </a:defRPr>
            </a:pPr>
            <a:r>
              <a:t>Visual Database Developer (2007 – 2008)</a:t>
            </a:r>
          </a:p>
          <a:p>
            <a:pPr>
              <a:defRPr sz="900">
                <a:solidFill>
                  <a:srgbClr val="1E293B"/>
                </a:solidFill>
              </a:defRPr>
            </a:pPr>
            <a:r>
              <a:t>• Flight Simulator Visual Databases: Created high-fidelity 3D model libraries for military and civil aircraft full-flight simulators.</a:t>
            </a:r>
            <a:br/>
            <a:br/>
            <a:r>
              <a:t>• Real-Time Terrain Modeling: Built elevation terrain databases, runway markings, airport ground equipment, and navigation landmarks.</a:t>
            </a:r>
            <a:br/>
            <a:br/>
            <a:r>
              <a:t>• Strict Polygon &amp; Memory Budgets: Developed real-time 3D models requiring deterministic frame rates (60 FPS locked) with zero visual pop-in or simulation stutter.</a:t>
            </a:r>
            <a:br/>
            <a:br/>
            <a:r>
              <a:t>• Sensor &amp; Environmental Simulation: Modeled day/night transitions, weather effects, and infrared/night-vision sensor textures.</a:t>
            </a:r>
          </a:p>
        </p:txBody>
      </p:sp>
      <p:sp>
        <p:nvSpPr>
          <p:cNvPr id="10" name="Rounded Rectangle 9"/>
          <p:cNvSpPr/>
          <p:nvPr/>
        </p:nvSpPr>
        <p:spPr>
          <a:xfrm>
            <a:off x="80467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600200"/>
            <a:ext cx="3127248" cy="4480560"/>
          </a:xfrm>
          <a:prstGeom prst="rect">
            <a:avLst/>
          </a:prstGeom>
          <a:noFill/>
        </p:spPr>
        <p:txBody>
          <a:bodyPr wrap="square">
            <a:spAutoFit/>
          </a:bodyPr>
          <a:lstStyle/>
          <a:p>
            <a:pPr>
              <a:spcAft>
                <a:spcPts val="200"/>
              </a:spcAft>
              <a:defRPr sz="1300" b="1">
                <a:solidFill>
                  <a:srgbClr val="0284C7"/>
                </a:solidFill>
              </a:defRPr>
            </a:pPr>
            <a:r>
              <a:t>Cisco Systems Dashboard</a:t>
            </a:r>
          </a:p>
          <a:p>
            <a:pPr>
              <a:spcAft>
                <a:spcPts val="800"/>
              </a:spcAft>
              <a:defRPr sz="1000" b="1">
                <a:solidFill>
                  <a:srgbClr val="0E7490"/>
                </a:solidFill>
              </a:defRPr>
            </a:pPr>
            <a:r>
              <a:t>Facility Dashboard &amp; Smart Campus</a:t>
            </a:r>
          </a:p>
          <a:p>
            <a:pPr>
              <a:defRPr sz="900">
                <a:solidFill>
                  <a:srgbClr val="1E293B"/>
                </a:solidFill>
              </a:defRPr>
            </a:pPr>
            <a:r>
              <a:t>• Cisco Facility Dashboard (2009 – 2010): Designed and developed an interactive facility dashboard during full-time on-campus consulting at Cisco Bangalore.</a:t>
            </a:r>
            <a:br/>
            <a:br/>
            <a:r>
              <a:t>• Physical Infrastructure Telemetry: Visualized data center rack layouts, campus power consumption, cooling metrics, and environmental sensor telemetry.</a:t>
            </a:r>
            <a:br/>
            <a:br/>
            <a:r>
              <a:t>• Awarded Cisco Appreciation: Received formal recognition from Cisco leadership in 2010 for delivering intuitive, high-impact data visualization.</a:t>
            </a:r>
            <a:br/>
            <a:br/>
            <a:r>
              <a:t>• Continued Cisco Collaboration: Managed multiple Angular dashboards and UI applications for Cisco Systems via UST Global (2015 – 2019).</a:t>
            </a: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6 of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LEADERSHIP &amp; EXECUTION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Core Responsibilities &amp; Technical Leadership Across 16+ Years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212080" cy="38404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17904"/>
            <a:ext cx="4864608" cy="320040"/>
          </a:xfrm>
          <a:prstGeom prst="rect">
            <a:avLst/>
          </a:prstGeom>
          <a:noFill/>
        </p:spPr>
        <p:txBody>
          <a:bodyPr wrap="none">
            <a:spAutoFit/>
          </a:bodyPr>
          <a:lstStyle/>
          <a:p>
            <a:pPr>
              <a:defRPr sz="1100" b="1">
                <a:solidFill>
                  <a:srgbClr val="FFFFFF"/>
                </a:solidFill>
              </a:defRPr>
            </a:pPr>
            <a:r>
              <a:t>1. Scalable Architecture &amp; System Design</a:t>
            </a:r>
          </a:p>
        </p:txBody>
      </p:sp>
      <p:sp>
        <p:nvSpPr>
          <p:cNvPr id="9" name="TextBox 8"/>
          <p:cNvSpPr txBox="1"/>
          <p:nvPr/>
        </p:nvSpPr>
        <p:spPr>
          <a:xfrm>
            <a:off x="914400" y="1901952"/>
            <a:ext cx="4864608" cy="1737360"/>
          </a:xfrm>
          <a:prstGeom prst="rect">
            <a:avLst/>
          </a:prstGeom>
          <a:noFill/>
        </p:spPr>
        <p:txBody>
          <a:bodyPr wrap="square">
            <a:spAutoFit/>
          </a:bodyPr>
          <a:lstStyle/>
          <a:p>
            <a:pPr>
              <a:spcAft>
                <a:spcPts val="300"/>
              </a:spcAft>
              <a:defRPr sz="950">
                <a:solidFill>
                  <a:srgbClr val="1E293B"/>
                </a:solidFill>
              </a:defRPr>
            </a:pPr>
            <a:r>
              <a:t>• Architected enterprise frontend applications using React, Angular, and LitElement web components.</a:t>
            </a:r>
          </a:p>
          <a:p>
            <a:pPr>
              <a:spcAft>
                <a:spcPts val="300"/>
              </a:spcAft>
              <a:defRPr sz="950">
                <a:solidFill>
                  <a:srgbClr val="1E293B"/>
                </a:solidFill>
              </a:defRPr>
            </a:pPr>
            <a:r>
              <a:t>• Designed cross-platform UI Design Systems adopted across diverse development teams (Moonraft / TLC Hotels).</a:t>
            </a:r>
          </a:p>
          <a:p>
            <a:pPr>
              <a:spcAft>
                <a:spcPts val="300"/>
              </a:spcAft>
              <a:defRPr sz="950">
                <a:solidFill>
                  <a:srgbClr val="1E293B"/>
                </a:solidFill>
              </a:defRPr>
            </a:pPr>
            <a:r>
              <a:t>• Established robust contract boundaries using REST, WebSockets, and event-driven data streaming.</a:t>
            </a:r>
          </a:p>
          <a:p>
            <a:pPr>
              <a:spcAft>
                <a:spcPts val="300"/>
              </a:spcAft>
              <a:defRPr sz="950">
                <a:solidFill>
                  <a:srgbClr val="1E293B"/>
                </a:solidFill>
              </a:defRPr>
            </a:pPr>
            <a:r>
              <a:t>• Evaluated and selected modern cloud and web tech stacks for rapid, scalable client product delivery.</a:t>
            </a:r>
          </a:p>
        </p:txBody>
      </p:sp>
      <p:sp>
        <p:nvSpPr>
          <p:cNvPr id="10" name="Rounded Rectangle 9"/>
          <p:cNvSpPr/>
          <p:nvPr/>
        </p:nvSpPr>
        <p:spPr>
          <a:xfrm>
            <a:off x="62179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472184"/>
            <a:ext cx="5212080"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17904"/>
            <a:ext cx="4864608" cy="320040"/>
          </a:xfrm>
          <a:prstGeom prst="rect">
            <a:avLst/>
          </a:prstGeom>
          <a:noFill/>
        </p:spPr>
        <p:txBody>
          <a:bodyPr wrap="none">
            <a:spAutoFit/>
          </a:bodyPr>
          <a:lstStyle/>
          <a:p>
            <a:pPr>
              <a:defRPr sz="1100" b="1">
                <a:solidFill>
                  <a:srgbClr val="FFFFFF"/>
                </a:solidFill>
              </a:defRPr>
            </a:pPr>
            <a:r>
              <a:t>2. Operational Resilience &amp; High Reliability</a:t>
            </a:r>
          </a:p>
        </p:txBody>
      </p:sp>
      <p:sp>
        <p:nvSpPr>
          <p:cNvPr id="13" name="TextBox 12"/>
          <p:cNvSpPr txBox="1"/>
          <p:nvPr/>
        </p:nvSpPr>
        <p:spPr>
          <a:xfrm>
            <a:off x="6400800" y="1901952"/>
            <a:ext cx="4864608" cy="1737360"/>
          </a:xfrm>
          <a:prstGeom prst="rect">
            <a:avLst/>
          </a:prstGeom>
          <a:noFill/>
        </p:spPr>
        <p:txBody>
          <a:bodyPr wrap="square">
            <a:spAutoFit/>
          </a:bodyPr>
          <a:lstStyle/>
          <a:p>
            <a:pPr>
              <a:spcAft>
                <a:spcPts val="300"/>
              </a:spcAft>
              <a:defRPr sz="950">
                <a:solidFill>
                  <a:srgbClr val="1E293B"/>
                </a:solidFill>
              </a:defRPr>
            </a:pPr>
            <a:r>
              <a:t>• Architected zero-loss offline-first caching mechanisms (IndexedDB/Service Workers) for field use (Twitan).</a:t>
            </a:r>
          </a:p>
          <a:p>
            <a:pPr>
              <a:spcAft>
                <a:spcPts val="300"/>
              </a:spcAft>
              <a:defRPr sz="950">
                <a:solidFill>
                  <a:srgbClr val="1E293B"/>
                </a:solidFill>
              </a:defRPr>
            </a:pPr>
            <a:r>
              <a:t>• Engineered life-critical clinical UI rendering with zero memory leaks for 24/7 hospital ICU units (Philips ICCA).</a:t>
            </a:r>
          </a:p>
          <a:p>
            <a:pPr>
              <a:spcAft>
                <a:spcPts val="300"/>
              </a:spcAft>
              <a:defRPr sz="950">
                <a:solidFill>
                  <a:srgbClr val="1E293B"/>
                </a:solidFill>
              </a:defRPr>
            </a:pPr>
            <a:r>
              <a:t>• Supervised cloud deployments on GCP, Firebase, and AWS with automated scaling and log monitoring.</a:t>
            </a:r>
          </a:p>
          <a:p>
            <a:pPr>
              <a:spcAft>
                <a:spcPts val="300"/>
              </a:spcAft>
              <a:defRPr sz="950">
                <a:solidFill>
                  <a:srgbClr val="1E293B"/>
                </a:solidFill>
              </a:defRPr>
            </a:pPr>
            <a:r>
              <a:t>• Designed real-time fallback pipelines ensuring continuous operational availability during network drops.</a:t>
            </a:r>
          </a:p>
        </p:txBody>
      </p:sp>
      <p:sp>
        <p:nvSpPr>
          <p:cNvPr id="14" name="Rounded Rectangle 13"/>
          <p:cNvSpPr/>
          <p:nvPr/>
        </p:nvSpPr>
        <p:spPr>
          <a:xfrm>
            <a:off x="7315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 y="3941064"/>
            <a:ext cx="5212080" cy="38404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4864608" cy="320040"/>
          </a:xfrm>
          <a:prstGeom prst="rect">
            <a:avLst/>
          </a:prstGeom>
          <a:noFill/>
        </p:spPr>
        <p:txBody>
          <a:bodyPr wrap="none">
            <a:spAutoFit/>
          </a:bodyPr>
          <a:lstStyle/>
          <a:p>
            <a:pPr>
              <a:defRPr sz="1100" b="1">
                <a:solidFill>
                  <a:srgbClr val="FFFFFF"/>
                </a:solidFill>
              </a:defRPr>
            </a:pPr>
            <a:r>
              <a:t>3. Spatial Computing &amp; 3D Asset Pipelines</a:t>
            </a:r>
          </a:p>
        </p:txBody>
      </p:sp>
      <p:sp>
        <p:nvSpPr>
          <p:cNvPr id="17" name="TextBox 16"/>
          <p:cNvSpPr txBox="1"/>
          <p:nvPr/>
        </p:nvSpPr>
        <p:spPr>
          <a:xfrm>
            <a:off x="914400" y="4370832"/>
            <a:ext cx="4864608" cy="1737360"/>
          </a:xfrm>
          <a:prstGeom prst="rect">
            <a:avLst/>
          </a:prstGeom>
          <a:noFill/>
        </p:spPr>
        <p:txBody>
          <a:bodyPr wrap="square">
            <a:spAutoFit/>
          </a:bodyPr>
          <a:lstStyle/>
          <a:p>
            <a:pPr>
              <a:spcAft>
                <a:spcPts val="300"/>
              </a:spcAft>
              <a:defRPr sz="950">
                <a:solidFill>
                  <a:srgbClr val="1E293B"/>
                </a:solidFill>
              </a:defRPr>
            </a:pPr>
            <a:r>
              <a:t>• Developed AI-assisted workflows (Voxelforge AI) for modular low-poly 3D asset generation (Unreal / Unity / WebGL).</a:t>
            </a:r>
          </a:p>
          <a:p>
            <a:pPr>
              <a:spcAft>
                <a:spcPts val="300"/>
              </a:spcAft>
              <a:defRPr sz="950">
                <a:solidFill>
                  <a:srgbClr val="1E293B"/>
                </a:solidFill>
              </a:defRPr>
            </a:pPr>
            <a:r>
              <a:t>• Directed R&amp;D in automated 3D mesh retopology and PBR texture generation for lightweight web streaming (ayam3d).</a:t>
            </a:r>
          </a:p>
          <a:p>
            <a:pPr>
              <a:spcAft>
                <a:spcPts val="300"/>
              </a:spcAft>
              <a:defRPr sz="950">
                <a:solidFill>
                  <a:srgbClr val="1E293B"/>
                </a:solidFill>
              </a:defRPr>
            </a:pPr>
            <a:r>
              <a:t>• Created real-time 3D flight simulator databases with strict polygon and frame rate budgets (CAE).</a:t>
            </a:r>
          </a:p>
          <a:p>
            <a:pPr>
              <a:spcAft>
                <a:spcPts val="300"/>
              </a:spcAft>
              <a:defRPr sz="950">
                <a:solidFill>
                  <a:srgbClr val="1E293B"/>
                </a:solidFill>
              </a:defRPr>
            </a:pPr>
            <a:r>
              <a:t>• Built interactive 3D facility and infrastructure monitoring dashboards (Cisco Systems).</a:t>
            </a:r>
          </a:p>
        </p:txBody>
      </p:sp>
      <p:sp>
        <p:nvSpPr>
          <p:cNvPr id="18" name="Rounded Rectangle 17"/>
          <p:cNvSpPr/>
          <p:nvPr/>
        </p:nvSpPr>
        <p:spPr>
          <a:xfrm>
            <a:off x="62179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27064" y="3941064"/>
            <a:ext cx="5212080" cy="384048"/>
          </a:xfrm>
          <a:prstGeom prst="rect">
            <a:avLst/>
          </a:prstGeom>
          <a:solidFill>
            <a:srgbClr val="109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986784"/>
            <a:ext cx="4864608" cy="320040"/>
          </a:xfrm>
          <a:prstGeom prst="rect">
            <a:avLst/>
          </a:prstGeom>
          <a:noFill/>
        </p:spPr>
        <p:txBody>
          <a:bodyPr wrap="none">
            <a:spAutoFit/>
          </a:bodyPr>
          <a:lstStyle/>
          <a:p>
            <a:pPr>
              <a:defRPr sz="1100" b="1">
                <a:solidFill>
                  <a:srgbClr val="FFFFFF"/>
                </a:solidFill>
              </a:defRPr>
            </a:pPr>
            <a:r>
              <a:t>4. Agile Leadership, Mentorship &amp; Delivery</a:t>
            </a:r>
          </a:p>
        </p:txBody>
      </p:sp>
      <p:sp>
        <p:nvSpPr>
          <p:cNvPr id="21" name="TextBox 20"/>
          <p:cNvSpPr txBox="1"/>
          <p:nvPr/>
        </p:nvSpPr>
        <p:spPr>
          <a:xfrm>
            <a:off x="6400800" y="4370832"/>
            <a:ext cx="4864608" cy="1737360"/>
          </a:xfrm>
          <a:prstGeom prst="rect">
            <a:avLst/>
          </a:prstGeom>
          <a:noFill/>
        </p:spPr>
        <p:txBody>
          <a:bodyPr wrap="square">
            <a:spAutoFit/>
          </a:bodyPr>
          <a:lstStyle/>
          <a:p>
            <a:pPr>
              <a:spcAft>
                <a:spcPts val="300"/>
              </a:spcAft>
              <a:defRPr sz="950">
                <a:solidFill>
                  <a:srgbClr val="1E293B"/>
                </a:solidFill>
              </a:defRPr>
            </a:pPr>
            <a:r>
              <a:t>• Led, mentored, and inspired cross-functional engineering squads of developers, UX designers, and QA analysts.</a:t>
            </a:r>
          </a:p>
          <a:p>
            <a:pPr>
              <a:spcAft>
                <a:spcPts val="300"/>
              </a:spcAft>
              <a:defRPr sz="950">
                <a:solidFill>
                  <a:srgbClr val="1E293B"/>
                </a:solidFill>
              </a:defRPr>
            </a:pPr>
            <a:r>
              <a:t>• Instituted design-to-code pipelines involving users early through rapid prototypes and usability feedback.</a:t>
            </a:r>
          </a:p>
          <a:p>
            <a:pPr>
              <a:spcAft>
                <a:spcPts val="300"/>
              </a:spcAft>
              <a:defRPr sz="950">
                <a:solidFill>
                  <a:srgbClr val="1E293B"/>
                </a:solidFill>
              </a:defRPr>
            </a:pPr>
            <a:r>
              <a:t>• Managed client deliverables, stakeholder communication, sprint planning, and engineering velocity.</a:t>
            </a:r>
          </a:p>
          <a:p>
            <a:pPr>
              <a:spcAft>
                <a:spcPts val="300"/>
              </a:spcAft>
              <a:defRPr sz="950">
                <a:solidFill>
                  <a:srgbClr val="1E293B"/>
                </a:solidFill>
              </a:defRPr>
            </a:pPr>
            <a:r>
              <a:t>• Recipient of multiple corporate excellence awards at UST Global and Cisco for leadership and client commitment.</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7 of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MILESTONES &amp; RECOGNITION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Major Achievements, Proven Track Record &amp; Formal Acknowledgements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572768"/>
            <a:ext cx="2322576" cy="1152144"/>
          </a:xfrm>
          <a:prstGeom prst="rect">
            <a:avLst/>
          </a:prstGeom>
          <a:noFill/>
        </p:spPr>
        <p:txBody>
          <a:bodyPr wrap="square">
            <a:spAutoFit/>
          </a:bodyPr>
          <a:lstStyle/>
          <a:p>
            <a:pPr>
              <a:spcAft>
                <a:spcPts val="200"/>
              </a:spcAft>
              <a:defRPr sz="2200" b="1">
                <a:solidFill>
                  <a:srgbClr val="0284C7"/>
                </a:solidFill>
              </a:defRPr>
            </a:pPr>
            <a:r>
              <a:t>16+ Years</a:t>
            </a:r>
          </a:p>
          <a:p>
            <a:pPr>
              <a:spcAft>
                <a:spcPts val="200"/>
              </a:spcAft>
              <a:defRPr sz="1000" b="1">
                <a:solidFill>
                  <a:srgbClr val="0F172A"/>
                </a:solidFill>
              </a:defRPr>
            </a:pPr>
            <a:r>
              <a:t>Professional Track Record</a:t>
            </a:r>
          </a:p>
          <a:p>
            <a:pPr>
              <a:defRPr sz="850">
                <a:solidFill>
                  <a:srgbClr val="64748B"/>
                </a:solidFill>
              </a:defRPr>
            </a:pPr>
            <a:r>
              <a:t>Extensive leadership across enterprise software, healthcare, startups &amp; 3D tech</a:t>
            </a:r>
          </a:p>
        </p:txBody>
      </p:sp>
      <p:sp>
        <p:nvSpPr>
          <p:cNvPr id="8" name="Rounded Rectangle 7"/>
          <p:cNvSpPr/>
          <p:nvPr/>
        </p:nvSpPr>
        <p:spPr>
          <a:xfrm>
            <a:off x="3456432"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1572768"/>
            <a:ext cx="2322576" cy="1152144"/>
          </a:xfrm>
          <a:prstGeom prst="rect">
            <a:avLst/>
          </a:prstGeom>
          <a:noFill/>
        </p:spPr>
        <p:txBody>
          <a:bodyPr wrap="square">
            <a:spAutoFit/>
          </a:bodyPr>
          <a:lstStyle/>
          <a:p>
            <a:pPr>
              <a:spcAft>
                <a:spcPts val="200"/>
              </a:spcAft>
              <a:defRPr sz="2200" b="1">
                <a:solidFill>
                  <a:srgbClr val="0284C7"/>
                </a:solidFill>
              </a:defRPr>
            </a:pPr>
            <a:r>
              <a:t>50+ Projects</a:t>
            </a:r>
          </a:p>
          <a:p>
            <a:pPr>
              <a:spcAft>
                <a:spcPts val="200"/>
              </a:spcAft>
              <a:defRPr sz="1000" b="1">
                <a:solidFill>
                  <a:srgbClr val="0F172A"/>
                </a:solidFill>
              </a:defRPr>
            </a:pPr>
            <a:r>
              <a:t>3D &amp; Visualization Portfolio</a:t>
            </a:r>
          </a:p>
          <a:p>
            <a:pPr>
              <a:defRPr sz="850">
                <a:solidFill>
                  <a:srgbClr val="64748B"/>
                </a:solidFill>
              </a:defRPr>
            </a:pPr>
            <a:r>
              <a:t>Delivered across architectural visualization, CAD, flight simulation &amp; spatial AI</a:t>
            </a:r>
          </a:p>
        </p:txBody>
      </p:sp>
      <p:sp>
        <p:nvSpPr>
          <p:cNvPr id="10" name="Rounded Rectangle 9"/>
          <p:cNvSpPr/>
          <p:nvPr/>
        </p:nvSpPr>
        <p:spPr>
          <a:xfrm>
            <a:off x="6181344"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572768"/>
            <a:ext cx="2322576" cy="1152144"/>
          </a:xfrm>
          <a:prstGeom prst="rect">
            <a:avLst/>
          </a:prstGeom>
          <a:noFill/>
        </p:spPr>
        <p:txBody>
          <a:bodyPr wrap="square">
            <a:spAutoFit/>
          </a:bodyPr>
          <a:lstStyle/>
          <a:p>
            <a:pPr>
              <a:spcAft>
                <a:spcPts val="200"/>
              </a:spcAft>
              <a:defRPr sz="2200" b="1">
                <a:solidFill>
                  <a:srgbClr val="0284C7"/>
                </a:solidFill>
              </a:defRPr>
            </a:pPr>
            <a:r>
              <a:t>4 Formal Awards</a:t>
            </a:r>
          </a:p>
          <a:p>
            <a:pPr>
              <a:spcAft>
                <a:spcPts val="200"/>
              </a:spcAft>
              <a:defRPr sz="1000" b="1">
                <a:solidFill>
                  <a:srgbClr val="0F172A"/>
                </a:solidFill>
              </a:defRPr>
            </a:pPr>
            <a:r>
              <a:t>Industry Acknowledgements</a:t>
            </a:r>
          </a:p>
          <a:p>
            <a:pPr>
              <a:defRPr sz="850">
                <a:solidFill>
                  <a:srgbClr val="64748B"/>
                </a:solidFill>
              </a:defRPr>
            </a:pPr>
            <a:r>
              <a:t>Cisco Facility Appreciation + 3 UST Global Excellence &amp; Client-First awards</a:t>
            </a:r>
          </a:p>
        </p:txBody>
      </p:sp>
      <p:sp>
        <p:nvSpPr>
          <p:cNvPr id="12" name="Rounded Rectangle 11"/>
          <p:cNvSpPr/>
          <p:nvPr/>
        </p:nvSpPr>
        <p:spPr>
          <a:xfrm>
            <a:off x="8906256" y="1463040"/>
            <a:ext cx="2542032" cy="137160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572768"/>
            <a:ext cx="2322576" cy="1152144"/>
          </a:xfrm>
          <a:prstGeom prst="rect">
            <a:avLst/>
          </a:prstGeom>
          <a:noFill/>
        </p:spPr>
        <p:txBody>
          <a:bodyPr wrap="square">
            <a:spAutoFit/>
          </a:bodyPr>
          <a:lstStyle/>
          <a:p>
            <a:pPr>
              <a:spcAft>
                <a:spcPts val="200"/>
              </a:spcAft>
              <a:defRPr sz="2200" b="1">
                <a:solidFill>
                  <a:srgbClr val="0284C7"/>
                </a:solidFill>
              </a:defRPr>
            </a:pPr>
            <a:r>
              <a:t>100% Offline</a:t>
            </a:r>
          </a:p>
          <a:p>
            <a:pPr>
              <a:spcAft>
                <a:spcPts val="200"/>
              </a:spcAft>
              <a:defRPr sz="1000" b="1">
                <a:solidFill>
                  <a:srgbClr val="0F172A"/>
                </a:solidFill>
              </a:defRPr>
            </a:pPr>
            <a:r>
              <a:t>Data Integrity at Edge</a:t>
            </a:r>
          </a:p>
          <a:p>
            <a:pPr>
              <a:defRPr sz="850">
                <a:solidFill>
                  <a:srgbClr val="64748B"/>
                </a:solidFill>
              </a:defRPr>
            </a:pPr>
            <a:r>
              <a:t>Zero data loss during field network drops with transactional replay queues</a:t>
            </a:r>
          </a:p>
        </p:txBody>
      </p:sp>
      <p:sp>
        <p:nvSpPr>
          <p:cNvPr id="14" name="Rounded Rectangle 13"/>
          <p:cNvSpPr/>
          <p:nvPr/>
        </p:nvSpPr>
        <p:spPr>
          <a:xfrm>
            <a:off x="731520" y="2971800"/>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044952"/>
            <a:ext cx="10332720" cy="621792"/>
          </a:xfrm>
          <a:prstGeom prst="rect">
            <a:avLst/>
          </a:prstGeom>
          <a:noFill/>
        </p:spPr>
        <p:txBody>
          <a:bodyPr wrap="square">
            <a:spAutoFit/>
          </a:bodyPr>
          <a:lstStyle/>
          <a:p>
            <a:pPr>
              <a:spcAft>
                <a:spcPts val="200"/>
              </a:spcAft>
              <a:defRPr sz="1100" b="1">
                <a:solidFill>
                  <a:srgbClr val="0F172A"/>
                </a:solidFill>
              </a:defRPr>
            </a:pPr>
            <a:r>
              <a:t>★  Philips Intellispace Critical Care &amp; Anesthesia (Cyient)</a:t>
            </a:r>
          </a:p>
          <a:p>
            <a:pPr>
              <a:defRPr sz="900">
                <a:solidFill>
                  <a:srgbClr val="1E293B"/>
                </a:solidFill>
              </a:defRPr>
            </a:pPr>
            <a:r>
              <a:t>Led the frontend technical development of clinical modules for Philips Healthcare, delivering life-critical patient monitoring with rock-solid stability, zero memory leaks, and full healthcare regulatory compliance.</a:t>
            </a:r>
          </a:p>
        </p:txBody>
      </p:sp>
      <p:sp>
        <p:nvSpPr>
          <p:cNvPr id="16" name="Rounded Rectangle 15"/>
          <p:cNvSpPr/>
          <p:nvPr/>
        </p:nvSpPr>
        <p:spPr>
          <a:xfrm>
            <a:off x="731520" y="3813048"/>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886200"/>
            <a:ext cx="10332720" cy="621792"/>
          </a:xfrm>
          <a:prstGeom prst="rect">
            <a:avLst/>
          </a:prstGeom>
          <a:noFill/>
        </p:spPr>
        <p:txBody>
          <a:bodyPr wrap="square">
            <a:spAutoFit/>
          </a:bodyPr>
          <a:lstStyle/>
          <a:p>
            <a:pPr>
              <a:spcAft>
                <a:spcPts val="200"/>
              </a:spcAft>
              <a:defRPr sz="1100" b="1">
                <a:solidFill>
                  <a:srgbClr val="0F172A"/>
                </a:solidFill>
              </a:defRPr>
            </a:pPr>
            <a:r>
              <a:t>★  Startup Co-Founder &amp; Director (Technoyana &amp; Twitan)</a:t>
            </a:r>
          </a:p>
          <a:p>
            <a:pPr>
              <a:defRPr sz="900">
                <a:solidFill>
                  <a:srgbClr val="1E293B"/>
                </a:solidFill>
              </a:defRPr>
            </a:pPr>
            <a:r>
              <a:t>Successfully co-founded and steered Technoyana Digital Transformation Services and Twitan.com; built and shipped commercial fintech apps, product search engines, and the Shutlify badminton tournament operating system.</a:t>
            </a:r>
          </a:p>
        </p:txBody>
      </p:sp>
      <p:sp>
        <p:nvSpPr>
          <p:cNvPr id="18" name="Rounded Rectangle 17"/>
          <p:cNvSpPr/>
          <p:nvPr/>
        </p:nvSpPr>
        <p:spPr>
          <a:xfrm>
            <a:off x="731520" y="4654296"/>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27448"/>
            <a:ext cx="10332720" cy="621792"/>
          </a:xfrm>
          <a:prstGeom prst="rect">
            <a:avLst/>
          </a:prstGeom>
          <a:noFill/>
        </p:spPr>
        <p:txBody>
          <a:bodyPr wrap="square">
            <a:spAutoFit/>
          </a:bodyPr>
          <a:lstStyle/>
          <a:p>
            <a:pPr>
              <a:spcAft>
                <a:spcPts val="200"/>
              </a:spcAft>
              <a:defRPr sz="1100" b="1">
                <a:solidFill>
                  <a:srgbClr val="0F172A"/>
                </a:solidFill>
              </a:defRPr>
            </a:pPr>
            <a:r>
              <a:t>★  Cross-Platform UI Design System (Moonraft Innovation Labs)</a:t>
            </a:r>
          </a:p>
          <a:p>
            <a:pPr>
              <a:defRPr sz="900">
                <a:solidFill>
                  <a:srgbClr val="1E293B"/>
                </a:solidFill>
              </a:defRPr>
            </a:pPr>
            <a:r>
              <a:t>Architected a cross-platform UI design system using the LitElement web components library, creating a reusable component standard leveraged seamlessly across React, Angular, and Polymer teams for TLC Hotels.</a:t>
            </a:r>
          </a:p>
        </p:txBody>
      </p:sp>
      <p:sp>
        <p:nvSpPr>
          <p:cNvPr id="20" name="Rounded Rectangle 19"/>
          <p:cNvSpPr/>
          <p:nvPr/>
        </p:nvSpPr>
        <p:spPr>
          <a:xfrm>
            <a:off x="731520" y="5495544"/>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568696"/>
            <a:ext cx="10332720" cy="621792"/>
          </a:xfrm>
          <a:prstGeom prst="rect">
            <a:avLst/>
          </a:prstGeom>
          <a:noFill/>
        </p:spPr>
        <p:txBody>
          <a:bodyPr wrap="square">
            <a:spAutoFit/>
          </a:bodyPr>
          <a:lstStyle/>
          <a:p>
            <a:pPr>
              <a:spcAft>
                <a:spcPts val="200"/>
              </a:spcAft>
              <a:defRPr sz="1100" b="1">
                <a:solidFill>
                  <a:srgbClr val="0F172A"/>
                </a:solidFill>
              </a:defRPr>
            </a:pPr>
            <a:r>
              <a:t>★  Formal Corporate Awards &amp; Cisco Recognition</a:t>
            </a:r>
          </a:p>
          <a:p>
            <a:pPr>
              <a:defRPr sz="900">
                <a:solidFill>
                  <a:srgbClr val="1E293B"/>
                </a:solidFill>
              </a:defRPr>
            </a:pPr>
            <a:r>
              <a:t>Received Cisco Systems Appreciation for developing the campus Facility Dashboard (2010); recognized with 3 Certificates of Appreciation at UST Global ('Inspiring People' 2018, 'Putting Client First' 2016, 'Living the Values' 2015).</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8 of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PROBLEM SOLVING &amp; ENGINEERING RIGOR</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Real-World Technical Challenges Faced &amp; Pragmatic Resolutions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72768"/>
            <a:ext cx="4389120" cy="1280160"/>
          </a:xfrm>
          <a:prstGeom prst="rect">
            <a:avLst/>
          </a:prstGeom>
          <a:noFill/>
        </p:spPr>
        <p:txBody>
          <a:bodyPr wrap="square">
            <a:spAutoFit/>
          </a:bodyPr>
          <a:lstStyle/>
          <a:p>
            <a:pPr>
              <a:spcAft>
                <a:spcPts val="300"/>
              </a:spcAft>
              <a:defRPr sz="1100" b="1">
                <a:solidFill>
                  <a:srgbClr val="0E7490"/>
                </a:solidFill>
              </a:defRPr>
            </a:pPr>
            <a:r>
              <a:t>Challenge 1: Unstable Network Connectivity in Physical Venues (Twitan / Technoyana)</a:t>
            </a:r>
          </a:p>
          <a:p>
            <a:pPr>
              <a:defRPr sz="900">
                <a:solidFill>
                  <a:srgbClr val="1E293B"/>
                </a:solidFill>
              </a:defRPr>
            </a:pPr>
            <a:r>
              <a:t>Operating live tournament arbitration in venues with crowded RF environments, intermittent Wi-Fi drops, and mobile dead-zones caused transaction failures and loss of live scores.</a:t>
            </a:r>
          </a:p>
        </p:txBody>
      </p:sp>
      <p:sp>
        <p:nvSpPr>
          <p:cNvPr id="8" name="Rectangle 7"/>
          <p:cNvSpPr/>
          <p:nvPr/>
        </p:nvSpPr>
        <p:spPr>
          <a:xfrm>
            <a:off x="5486400" y="1600200"/>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0" y="1572768"/>
            <a:ext cx="5577840" cy="1280160"/>
          </a:xfrm>
          <a:prstGeom prst="rect">
            <a:avLst/>
          </a:prstGeom>
          <a:noFill/>
        </p:spPr>
        <p:txBody>
          <a:bodyPr wrap="square">
            <a:spAutoFit/>
          </a:bodyPr>
          <a:lstStyle/>
          <a:p>
            <a:pPr>
              <a:spcAft>
                <a:spcPts val="200"/>
              </a:spcAft>
              <a:defRPr sz="1100" b="1">
                <a:solidFill>
                  <a:srgbClr val="0284C7"/>
                </a:solidFill>
              </a:defRPr>
            </a:pPr>
            <a:r>
              <a:t>Resolution Implemented:</a:t>
            </a:r>
          </a:p>
          <a:p>
            <a:pPr>
              <a:spcAft>
                <a:spcPts val="300"/>
              </a:spcAft>
              <a:defRPr sz="900">
                <a:solidFill>
                  <a:srgbClr val="1E293B"/>
                </a:solidFill>
              </a:defRPr>
            </a:pPr>
            <a:r>
              <a:t>Architected an 'Offline-First' state engine using IndexedDB client persistence and service workers. Implemented optimistic UI updates and a transactional event replay queue that automatically resynchronizes once the network reconnects.</a:t>
            </a:r>
          </a:p>
          <a:p>
            <a:pPr>
              <a:defRPr sz="900" b="1">
                <a:solidFill>
                  <a:srgbClr val="109563"/>
                </a:solidFill>
              </a:defRPr>
            </a:pPr>
            <a:r>
              <a:t>Result: Impact: 100% data preservation, zero operator workflow interruptions, seamless user experience.</a:t>
            </a:r>
          </a:p>
        </p:txBody>
      </p:sp>
      <p:sp>
        <p:nvSpPr>
          <p:cNvPr id="10" name="Rounded Rectangle 9"/>
          <p:cNvSpPr/>
          <p:nvPr/>
        </p:nvSpPr>
        <p:spPr>
          <a:xfrm>
            <a:off x="731520" y="3072384"/>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4389120" cy="1280160"/>
          </a:xfrm>
          <a:prstGeom prst="rect">
            <a:avLst/>
          </a:prstGeom>
          <a:noFill/>
        </p:spPr>
        <p:txBody>
          <a:bodyPr wrap="square">
            <a:spAutoFit/>
          </a:bodyPr>
          <a:lstStyle/>
          <a:p>
            <a:pPr>
              <a:spcAft>
                <a:spcPts val="300"/>
              </a:spcAft>
              <a:defRPr sz="1100" b="1">
                <a:solidFill>
                  <a:srgbClr val="0E7490"/>
                </a:solidFill>
              </a:defRPr>
            </a:pPr>
            <a:r>
              <a:t>Challenge 2: Clinical UI Performance &amp; Memory Leaks in 24/7 ICU Monitoring (Philips ICCA)</a:t>
            </a:r>
          </a:p>
          <a:p>
            <a:pPr>
              <a:defRPr sz="900">
                <a:solidFill>
                  <a:srgbClr val="1E293B"/>
                </a:solidFill>
              </a:defRPr>
            </a:pPr>
            <a:r>
              <a:t>Bedside patient monitors run uninterrupted for weeks. Complex real-time streaming vitals and continuous DOM updates risked browser memory accumulation and UI lag during critical clinical events.</a:t>
            </a:r>
          </a:p>
        </p:txBody>
      </p:sp>
      <p:sp>
        <p:nvSpPr>
          <p:cNvPr id="12" name="Rectangle 11"/>
          <p:cNvSpPr/>
          <p:nvPr/>
        </p:nvSpPr>
        <p:spPr>
          <a:xfrm>
            <a:off x="5486400" y="3209544"/>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3182112"/>
            <a:ext cx="5577840" cy="1280160"/>
          </a:xfrm>
          <a:prstGeom prst="rect">
            <a:avLst/>
          </a:prstGeom>
          <a:noFill/>
        </p:spPr>
        <p:txBody>
          <a:bodyPr wrap="square">
            <a:spAutoFit/>
          </a:bodyPr>
          <a:lstStyle/>
          <a:p>
            <a:pPr>
              <a:spcAft>
                <a:spcPts val="200"/>
              </a:spcAft>
              <a:defRPr sz="1100" b="1">
                <a:solidFill>
                  <a:srgbClr val="0284C7"/>
                </a:solidFill>
              </a:defRPr>
            </a:pPr>
            <a:r>
              <a:t>Resolution Implemented:</a:t>
            </a:r>
          </a:p>
          <a:p>
            <a:pPr>
              <a:spcAft>
                <a:spcPts val="300"/>
              </a:spcAft>
              <a:defRPr sz="900">
                <a:solidFill>
                  <a:srgbClr val="1E293B"/>
                </a:solidFill>
              </a:defRPr>
            </a:pPr>
            <a:r>
              <a:t>Enforced strict immutable state updates, decoupled rendering loops from data ingestion, implemented virtualized list rendering, and utilized Chrome DevTools heap profiling to systematically eliminate closure leaks.</a:t>
            </a:r>
          </a:p>
          <a:p>
            <a:pPr>
              <a:defRPr sz="900" b="1">
                <a:solidFill>
                  <a:srgbClr val="109563"/>
                </a:solidFill>
              </a:defRPr>
            </a:pPr>
            <a:r>
              <a:t>Result: Impact: Guaranteed stable 60 FPS UI rendering and flat memory profiles across multi-day continuous ICU sessions.</a:t>
            </a:r>
          </a:p>
        </p:txBody>
      </p:sp>
      <p:sp>
        <p:nvSpPr>
          <p:cNvPr id="14" name="Rounded Rectangle 13"/>
          <p:cNvSpPr/>
          <p:nvPr/>
        </p:nvSpPr>
        <p:spPr>
          <a:xfrm>
            <a:off x="731520" y="4681728"/>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4389120" cy="1280160"/>
          </a:xfrm>
          <a:prstGeom prst="rect">
            <a:avLst/>
          </a:prstGeom>
          <a:noFill/>
        </p:spPr>
        <p:txBody>
          <a:bodyPr wrap="square">
            <a:spAutoFit/>
          </a:bodyPr>
          <a:lstStyle/>
          <a:p>
            <a:pPr>
              <a:spcAft>
                <a:spcPts val="300"/>
              </a:spcAft>
              <a:defRPr sz="1100" b="1">
                <a:solidFill>
                  <a:srgbClr val="0E7490"/>
                </a:solidFill>
              </a:defRPr>
            </a:pPr>
            <a:r>
              <a:t>Challenge 3: High 3D Asset Payload &amp; Browser Lag in Web-Based 3D (SrushtiLabs / Voxelforge AI)</a:t>
            </a:r>
          </a:p>
          <a:p>
            <a:pPr>
              <a:defRPr sz="900">
                <a:solidFill>
                  <a:srgbClr val="1E293B"/>
                </a:solidFill>
              </a:defRPr>
            </a:pPr>
            <a:r>
              <a:t>Delivering detailed 3D models over the web created large download sizes, long initialization times, and frame drops on lower-spec client laptops and mobile devices.</a:t>
            </a:r>
          </a:p>
        </p:txBody>
      </p:sp>
      <p:sp>
        <p:nvSpPr>
          <p:cNvPr id="16" name="Rectangle 15"/>
          <p:cNvSpPr/>
          <p:nvPr/>
        </p:nvSpPr>
        <p:spPr>
          <a:xfrm>
            <a:off x="5486400" y="4818888"/>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4791456"/>
            <a:ext cx="5577840" cy="1280160"/>
          </a:xfrm>
          <a:prstGeom prst="rect">
            <a:avLst/>
          </a:prstGeom>
          <a:noFill/>
        </p:spPr>
        <p:txBody>
          <a:bodyPr wrap="square">
            <a:spAutoFit/>
          </a:bodyPr>
          <a:lstStyle/>
          <a:p>
            <a:pPr>
              <a:spcAft>
                <a:spcPts val="200"/>
              </a:spcAft>
              <a:defRPr sz="1100" b="1">
                <a:solidFill>
                  <a:srgbClr val="0284C7"/>
                </a:solidFill>
              </a:defRPr>
            </a:pPr>
            <a:r>
              <a:t>Resolution Implemented:</a:t>
            </a:r>
          </a:p>
          <a:p>
            <a:pPr>
              <a:spcAft>
                <a:spcPts val="300"/>
              </a:spcAft>
              <a:defRPr sz="900">
                <a:solidFill>
                  <a:srgbClr val="1E293B"/>
                </a:solidFill>
              </a:defRPr>
            </a:pPr>
            <a:r>
              <a:t>Developed automated retopology workflows (ayam3d) to decimate unnecessary polygons while preserving silhouette geometry; baked normal maps and bundled assets into lightweight modular formats for WebGL.</a:t>
            </a:r>
          </a:p>
          <a:p>
            <a:pPr>
              <a:defRPr sz="900" b="1">
                <a:solidFill>
                  <a:srgbClr val="109563"/>
                </a:solidFill>
              </a:defRPr>
            </a:pPr>
            <a:r>
              <a:t>Result: Impact: Reduced 3D model payload sizes by up to 75%, enabling instant in-browser loading and smooth real-time manipulation.</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9 of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050" b="1">
                <a:solidFill>
                  <a:srgbClr val="0E7490"/>
                </a:solidFill>
              </a:defRPr>
            </a:pPr>
            <a:r>
              <a:t>ENGINEERING PHILOSOPHY</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72A"/>
                </a:solidFill>
              </a:defRPr>
            </a:pPr>
            <a:r>
              <a:t>Lessons Learned &amp; Core Engineering Best Practices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6304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572768"/>
            <a:ext cx="10149840" cy="868680"/>
          </a:xfrm>
          <a:prstGeom prst="rect">
            <a:avLst/>
          </a:prstGeom>
          <a:noFill/>
        </p:spPr>
        <p:txBody>
          <a:bodyPr wrap="square">
            <a:spAutoFit/>
          </a:bodyPr>
          <a:lstStyle/>
          <a:p>
            <a:pPr>
              <a:spcAft>
                <a:spcPts val="400"/>
              </a:spcAft>
              <a:defRPr sz="1200" b="1">
                <a:solidFill>
                  <a:srgbClr val="0F172A"/>
                </a:solidFill>
              </a:defRPr>
            </a:pPr>
            <a:r>
              <a:t>1. Involve Users Early Through Rapid Prototypes &amp; Iterative Feedback</a:t>
            </a:r>
          </a:p>
          <a:p>
            <a:pPr>
              <a:defRPr sz="950">
                <a:solidFill>
                  <a:srgbClr val="1E293B"/>
                </a:solidFill>
              </a:defRPr>
            </a:pPr>
            <a:r>
              <a:t>From my days establishing design-to-code pipelines at ThoughtFocus to architecting clinical modules at Cyient, building early interactive prototypes with real users uncovers fundamental workflow flaws before expensive engineering code is written.</a:t>
            </a:r>
          </a:p>
        </p:txBody>
      </p:sp>
      <p:sp>
        <p:nvSpPr>
          <p:cNvPr id="9" name="Rounded Rectangle 8"/>
          <p:cNvSpPr/>
          <p:nvPr/>
        </p:nvSpPr>
        <p:spPr>
          <a:xfrm>
            <a:off x="731520" y="265176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61488"/>
            <a:ext cx="10149840" cy="868680"/>
          </a:xfrm>
          <a:prstGeom prst="rect">
            <a:avLst/>
          </a:prstGeom>
          <a:noFill/>
        </p:spPr>
        <p:txBody>
          <a:bodyPr wrap="square">
            <a:spAutoFit/>
          </a:bodyPr>
          <a:lstStyle/>
          <a:p>
            <a:pPr>
              <a:spcAft>
                <a:spcPts val="400"/>
              </a:spcAft>
              <a:defRPr sz="1200" b="1">
                <a:solidFill>
                  <a:srgbClr val="0F172A"/>
                </a:solidFill>
              </a:defRPr>
            </a:pPr>
            <a:r>
              <a:t>2. Design for Real-World Edge Conditions, Not Ideal Lab Environments</a:t>
            </a:r>
          </a:p>
          <a:p>
            <a:pPr>
              <a:defRPr sz="950">
                <a:solidFill>
                  <a:srgbClr val="1E293B"/>
                </a:solidFill>
              </a:defRPr>
            </a:pPr>
            <a:r>
              <a:t>Software rarely operates in perfect network and hardware conditions. Building applications with offline caching, graceful degradation, and asynchronous retry logic ensures systems remain reliable whether on a hospital floor, sports arena, or remote field office.</a:t>
            </a:r>
          </a:p>
        </p:txBody>
      </p:sp>
      <p:sp>
        <p:nvSpPr>
          <p:cNvPr id="12" name="Rounded Rectangle 11"/>
          <p:cNvSpPr/>
          <p:nvPr/>
        </p:nvSpPr>
        <p:spPr>
          <a:xfrm>
            <a:off x="731520" y="384048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950208"/>
            <a:ext cx="10149840" cy="868680"/>
          </a:xfrm>
          <a:prstGeom prst="rect">
            <a:avLst/>
          </a:prstGeom>
          <a:noFill/>
        </p:spPr>
        <p:txBody>
          <a:bodyPr wrap="square">
            <a:spAutoFit/>
          </a:bodyPr>
          <a:lstStyle/>
          <a:p>
            <a:pPr>
              <a:spcAft>
                <a:spcPts val="400"/>
              </a:spcAft>
              <a:defRPr sz="1200" b="1">
                <a:solidFill>
                  <a:srgbClr val="0F172A"/>
                </a:solidFill>
              </a:defRPr>
            </a:pPr>
            <a:r>
              <a:t>3. Standardize Design Systems &amp; Component Libraries to Prevent Technical Debt</a:t>
            </a:r>
          </a:p>
          <a:p>
            <a:pPr>
              <a:defRPr sz="950">
                <a:solidFill>
                  <a:srgbClr val="1E293B"/>
                </a:solidFill>
              </a:defRPr>
            </a:pPr>
            <a:r>
              <a:t>Re-inventing UI components across teams leads to inconsistent user experiences and bloated maintenance. Investing upfront in unified, framework-agnostic design systems (as demonstrated at Moonraft with LitElement) dramatically accelerates organizational velocity.</a:t>
            </a:r>
          </a:p>
        </p:txBody>
      </p:sp>
      <p:sp>
        <p:nvSpPr>
          <p:cNvPr id="15" name="Rounded Rectangle 14"/>
          <p:cNvSpPr/>
          <p:nvPr/>
        </p:nvSpPr>
        <p:spPr>
          <a:xfrm>
            <a:off x="731520" y="502920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029200"/>
            <a:ext cx="109728" cy="1051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10149840" cy="868680"/>
          </a:xfrm>
          <a:prstGeom prst="rect">
            <a:avLst/>
          </a:prstGeom>
          <a:noFill/>
        </p:spPr>
        <p:txBody>
          <a:bodyPr wrap="square">
            <a:spAutoFit/>
          </a:bodyPr>
          <a:lstStyle/>
          <a:p>
            <a:pPr>
              <a:spcAft>
                <a:spcPts val="400"/>
              </a:spcAft>
              <a:defRPr sz="1200" b="1">
                <a:solidFill>
                  <a:srgbClr val="0F172A"/>
                </a:solidFill>
              </a:defRPr>
            </a:pPr>
            <a:r>
              <a:t>4. Ground Technology Decisions in Concrete Business &amp; Human Impact</a:t>
            </a:r>
          </a:p>
          <a:p>
            <a:pPr>
              <a:defRPr sz="950">
                <a:solidFill>
                  <a:srgbClr val="1E293B"/>
                </a:solidFill>
              </a:defRPr>
            </a:pPr>
            <a:r>
              <a:t>Technology is a vehicle for solving human problems. Whether building spatial AI tools (Voxelforge AI), sports arbitration engines (Twitan), or ICU monitoring (Philips), the ultimate metric of success is operational simplicity, reliability, and tangible value to the user.</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Maheshchandra Hegde · Technical Work Experience &amp; Capability Presentation | Slide 10 of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371600"/>
            <a:ext cx="10728655" cy="4754880"/>
          </a:xfrm>
          <a:prstGeom prst="roundRect">
            <a:avLst/>
          </a:prstGeom>
          <a:solidFill>
            <a:srgbClr val="18223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691640"/>
            <a:ext cx="9814255" cy="4114800"/>
          </a:xfrm>
          <a:prstGeom prst="rect">
            <a:avLst/>
          </a:prstGeom>
          <a:noFill/>
        </p:spPr>
        <p:txBody>
          <a:bodyPr wrap="square">
            <a:spAutoFit/>
          </a:bodyPr>
          <a:lstStyle/>
          <a:p>
            <a:pPr>
              <a:spcAft>
                <a:spcPts val="400"/>
              </a:spcAft>
              <a:defRPr sz="1150" b="1">
                <a:solidFill>
                  <a:srgbClr val="38BDF8"/>
                </a:solidFill>
              </a:defRPr>
            </a:pPr>
            <a:r>
              <a:t>VISION FOR FUTURE PROCESS IMPROVEMENTS &amp; SCALE</a:t>
            </a:r>
          </a:p>
          <a:p>
            <a:pPr>
              <a:spcAft>
                <a:spcPts val="1200"/>
              </a:spcAft>
              <a:defRPr sz="2100" b="1">
                <a:solidFill>
                  <a:srgbClr val="FFFFFF"/>
                </a:solidFill>
              </a:defRPr>
            </a:pPr>
            <a:r>
              <a:t>Leveraging Proven Expertise in Scalable Systems, UX &amp; Spatial Tech</a:t>
            </a:r>
          </a:p>
          <a:p>
            <a:pPr>
              <a:defRPr b="1" sz="1050">
                <a:solidFill>
                  <a:srgbClr val="38BDF8"/>
                </a:solidFill>
              </a:defRPr>
            </a:pPr>
            <a:r>
              <a:t>• Unified Spatial &amp; Web Integration: </a:t>
            </a:r>
          </a:p>
          <a:p>
            <a:pPr>
              <a:spcAft>
                <a:spcPts val="600"/>
              </a:spcAft>
              <a:defRPr sz="950">
                <a:solidFill>
                  <a:srgbClr val="CBD5E1"/>
                </a:solidFill>
              </a:defRPr>
            </a:pPr>
            <a:r>
              <a:t>  Bridge complex 3D CAD, architectural models, and spatial data into lightweight, interactive web formats using progressive LOD and automated retopology (leveraging Voxelforge AI / ayam3d principles).</a:t>
            </a:r>
          </a:p>
          <a:p>
            <a:pPr>
              <a:defRPr b="1" sz="1050">
                <a:solidFill>
                  <a:srgbClr val="38BDF8"/>
                </a:solidFill>
              </a:defRPr>
            </a:pPr>
            <a:r>
              <a:t>• Resilient Edge-First Mobile Workflows: </a:t>
            </a:r>
          </a:p>
          <a:p>
            <a:pPr>
              <a:spcAft>
                <a:spcPts val="600"/>
              </a:spcAft>
              <a:defRPr sz="950">
                <a:solidFill>
                  <a:srgbClr val="CBD5E1"/>
                </a:solidFill>
              </a:defRPr>
            </a:pPr>
            <a:r>
              <a:t>  Implement offline-first client persistence and background transactional queuing across field-facing mobile applications, ensuring zero work loss regardless of remote connectivity challenges.</a:t>
            </a:r>
          </a:p>
          <a:p>
            <a:pPr>
              <a:defRPr b="1" sz="1050">
                <a:solidFill>
                  <a:srgbClr val="38BDF8"/>
                </a:solidFill>
              </a:defRPr>
            </a:pPr>
            <a:r>
              <a:t>• Standardized Enterprise Design Systems: </a:t>
            </a:r>
          </a:p>
          <a:p>
            <a:pPr>
              <a:spcAft>
                <a:spcPts val="600"/>
              </a:spcAft>
              <a:defRPr sz="950">
                <a:solidFill>
                  <a:srgbClr val="CBD5E1"/>
                </a:solidFill>
              </a:defRPr>
            </a:pPr>
            <a:r>
              <a:t>  Establish centralized, cross-platform component libraries and design tokens to streamline multi-team digital product delivery, enforce visual consistency, and eliminate duplicated engineering effort.</a:t>
            </a:r>
          </a:p>
          <a:p>
            <a:pPr>
              <a:defRPr b="1" sz="1050">
                <a:solidFill>
                  <a:srgbClr val="38BDF8"/>
                </a:solidFill>
              </a:defRPr>
            </a:pPr>
            <a:r>
              <a:t>• AI-Assisted Prototyping &amp; Development: </a:t>
            </a:r>
          </a:p>
          <a:p>
            <a:pPr>
              <a:spcAft>
                <a:spcPts val="600"/>
              </a:spcAft>
              <a:defRPr sz="950">
                <a:solidFill>
                  <a:srgbClr val="CBD5E1"/>
                </a:solidFill>
              </a:defRPr>
            </a:pPr>
            <a:r>
              <a:t>  Incorporate generative AI and automation tools into early product discovery and asset creation pipelines, cutting design-to-code iteration cycles by 40%.</a:t>
            </a:r>
          </a:p>
          <a:p>
            <a:br/>
            <a:pPr>
              <a:defRPr sz="1100" b="1">
                <a:solidFill>
                  <a:srgbClr val="FFFFFF"/>
                </a:solidFill>
              </a:defRPr>
            </a:pPr>
            <a:r>
              <a:t>Maheshchandra Hegde  |  hid.mahesh@gmail.com  |  +91 9535253329 / 7022407280  |  hegdemahesh.in</a:t>
            </a:r>
          </a:p>
        </p:txBody>
      </p:sp>
      <p:sp>
        <p:nvSpPr>
          <p:cNvPr id="5" name="TextBox 4"/>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Maheshchandra Hegde · Technical Work Experience &amp; Capability Presentation | Slide 11 of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