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heshForResu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77240"/>
            <a:ext cx="2926080" cy="3566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526280"/>
            <a:ext cx="2926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1F5F9"/>
                </a:solidFill>
              </a:defRPr>
            </a:pPr>
            <a:r>
              <a:t>Bangalore, India</a:t>
            </a:r>
          </a:p>
          <a:p>
            <a:pPr>
              <a:spcAft>
                <a:spcPts val="400"/>
              </a:spcAft>
              <a:defRPr sz="1150">
                <a:solidFill>
                  <a:srgbClr val="CBD5E1"/>
                </a:solidFill>
              </a:defRPr>
            </a:pPr>
            <a:r>
              <a:t>+91 9535253329 / 7022407280</a:t>
            </a:r>
          </a:p>
          <a:p>
            <a:pPr>
              <a:spcAft>
                <a:spcPts val="400"/>
              </a:spcAft>
              <a:defRPr sz="1150">
                <a:solidFill>
                  <a:srgbClr val="38BDF8"/>
                </a:solidFill>
              </a:defRPr>
            </a:pPr>
            <a:r>
              <a:t>hid.mahesh@gmail.com</a:t>
            </a:r>
          </a:p>
          <a:p>
            <a:pPr>
              <a:spcAft>
                <a:spcPts val="300"/>
              </a:spcAft>
              <a:defRPr sz="1100" b="1">
                <a:solidFill>
                  <a:srgbClr val="38BDF8"/>
                </a:solidFill>
              </a:defRPr>
            </a:pPr>
            <a:r>
              <a:t>hegdemahesh.in</a:t>
            </a:r>
          </a:p>
          <a:p>
            <a:pPr>
              <a:defRPr sz="1050">
                <a:solidFill>
                  <a:srgbClr val="38BDF8"/>
                </a:solidFill>
              </a:defRPr>
            </a:pPr>
            <a:r>
              <a:t>linkedin.com/in/maheshchandrahegde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749808"/>
            <a:ext cx="7479792" cy="5577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FFFFF"/>
                </a:solidFill>
              </a:defRPr>
            </a:pPr>
            <a:r>
              <a:t>Maheshchandra Hegde</a:t>
            </a:r>
          </a:p>
          <a:p>
            <a:pPr>
              <a:spcAft>
                <a:spcPts val="1400"/>
              </a:spcAft>
              <a:defRPr sz="1350" b="1">
                <a:solidFill>
                  <a:srgbClr val="38BDF8"/>
                </a:solidFill>
              </a:defRPr>
            </a:pPr>
            <a:r>
              <a:t>Founder &amp; Technology Leader at Technoayan Digital Transformation Services Pvt. Ltd. | Building AI‑driven 3D asset platforms and 3d computing solutions @srushtilabs.com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Innovative technologist and product strategist with 18+ years of experience architecting end-to-end digital products, interactive 3D experiences, and domain-specific SaaS platforms. Co-Founder and Technology Leader at Technoyana Digital Transformation Services Pvt. Ltd., driving product architecture, cloud scalability, and creative technical vision.</a:t>
            </a:r>
            <a:br/>
            <a:br/>
            <a:r>
              <a:t>Expertise spans modern web/mobile application stacks (React, TypeScript, Angular, Web Components, Node.js, Firebase/GCP, AWS), interactive 3D/PBR pipelines, real-time spatial computing, and design-to-code automation across both high-velocity startups and mission-critical enterprise 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Maheshchandra Hegde · Technical Work Experience Presentation | Slide 1 of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Technoyana &amp; SrushtiLabs: Generative 3D Platforms &amp; Spatial Computing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5120640" cy="4892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300" b="1">
                <a:solidFill>
                  <a:srgbClr val="0F172A"/>
                </a:solidFill>
              </a:defRPr>
            </a:pPr>
            <a:r>
              <a:t>Voxelforge AI</a:t>
            </a:r>
          </a:p>
          <a:p>
            <a:pPr>
              <a:spcAft>
                <a:spcPts val="1400"/>
              </a:spcAft>
              <a:defRPr sz="1300" b="1">
                <a:solidFill>
                  <a:srgbClr val="0E7490"/>
                </a:solidFill>
              </a:defRPr>
            </a:pPr>
            <a:r>
              <a:t>Modular 3D Generative AI Platform | srushtilabs.com/voxelforge/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Role &amp; Entity: </a:t>
            </a:r>
            <a:r>
              <a:rPr b="0" sz="1200">
                <a:solidFill>
                  <a:srgbClr val="475569"/>
                </a:solidFill>
              </a:rPr>
              <a:t>Founder &amp; CTO at SrushtiLabs (Technoyana Digital Transformation Services Pvt. Ltd.).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Core Product: </a:t>
            </a:r>
            <a:r>
              <a:rPr b="0" sz="1200">
                <a:solidFill>
                  <a:srgbClr val="475569"/>
                </a:solidFill>
              </a:rPr>
              <a:t>Developed Voxelforge AI, a generative AI product creating modular 3D assets based on user prompt inputs.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Gaming &amp; Visualization: </a:t>
            </a:r>
            <a:r>
              <a:rPr b="0" sz="1200">
                <a:solidFill>
                  <a:srgbClr val="475569"/>
                </a:solidFill>
              </a:rPr>
              <a:t>Produces game-ready, low-poly modular 3D models and bundles optimized for immediate integration into Unreal Engine, Unity, and real-time WebGL engines.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Prototyping Speed: </a:t>
            </a:r>
            <a:r>
              <a:rPr b="0" sz="1200">
                <a:solidFill>
                  <a:srgbClr val="475569"/>
                </a:solidFill>
              </a:rPr>
              <a:t>Automates prompt-to-3D geometry conversion, texture baking, and polygon reduction, cutting 3D asset turnaround from days to minutes.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Live Application: </a:t>
            </a:r>
            <a:r>
              <a:rPr b="0" sz="1200">
                <a:solidFill>
                  <a:srgbClr val="475569"/>
                </a:solidFill>
              </a:rPr>
              <a:t>Fully deployed and operational at srushtilabs.com/voxelforge/.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89888"/>
            <a:ext cx="5120640" cy="4892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300" b="1">
                <a:solidFill>
                  <a:srgbClr val="0F172A"/>
                </a:solidFill>
              </a:defRPr>
            </a:pPr>
            <a:r>
              <a:t>Ayam3d (Ayam = Dimension)</a:t>
            </a:r>
          </a:p>
          <a:p>
            <a:pPr>
              <a:spcAft>
                <a:spcPts val="1400"/>
              </a:spcAft>
              <a:defRPr sz="1300" b="1">
                <a:solidFill>
                  <a:srgbClr val="0284C7"/>
                </a:solidFill>
              </a:defRPr>
            </a:pPr>
            <a:r>
              <a:t>Parametric AI 3D Model Generation | ayam3d.in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Concept &amp; Vision: </a:t>
            </a:r>
            <a:r>
              <a:rPr b="0" sz="1200">
                <a:solidFill>
                  <a:srgbClr val="475569"/>
                </a:solidFill>
              </a:rPr>
              <a:t>Extended the Voxelforge concept into Ayam3d ('Ayam' meaning Dimension), focusing on parametric-based 3D model generation from natural language prompts.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Instant Generation: </a:t>
            </a:r>
            <a:r>
              <a:rPr b="0" sz="1200">
                <a:solidFill>
                  <a:srgbClr val="475569"/>
                </a:solidFill>
              </a:rPr>
              <a:t>Emphasizes generating structured 3D models in seconds utilizing custom trained AI models and geometric constraint solvers.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Investor Interest: </a:t>
            </a:r>
            <a:r>
              <a:rPr b="0" sz="1200">
                <a:solidFill>
                  <a:srgbClr val="475569"/>
                </a:solidFill>
              </a:rPr>
              <a:t>Successfully generated early investor interest, validating the market demand for real-time generative 3D synthesis.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Active Development: </a:t>
            </a:r>
            <a:r>
              <a:rPr b="0" sz="1200">
                <a:solidFill>
                  <a:srgbClr val="475569"/>
                </a:solidFill>
              </a:rPr>
              <a:t>Currently under active development; actively seeking partners and promoters to help scale the AI pipeline.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Application Reference: </a:t>
            </a:r>
            <a:r>
              <a:rPr b="0" sz="1200">
                <a:solidFill>
                  <a:srgbClr val="475569"/>
                </a:solidFill>
              </a:rPr>
              <a:t>Preliminary concept documentation available at ayam3d.in.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Maheshchandra Hegde · Technical Work Experience Presentation | Slide 2 of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Cyient / PHILIPS: Intellispace Critical Care &amp; Anesthesia (ICCA)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4206240" cy="4892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300" b="1">
                <a:solidFill>
                  <a:srgbClr val="0F172A"/>
                </a:solidFill>
              </a:defRPr>
            </a:pPr>
            <a:r>
              <a:t>Philips ICCA</a:t>
            </a:r>
          </a:p>
          <a:p>
            <a:pPr>
              <a:spcAft>
                <a:spcPts val="1400"/>
              </a:spcAft>
              <a:defRPr sz="1300" b="1">
                <a:solidFill>
                  <a:srgbClr val="0E7490"/>
                </a:solidFill>
              </a:defRPr>
            </a:pPr>
            <a:r>
              <a:t>Intellispace Critical Care &amp; Anesthesia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•  Role: </a:t>
            </a:r>
            <a:r>
              <a:rPr b="0" sz="1200">
                <a:solidFill>
                  <a:srgbClr val="475569"/>
                </a:solidFill>
              </a:rPr>
              <a:t>Senior Technology Leader (React / NodeJS)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•  Tenure: </a:t>
            </a:r>
            <a:r>
              <a:rPr b="0" sz="1200">
                <a:solidFill>
                  <a:srgbClr val="475569"/>
                </a:solidFill>
              </a:rPr>
              <a:t>Nov 2023 – Mar 2025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•  Client &amp; Facility: </a:t>
            </a:r>
            <a:r>
              <a:rPr b="0" sz="1200">
                <a:solidFill>
                  <a:srgbClr val="475569"/>
                </a:solidFill>
              </a:rPr>
              <a:t>Cyient Limited for Philips Healthcare, Bangalore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•  Operational Reality: </a:t>
            </a:r>
            <a:r>
              <a:rPr b="0" sz="1200">
                <a:solidFill>
                  <a:srgbClr val="475569"/>
                </a:solidFill>
              </a:rPr>
              <a:t>Mission-critical hospital ICU and anesthesia suites operating continuously 24/7 with zero margin for error.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•  Delivery Mandate: </a:t>
            </a:r>
            <a:r>
              <a:rPr b="0" sz="1200">
                <a:solidFill>
                  <a:srgbClr val="475569"/>
                </a:solidFill>
              </a:rPr>
              <a:t>Delivered clinical software passing all stringent quality, reliability, and security gates established by Philips and hospital networks.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389888"/>
            <a:ext cx="6126480" cy="4892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0284C7"/>
                </a:solidFill>
              </a:defRPr>
            </a:pPr>
            <a:r>
              <a:t>1. Rigorous Quality Benchmarks &amp; Zero-Downtime Reliability</a:t>
            </a:r>
          </a:p>
          <a:p>
            <a:pPr>
              <a:spcAft>
                <a:spcPts val="1600"/>
              </a:spcAft>
              <a:defRPr sz="1200">
                <a:solidFill>
                  <a:srgbClr val="1E293B"/>
                </a:solidFill>
              </a:defRPr>
            </a:pPr>
            <a:r>
              <a:t>Successfully delivered the software to meet demanding medical quality requirements set by Philips and healthcare providers. Architected fail-safe clinical data rendering with zero memory leaks, ensuring bedside patient monitoring displays remain completely responsive across multi-day continuous operations.</a:t>
            </a:r>
          </a:p>
          <a:p>
            <a:pPr>
              <a:spcAft>
                <a:spcPts val="400"/>
              </a:spcAft>
              <a:defRPr sz="1450" b="1">
                <a:solidFill>
                  <a:srgbClr val="0284C7"/>
                </a:solidFill>
              </a:defRPr>
            </a:pPr>
            <a:r>
              <a:t>2. Comprehensive Security Architecture &amp; Policy Enforcement</a:t>
            </a:r>
          </a:p>
          <a:p>
            <a:pPr>
              <a:spcAft>
                <a:spcPts val="1600"/>
              </a:spcAft>
              <a:defRPr sz="1200">
                <a:solidFill>
                  <a:srgbClr val="1E293B"/>
                </a:solidFill>
              </a:defRPr>
            </a:pPr>
            <a:r>
              <a:t>Enforced strict enterprise cybersecurity measures as per Philips global policies: integrated Multi-Factor Authentication (MFA), protected against Cross-Site Scripting (XSS) and injection vulnerabilities, enforced role-based access control (RBAC), and maintained immutable audit logs for sensitive patient medical data.</a:t>
            </a:r>
          </a:p>
          <a:p>
            <a:pPr>
              <a:spcAft>
                <a:spcPts val="400"/>
              </a:spcAft>
              <a:defRPr sz="1450" b="1">
                <a:solidFill>
                  <a:srgbClr val="0284C7"/>
                </a:solidFill>
              </a:defRPr>
            </a:pPr>
            <a:r>
              <a:t>3. End-to-End Best Practices &amp; Scalable Modular Delivery</a:t>
            </a:r>
          </a:p>
          <a:p>
            <a:pPr>
              <a:spcAft>
                <a:spcPts val="1600"/>
              </a:spcAft>
              <a:defRPr sz="1200">
                <a:solidFill>
                  <a:srgbClr val="1E293B"/>
                </a:solidFill>
              </a:defRPr>
            </a:pPr>
            <a:r>
              <a:t>Led the end-to-end technical execution—from architectural design and modular component breakdown to automated test suites and production deployment. Delivered a fully supported software product backed by complete documentation and service support protocols.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Maheshchandra Hegde · Technical Work Experience Presentation | Slide 3 of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Ness Digital Engineering &amp; Moonraft Innovation Labs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5120640" cy="4892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300" b="1">
                <a:solidFill>
                  <a:srgbClr val="0F172A"/>
                </a:solidFill>
              </a:defRPr>
            </a:pPr>
            <a:r>
              <a:t>Ness Digital Engineering</a:t>
            </a:r>
          </a:p>
          <a:p>
            <a:pPr>
              <a:spcAft>
                <a:spcPts val="1400"/>
              </a:spcAft>
              <a:defRPr sz="1300" b="1">
                <a:solidFill>
                  <a:srgbClr val="0E7490"/>
                </a:solidFill>
              </a:defRPr>
            </a:pPr>
            <a:r>
              <a:t>Senior Analyst / Tech Lead | Oct 2019 – Apr 2020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Project Focus: </a:t>
            </a:r>
            <a:r>
              <a:rPr b="0" sz="1200">
                <a:solidFill>
                  <a:srgbClr val="475569"/>
                </a:solidFill>
              </a:rPr>
              <a:t>Entertainment Management Application for a major client.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Technology Stack: </a:t>
            </a:r>
            <a:r>
              <a:rPr b="0" sz="1200">
                <a:solidFill>
                  <a:srgbClr val="475569"/>
                </a:solidFill>
              </a:rPr>
              <a:t>Angular, TypeScript, AWS cloud infrastructure, Node.js.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System Architecture: </a:t>
            </a:r>
            <a:r>
              <a:rPr b="0" sz="1200">
                <a:solidFill>
                  <a:srgbClr val="475569"/>
                </a:solidFill>
              </a:rPr>
              <a:t>Architected the complete single-page application structure, establishing clean state management and secure API communication layers.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Standards &amp; Best Practices: </a:t>
            </a:r>
            <a:r>
              <a:rPr b="0" sz="1200">
                <a:solidFill>
                  <a:srgbClr val="475569"/>
                </a:solidFill>
              </a:rPr>
              <a:t>Enforced accessibility standards (WCAG), code quality linters, and strict frontend security guidelines across the engineering team.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Technical Leadership: </a:t>
            </a:r>
            <a:r>
              <a:rPr b="0" sz="1200">
                <a:solidFill>
                  <a:srgbClr val="475569"/>
                </a:solidFill>
              </a:rPr>
              <a:t>Led the development squad through agile sprints, code reviews, and end-to-end technical deployment to client environments on schedule.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89888"/>
            <a:ext cx="5120640" cy="4892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300" b="1">
                <a:solidFill>
                  <a:srgbClr val="0F172A"/>
                </a:solidFill>
              </a:defRPr>
            </a:pPr>
            <a:r>
              <a:t>Moonraft Innovation Labs</a:t>
            </a:r>
          </a:p>
          <a:p>
            <a:pPr>
              <a:spcAft>
                <a:spcPts val="1400"/>
              </a:spcAft>
              <a:defRPr sz="1300" b="1">
                <a:solidFill>
                  <a:srgbClr val="0284C7"/>
                </a:solidFill>
              </a:defRPr>
            </a:pPr>
            <a:r>
              <a:t>UI Architect | May 2019 – Jul 2019 (UST Global Specialized Unit)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Enterprise Design System: </a:t>
            </a:r>
            <a:r>
              <a:rPr b="0" sz="1200">
                <a:solidFill>
                  <a:srgbClr val="475569"/>
                </a:solidFill>
              </a:rPr>
              <a:t>Architected and engineered a centralized cross-framework UI Design System using LitElement Web Components, React, AngularJS, Node.js, and npm packaging.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Eliminated Duplication: </a:t>
            </a:r>
            <a:r>
              <a:rPr b="0" sz="1200">
                <a:solidFill>
                  <a:srgbClr val="475569"/>
                </a:solidFill>
              </a:rPr>
              <a:t>Stored all standardized UI components in a central repository, preventing teams from reinventing the wheel for new client projects.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Unified Look &amp; Feel: </a:t>
            </a:r>
            <a:r>
              <a:rPr b="0" sz="1200">
                <a:solidFill>
                  <a:srgbClr val="475569"/>
                </a:solidFill>
              </a:rPr>
              <a:t>Guaranteed visual consistency and brand coherence across all digital products from a single, shared codebase.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Automated Upgradability: </a:t>
            </a:r>
            <a:r>
              <a:rPr b="0" sz="1200">
                <a:solidFill>
                  <a:srgbClr val="475569"/>
                </a:solidFill>
              </a:rPr>
              <a:t>When the core component library is updated, client projects automatically inherit updates and enhancements via standard package management.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Luxury Hotel Mobile App: </a:t>
            </a:r>
            <a:r>
              <a:rPr b="0" sz="1200">
                <a:solidFill>
                  <a:srgbClr val="475569"/>
                </a:solidFill>
              </a:rPr>
              <a:t>Led mobile application development for a premier Indian hotel group (TLC Group of Hotels) built using Ionic and Angular.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Maheshchandra Hegde · Technical Work Experience Presentation | Slide 4 of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UST Global / CISCO: Stadium Vision Director Migration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4206240" cy="4892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300" b="1">
                <a:solidFill>
                  <a:srgbClr val="0F172A"/>
                </a:solidFill>
              </a:defRPr>
            </a:pPr>
            <a:r>
              <a:t>Cisco Stadium Vision</a:t>
            </a:r>
          </a:p>
          <a:p>
            <a:pPr>
              <a:spcAft>
                <a:spcPts val="1400"/>
              </a:spcAft>
              <a:defRPr sz="1300" b="1">
                <a:solidFill>
                  <a:srgbClr val="0E7490"/>
                </a:solidFill>
              </a:defRPr>
            </a:pPr>
            <a:r>
              <a:t>Stadium Vision Director Enterprise Platform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•  Role: </a:t>
            </a:r>
            <a:r>
              <a:rPr b="0" sz="1200">
                <a:solidFill>
                  <a:srgbClr val="475569"/>
                </a:solidFill>
              </a:rPr>
              <a:t>Senior Analyst &amp; Associate Project Manager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•  Tenure: </a:t>
            </a:r>
            <a:r>
              <a:rPr b="0" sz="1200">
                <a:solidFill>
                  <a:srgbClr val="475569"/>
                </a:solidFill>
              </a:rPr>
              <a:t>Feb 2015 – Feb 2019 (4+ Years Dedicated Tenure)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•  Client: </a:t>
            </a:r>
            <a:r>
              <a:rPr b="0" sz="1200">
                <a:solidFill>
                  <a:srgbClr val="475569"/>
                </a:solidFill>
              </a:rPr>
              <a:t>Cisco Systems India Private Limited via UST Global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•  Product Scope: </a:t>
            </a:r>
            <a:r>
              <a:rPr b="0" sz="1200">
                <a:solidFill>
                  <a:srgbClr val="475569"/>
                </a:solidFill>
              </a:rPr>
              <a:t>Centralized digital media, live video distribution, and dynamic stadium display management deployed at major international sporting arenas.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•  Core Mandate: </a:t>
            </a:r>
            <a:r>
              <a:rPr b="0" sz="1200">
                <a:solidFill>
                  <a:srgbClr val="475569"/>
                </a:solidFill>
              </a:rPr>
              <a:t>Modernize a massive legacy application suite with numerous active sub-applications and active global customers.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389888"/>
            <a:ext cx="6126480" cy="4892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0284C7"/>
                </a:solidFill>
              </a:defRPr>
            </a:pPr>
            <a:r>
              <a:t>1. Phased Zero-Downtime Migration from Legacy Flash/Flex</a:t>
            </a:r>
          </a:p>
          <a:p>
            <a:pPr>
              <a:spcAft>
                <a:spcPts val="1600"/>
              </a:spcAft>
              <a:defRPr sz="1200">
                <a:solidFill>
                  <a:srgbClr val="1E293B"/>
                </a:solidFill>
              </a:defRPr>
            </a:pPr>
            <a:r>
              <a:t>The platform was originally built using Adobe Flash, Flex, and ActionScript. Took technical leadership in architecting and executing a phased migration to modern Angular and React modules without interrupting active stadium operations or breaking existing client workflows.</a:t>
            </a:r>
          </a:p>
          <a:p>
            <a:pPr>
              <a:spcAft>
                <a:spcPts val="400"/>
              </a:spcAft>
              <a:defRPr sz="1450" b="1">
                <a:solidFill>
                  <a:srgbClr val="0284C7"/>
                </a:solidFill>
              </a:defRPr>
            </a:pPr>
            <a:r>
              <a:t>2. Hybrid Interoperability &amp; Multi-Stack Engineering</a:t>
            </a:r>
          </a:p>
          <a:p>
            <a:pPr>
              <a:spcAft>
                <a:spcPts val="1600"/>
              </a:spcAft>
              <a:defRPr sz="1200">
                <a:solidFill>
                  <a:srgbClr val="1E293B"/>
                </a:solidFill>
              </a:defRPr>
            </a:pPr>
            <a:r>
              <a:t>Maintained seamless interoperability between legacy components and modernized Single Page Application (SPA) modules using TypeScript, Angular, React, and Node.js backend services until complete deprecation was achieved.</a:t>
            </a:r>
          </a:p>
          <a:p>
            <a:pPr>
              <a:spcAft>
                <a:spcPts val="400"/>
              </a:spcAft>
              <a:defRPr sz="1450" b="1">
                <a:solidFill>
                  <a:srgbClr val="0284C7"/>
                </a:solidFill>
              </a:defRPr>
            </a:pPr>
            <a:r>
              <a:t>3. Sub-Application Management &amp; Sustained Excellence</a:t>
            </a:r>
          </a:p>
          <a:p>
            <a:pPr>
              <a:spcAft>
                <a:spcPts val="1600"/>
              </a:spcAft>
              <a:defRPr sz="1200">
                <a:solidFill>
                  <a:srgbClr val="1E293B"/>
                </a:solidFill>
              </a:defRPr>
            </a:pPr>
            <a:r>
              <a:t>Governed multiple parallel UI sub-applications serving venue operators, technicians, and broadcast controllers. Awarded multiple Certificates of Excellence by UST Global (2015, 2016, 2018) for client-first commitment and outstanding delivery.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Maheshchandra Hegde · Technical Work Experience Presentation | Slide 5 of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ThoughtFocus Technologies: Aftermarket Parts 3D Explorer &amp; Enterprise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5120640" cy="4892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300" b="1">
                <a:solidFill>
                  <a:srgbClr val="0F172A"/>
                </a:solidFill>
              </a:defRPr>
            </a:pPr>
            <a:r>
              <a:t>Aftermarket Parts Explorer</a:t>
            </a:r>
          </a:p>
          <a:p>
            <a:pPr>
              <a:spcAft>
                <a:spcPts val="1400"/>
              </a:spcAft>
              <a:defRPr sz="1300" b="1">
                <a:solidFill>
                  <a:srgbClr val="0E7490"/>
                </a:solidFill>
              </a:defRPr>
            </a:pPr>
            <a:r>
              <a:t>UI Architect &amp; Tech Lead | Oct 2011 – Mar 2014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Platform Scope: </a:t>
            </a:r>
            <a:r>
              <a:rPr b="0" sz="1200">
                <a:solidFill>
                  <a:srgbClr val="475569"/>
                </a:solidFill>
              </a:rPr>
              <a:t>Massive parts marketplace serving aftermarket automotive &amp; industrial parts vendors and buyers.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Scale &amp; Catalog: </a:t>
            </a:r>
            <a:r>
              <a:rPr b="0" sz="1200">
                <a:solidFill>
                  <a:srgbClr val="475569"/>
                </a:solidFill>
              </a:rPr>
              <a:t>Supported millions of parts across hundreds of manufacturer catalogs with deep search capabilities.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Interactive 3D Viewer: </a:t>
            </a:r>
            <a:r>
              <a:rPr b="0" sz="1200">
                <a:solidFill>
                  <a:srgbClr val="475569"/>
                </a:solidFill>
              </a:rPr>
              <a:t>Architected an interactive 3D interface allowing buyers to inspect 3D models and dimensions of thousands of components before purchase.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Full E-Commerce Flow: </a:t>
            </a:r>
            <a:r>
              <a:rPr b="0" sz="1200">
                <a:solidFill>
                  <a:srgbClr val="475569"/>
                </a:solidFill>
              </a:rPr>
              <a:t>Integrated shopping cart, quotation workflows, and secure payment gateway integrations.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Technologies Used: </a:t>
            </a:r>
            <a:r>
              <a:rPr b="0" sz="1200">
                <a:solidFill>
                  <a:srgbClr val="475569"/>
                </a:solidFill>
              </a:rPr>
              <a:t>Adobe Flex, ActionScript, Mate architectural framework, HTML, CSS, and backend data services.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89888"/>
            <a:ext cx="5120640" cy="4892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300" b="1">
                <a:solidFill>
                  <a:srgbClr val="0F172A"/>
                </a:solidFill>
              </a:defRPr>
            </a:pPr>
            <a:r>
              <a:t>Enterprise UI Solutions</a:t>
            </a:r>
          </a:p>
          <a:p>
            <a:pPr>
              <a:spcAft>
                <a:spcPts val="1400"/>
              </a:spcAft>
              <a:defRPr sz="1300" b="1">
                <a:solidFill>
                  <a:srgbClr val="0284C7"/>
                </a:solidFill>
              </a:defRPr>
            </a:pPr>
            <a:r>
              <a:t>Prototyping &amp; Multi-Client Solutions Delivery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Design-to-Code Pipeline: </a:t>
            </a:r>
            <a:r>
              <a:rPr b="0" sz="1200">
                <a:solidFill>
                  <a:srgbClr val="475569"/>
                </a:solidFill>
              </a:rPr>
              <a:t>Established an early user involvement process—validating concepts with interactive mockups and prototypes prior to delivery.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Enterprise Search App: </a:t>
            </a:r>
            <a:r>
              <a:rPr b="0" sz="1200">
                <a:solidFill>
                  <a:srgbClr val="475569"/>
                </a:solidFill>
              </a:rPr>
              <a:t>Guided team to design and bootstrap a high-speed enterprise search application with advanced filtering and metadata indexing.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Dairy / Milk Corporation App: </a:t>
            </a:r>
            <a:r>
              <a:rPr b="0" sz="1200">
                <a:solidFill>
                  <a:srgbClr val="475569"/>
                </a:solidFill>
              </a:rPr>
              <a:t>Led the architecture and delivery of an operational management application for a large milk corporation handling distribution and supply logistics.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Technology Stack: </a:t>
            </a:r>
            <a:r>
              <a:rPr b="0" sz="1200">
                <a:solidFill>
                  <a:srgbClr val="475569"/>
                </a:solidFill>
              </a:rPr>
              <a:t>HTML, CSS, JavaScript, TypeScript, Adobe Flex, Flash, and early Single-Page Application patterns.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Mentorship &amp; Guidance: </a:t>
            </a:r>
            <a:r>
              <a:rPr b="0" sz="1200">
                <a:solidFill>
                  <a:srgbClr val="475569"/>
                </a:solidFill>
              </a:rPr>
              <a:t>Coached junior engineers on clean modular UI architecture and user-centered design standards.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Maheshchandra Hegde · Technical Work Experience Presentation | Slide 6 of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Cisco &amp; Vodafone BMS Dashboards &amp; Technoyana Specialized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5120640" cy="4892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300" b="1">
                <a:solidFill>
                  <a:srgbClr val="0F172A"/>
                </a:solidFill>
              </a:defRPr>
            </a:pPr>
            <a:r>
              <a:t>Cisco &amp; Vodafone Dashboards</a:t>
            </a:r>
          </a:p>
          <a:p>
            <a:pPr>
              <a:spcAft>
                <a:spcPts val="1400"/>
              </a:spcAft>
              <a:defRPr sz="1300" b="1">
                <a:solidFill>
                  <a:srgbClr val="0E7490"/>
                </a:solidFill>
              </a:defRPr>
            </a:pPr>
            <a:r>
              <a:t>Building Management Systems (BMS) Unified Interface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Facility Dashboard at Cisco: </a:t>
            </a:r>
            <a:r>
              <a:rPr b="0" sz="1200">
                <a:solidFill>
                  <a:srgbClr val="475569"/>
                </a:solidFill>
              </a:rPr>
              <a:t>Designed and developed an interactive facility dashboard at Cisco Systems campus as a full-time consultant (2009–2010).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Unified BMS Control: </a:t>
            </a:r>
            <a:r>
              <a:rPr b="0" sz="1200">
                <a:solidFill>
                  <a:srgbClr val="475569"/>
                </a:solidFill>
              </a:rPr>
              <a:t>Connected to and visualized diverse Building Management Systems: Air Handling Units (AHUs), Variable Refrigerant Volume (VRVs), industrial chillers, and power meters.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Environmental Telemetry: </a:t>
            </a:r>
            <a:r>
              <a:rPr b="0" sz="1200">
                <a:solidFill>
                  <a:srgbClr val="475569"/>
                </a:solidFill>
              </a:rPr>
              <a:t>Provided facility managers with real-time operational status, thermal mapping, energy consumption, and alarm thresholds.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Formal Cisco Recognition: </a:t>
            </a:r>
            <a:r>
              <a:rPr b="0" sz="1200">
                <a:solidFill>
                  <a:srgbClr val="475569"/>
                </a:solidFill>
              </a:rPr>
              <a:t>Received official Certificate of Appreciation from Cisco leadership in 2010 for outstanding visualization and operational utility.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Vodafone Solutions: </a:t>
            </a:r>
            <a:r>
              <a:rPr b="0" sz="1200">
                <a:solidFill>
                  <a:srgbClr val="475569"/>
                </a:solidFill>
              </a:rPr>
              <a:t>Delivered specialized data visualization dashboards for Vodafone operations to monitor network and facility metrics.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89888"/>
            <a:ext cx="5120640" cy="4892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300" b="1">
                <a:solidFill>
                  <a:srgbClr val="0F172A"/>
                </a:solidFill>
              </a:defRPr>
            </a:pPr>
            <a:r>
              <a:t>Specialized Engineering Projects</a:t>
            </a:r>
          </a:p>
          <a:p>
            <a:pPr>
              <a:spcAft>
                <a:spcPts val="1400"/>
              </a:spcAft>
              <a:defRPr sz="1300" b="1">
                <a:solidFill>
                  <a:srgbClr val="0284C7"/>
                </a:solidFill>
              </a:defRPr>
            </a:pPr>
            <a:r>
              <a:t>CAD/CAM, CNC, 3D Visualization &amp; Mobile Products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Architectural Visualization: </a:t>
            </a:r>
            <a:r>
              <a:rPr b="0" sz="1200">
                <a:solidFill>
                  <a:srgbClr val="475569"/>
                </a:solidFill>
              </a:rPr>
              <a:t>Delivered multiple architectural 3D visualizations, spatial renderings, and walkthroughs for commercial and real estate projects.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CAD/CAM &amp; CNC Development: </a:t>
            </a:r>
            <a:r>
              <a:rPr b="0" sz="1200">
                <a:solidFill>
                  <a:srgbClr val="475569"/>
                </a:solidFill>
              </a:rPr>
              <a:t>Led customized CNC machine development and automated CAD/CAM toolpath pipelines, bridging physical fabrication with digital software.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SellAny Mobile Marketplace: </a:t>
            </a:r>
            <a:r>
              <a:rPr b="0" sz="1200">
                <a:solidFill>
                  <a:srgbClr val="475569"/>
                </a:solidFill>
              </a:rPr>
              <a:t>Built and launched 'SellAny'—a consumer mobile application allowing users to list and sell items effortlessly.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Payment Parking Mobile App: </a:t>
            </a:r>
            <a:r>
              <a:rPr b="0" sz="1200">
                <a:solidFill>
                  <a:srgbClr val="475569"/>
                </a:solidFill>
              </a:rPr>
              <a:t>Led an engineering team to develop an automated parking payment mobile application with real-time slot occupancy tracking.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Maheshchandra Hegde · Technical Work Experience Presentation | Slide 7 of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CAE Simulation Technologies: Flight Simulation Visual Databases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5120640" cy="4892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300" b="1">
                <a:solidFill>
                  <a:srgbClr val="0F172A"/>
                </a:solidFill>
              </a:defRPr>
            </a:pPr>
            <a:r>
              <a:t>CAE Flight Simulation Systems</a:t>
            </a:r>
          </a:p>
          <a:p>
            <a:pPr>
              <a:spcAft>
                <a:spcPts val="1400"/>
              </a:spcAft>
              <a:defRPr sz="1300" b="1">
                <a:solidFill>
                  <a:srgbClr val="0E7490"/>
                </a:solidFill>
              </a:defRPr>
            </a:pPr>
            <a:r>
              <a:t>Visual Database Developer | Sep 2007 – Apr 2008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Company Profile: </a:t>
            </a:r>
            <a:r>
              <a:rPr b="0" sz="1200">
                <a:solidFill>
                  <a:srgbClr val="475569"/>
                </a:solidFill>
              </a:rPr>
              <a:t>CAE (Canadian Aeronautical Engineering) — world leader in high-fidelity civil aviation and military aircraft flight simulation training devices.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Visual Database Engineering: </a:t>
            </a:r>
            <a:r>
              <a:rPr b="0" sz="1200">
                <a:solidFill>
                  <a:srgbClr val="475569"/>
                </a:solidFill>
              </a:rPr>
              <a:t>Focused on the design, modeling, and generation of comprehensive visual databases that power real-time full flight simulators (FFS).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Synthetic World Creation: </a:t>
            </a:r>
            <a:r>
              <a:rPr b="0" sz="1200">
                <a:solidFill>
                  <a:srgbClr val="475569"/>
                </a:solidFill>
              </a:rPr>
              <a:t>Constructed accurate, high-fidelity 3D synthetic environments including runways, airport terminals, terrain elevation, navigation lighting, and approach corridors.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Structural &amp; Coordinate Precision: </a:t>
            </a:r>
            <a:r>
              <a:rPr b="0" sz="1200">
                <a:solidFill>
                  <a:srgbClr val="475569"/>
                </a:solidFill>
              </a:rPr>
              <a:t>Fed precise 3D visual, topographical, and structural collision details into databases calibrated to real-world GIS coordinates.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Civil &amp; Military Applications: </a:t>
            </a:r>
            <a:r>
              <a:rPr b="0" sz="1200">
                <a:solidFill>
                  <a:srgbClr val="475569"/>
                </a:solidFill>
              </a:rPr>
              <a:t>Supported pilot training simulators for major commercial airliners as well as defense tactical training aircraft.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89888"/>
            <a:ext cx="5120640" cy="4892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300" b="1">
                <a:solidFill>
                  <a:srgbClr val="0F172A"/>
                </a:solidFill>
              </a:defRPr>
            </a:pPr>
            <a:r>
              <a:t>3D Modeling, Texturing &amp; Performance</a:t>
            </a:r>
          </a:p>
          <a:p>
            <a:pPr>
              <a:spcAft>
                <a:spcPts val="1400"/>
              </a:spcAft>
              <a:defRPr sz="1300" b="1">
                <a:solidFill>
                  <a:srgbClr val="0284C7"/>
                </a:solidFill>
              </a:defRPr>
            </a:pPr>
            <a:r>
              <a:t>Photorealistic Texture Generation &amp; Locked 60 FPS Budgets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3D Modeling &amp; Environment: </a:t>
            </a:r>
            <a:r>
              <a:rPr b="0" sz="1200">
                <a:solidFill>
                  <a:srgbClr val="475569"/>
                </a:solidFill>
              </a:rPr>
              <a:t>Created detailed 3D models of aircraft structures, ground support vehicles, building structures, and regional geographic landmarks.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Photoshop Texture Pipelines: </a:t>
            </a:r>
            <a:r>
              <a:rPr b="0" sz="1200">
                <a:solidFill>
                  <a:srgbClr val="475569"/>
                </a:solidFill>
              </a:rPr>
              <a:t>Generated realistic multi-layer textures using Adobe Photoshop, including satellite imagery alignment, seasonal variants, and night-vision/illumination maps.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Locked 60 FPS Real-Time Budgets: </a:t>
            </a:r>
            <a:r>
              <a:rPr b="0" sz="1200">
                <a:solidFill>
                  <a:srgbClr val="475569"/>
                </a:solidFill>
              </a:rPr>
              <a:t>Engineered all 3D assets under strict polygon limits and Level of Detail (LOD) hierarchies to guarantee zero-latency 60 FPS simulator performance.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Pure Visual &amp; Design Craft: </a:t>
            </a:r>
            <a:r>
              <a:rPr b="0" sz="1200">
                <a:solidFill>
                  <a:srgbClr val="475569"/>
                </a:solidFill>
              </a:rPr>
              <a:t>Specialized design role bridging artistic 3D visualization, photorealistic texturing, and rigorous database integration.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0F172A"/>
                </a:solidFill>
              </a:rPr>
              <a:t>•  Foundational 3D Discipline: </a:t>
            </a:r>
            <a:r>
              <a:rPr b="0" sz="1200">
                <a:solidFill>
                  <a:srgbClr val="475569"/>
                </a:solidFill>
              </a:rPr>
              <a:t>This early career experience in simulation systems established the deep graphics and spatial computing expertise that later led to Voxelforge AI and Ayam3d.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Maheshchandra Hegde · Technical Work Experience Presentation | Slide 8 of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Comprehensive Skillset Matrix Across 18+ Years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512064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0284C7"/>
                </a:solidFill>
              </a:defRPr>
            </a:pPr>
            <a:r>
              <a:t>1. Scalable Frontend &amp; Modular Architecture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 React, Angular, TypeScript, JavaScript, Node.js, Web Components (LitElement).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 Architected Enterprise UI Design Systems used across diverse development teams.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 State management, micro-frontends, REST, WebSockets, and streaming telemetry.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 4-year zero-downtime migration of Cisco Stadium Vision from Flash/Flex to Angular/React.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89888"/>
            <a:ext cx="512064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0E7490"/>
                </a:solidFill>
              </a:defRPr>
            </a:pPr>
            <a:r>
              <a:t>2. Spatial 3D, CAD &amp; Generative AI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 Voxelforge AI (generative modular 3D for Unreal/Unity/WebGL) &amp; Ayam3d (parametric 3D).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 Architectural 3D visualization, animated walkthroughs, and CAD/CAM CNC machine development.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 Flight simulator 3D terrain and aircraft databases under locked 60 FPS budgets (CAE).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 Interactive 3D parts inspection explorer supporting millions of catalog components.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13632"/>
            <a:ext cx="512064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D97706"/>
                </a:solidFill>
              </a:defRPr>
            </a:pPr>
            <a:r>
              <a:t>3. High Reliability &amp; Operational Security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 Delivered Philips ICU healthcare software meeting stringent clinical safety benchmarks.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 Strict cybersecurity enforcement: Multi-factor authentication (MFA), XSS mitigation, RBAC.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 Offline-first mobile architecture (IndexedDB/Service Workers) with conflict-free cloud sync.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 Building Management System (BMS) unified interface for AHUs, chillers, and telemetry (Cisco).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3913632"/>
            <a:ext cx="512064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109563"/>
                </a:solidFill>
              </a:defRPr>
            </a:pPr>
            <a:r>
              <a:t>4. Agile Leadership &amp; Startup Delivery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 Founder/Co-Founder: Technoyana, Twitan.com, SrushtiLabs, InnoBrik.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 Associate Project Manager at UST Global; managed cross-functional squads for Cisco.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 Early user prototyping, design-to-code pipelines, and active stakeholder governance.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 Honored with Cisco Appreciation (2010) and 3 UST Global Excellence Awards (2015, 2016, 2018).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Maheshchandra Hegde · Technical Work Experience Presentation | Slide 9 of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Major Achievements &amp;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5120640" cy="4892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50" b="1">
                <a:solidFill>
                  <a:srgbClr val="0284C7"/>
                </a:solidFill>
              </a:defRPr>
            </a:pPr>
            <a:r>
              <a:t>1. Zero-Downtime Global Stadium Platform Migration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</a:rPr>
              <a:t>•  Platform Scope: </a:t>
            </a:r>
            <a:r>
              <a:rPr b="0" sz="1200">
                <a:solidFill>
                  <a:srgbClr val="475569"/>
                </a:solidFill>
              </a:rPr>
              <a:t>Modernized Cisco Stadium Vision Director deployed at international sporting arenas worldwide across a 4-year dedicated tenure.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</a:rPr>
              <a:t>•  Engineering Mandate: </a:t>
            </a:r>
            <a:r>
              <a:rPr b="0" sz="1200">
                <a:solidFill>
                  <a:srgbClr val="475569"/>
                </a:solidFill>
              </a:rPr>
              <a:t>Led the phased migration from legacy Adobe Flash/Flex to modern Angular and React without a single minute of venue downtime.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</a:rPr>
              <a:t>•  Operational Excellence: </a:t>
            </a:r>
            <a:r>
              <a:rPr b="0" sz="1200">
                <a:solidFill>
                  <a:srgbClr val="475569"/>
                </a:solidFill>
              </a:rPr>
              <a:t>Maintained live broadcast reliability and client workflows across dozens of active sub-applications.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</a:rPr>
              <a:t>•  Industry Honors: </a:t>
            </a:r>
            <a:r>
              <a:rPr b="0" sz="1200">
                <a:solidFill>
                  <a:srgbClr val="475569"/>
                </a:solidFill>
              </a:rPr>
              <a:t>Awarded 3 consecutive UST Global Excellence Awards (2015, 2016, 2018) for exceptional delivery and client commitment.</a:t>
            </a:r>
          </a:p>
          <a:p>
            <a:pPr>
              <a:spcAft>
                <a:spcPts val="400"/>
              </a:spcAft>
              <a:defRPr sz="1550" b="1">
                <a:solidFill>
                  <a:srgbClr val="0E7490"/>
                </a:solidFill>
              </a:defRPr>
            </a:pPr>
            <a:r>
              <a:t>2. Healthcare-Grade ICU Software Delivery (Philips)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</a:rPr>
              <a:t>•  Clinical Mandate: </a:t>
            </a:r>
            <a:r>
              <a:rPr b="0" sz="1200">
                <a:solidFill>
                  <a:srgbClr val="475569"/>
                </a:solidFill>
              </a:rPr>
              <a:t>Delivered web-tier software for Philips Intellispace Critical Care &amp; Anesthesia (ICCA) operating in 24/7 ICU suites.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</a:rPr>
              <a:t>•  Stringent Standards: </a:t>
            </a:r>
            <a:r>
              <a:rPr b="0" sz="1200">
                <a:solidFill>
                  <a:srgbClr val="475569"/>
                </a:solidFill>
              </a:rPr>
              <a:t>Passed demanding hospital quality, safety, and zero-leak reliability benchmarks for mission-critical bedside monitoring.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</a:rPr>
              <a:t>•  Enterprise Security: </a:t>
            </a:r>
            <a:r>
              <a:rPr b="0" sz="1200">
                <a:solidFill>
                  <a:srgbClr val="475569"/>
                </a:solidFill>
              </a:rPr>
              <a:t>Enforced Multi-Factor Authentication (MFA), role-based access control (RBAC), and strict patient data protection policies.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89888"/>
            <a:ext cx="5120640" cy="4892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50" b="1">
                <a:solidFill>
                  <a:srgbClr val="D97706"/>
                </a:solidFill>
              </a:defRPr>
            </a:pPr>
            <a:r>
              <a:t>3. Generative 3D Asset &amp; Spatial AI Commercialization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</a:rPr>
              <a:t>•  Product Innovation: </a:t>
            </a:r>
            <a:r>
              <a:rPr b="0" sz="1200">
                <a:solidFill>
                  <a:srgbClr val="475569"/>
                </a:solidFill>
              </a:rPr>
              <a:t>Founded and launched Voxelforge AI (srushtilabs.com/voxelforge/), generating modular 3D assets from natural language.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</a:rPr>
              <a:t>•  Game-Ready Bundles: </a:t>
            </a:r>
            <a:r>
              <a:rPr b="0" sz="1200">
                <a:solidFill>
                  <a:srgbClr val="475569"/>
                </a:solidFill>
              </a:rPr>
              <a:t>Automated geometry synthesis, texture baking, and polygon reduction for instant Unreal Engine, Unity, and WebGL integration.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</a:rPr>
              <a:t>•  Parametric AI (Ayam3d): </a:t>
            </a:r>
            <a:r>
              <a:rPr b="0" sz="1200">
                <a:solidFill>
                  <a:srgbClr val="475569"/>
                </a:solidFill>
              </a:rPr>
              <a:t>Developed Ayam3d (ayam3d.in) for parametric 3D generation in seconds, earning early investor interest and partner validation.</a:t>
            </a:r>
          </a:p>
          <a:p>
            <a:pPr>
              <a:spcAft>
                <a:spcPts val="400"/>
              </a:spcAft>
              <a:defRPr sz="1550" b="1">
                <a:solidFill>
                  <a:srgbClr val="109563"/>
                </a:solidFill>
              </a:defRPr>
            </a:pPr>
            <a:r>
              <a:t>4. Enterprise UI Design System &amp; BMS Facility Control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</a:rPr>
              <a:t>•  Design System (Moonraft): </a:t>
            </a:r>
            <a:r>
              <a:rPr b="0" sz="1200">
                <a:solidFill>
                  <a:srgbClr val="475569"/>
                </a:solidFill>
              </a:rPr>
              <a:t>Engineered centralized Web Components design system (LitElement, React, Angular) eliminating duplicated effort across project teams.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</a:rPr>
              <a:t>•  Cisco Facility Dashboard: </a:t>
            </a:r>
            <a:r>
              <a:rPr b="0" sz="1200">
                <a:solidFill>
                  <a:srgbClr val="475569"/>
                </a:solidFill>
              </a:rPr>
              <a:t>Delivered unified BMS dashboard for AHUs, chillers, and power telemetry; awarded Cisco Certificate of Appreciation (2010).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</a:rPr>
              <a:t>•  Aftermarket 3D Explorer: </a:t>
            </a:r>
            <a:r>
              <a:rPr b="0" sz="1200">
                <a:solidFill>
                  <a:srgbClr val="475569"/>
                </a:solidFill>
              </a:rPr>
              <a:t>Architected interactive 3D parts explorer at ThoughtFocus supporting millions of catalog components and e-commerce flows.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Maheshchandra Hegde · Technical Work Experience Presentation | Slide 10 of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Challenges Faced &amp; Resolutions Implemented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5120640" cy="4892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50" b="1">
                <a:solidFill>
                  <a:srgbClr val="0284C7"/>
                </a:solidFill>
              </a:defRPr>
            </a:pPr>
            <a:r>
              <a:t>Challenge 1: Zero-Downtime Migration of Global Legacy Platform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 The Challenge: </a:t>
            </a:r>
            <a:r>
              <a:rPr b="0" sz="1200">
                <a:solidFill>
                  <a:srgbClr val="475569"/>
                </a:solidFill>
              </a:rPr>
              <a:t>Cisco Stadium Vision Director was built on deprecated Adobe Flash/Flex with extensive business logic serving global arenas. Upgrading risked operational downtime and customer disruption.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 Resolution Implemented: </a:t>
            </a:r>
            <a:r>
              <a:rPr b="0" sz="1200">
                <a:solidFill>
                  <a:srgbClr val="475569"/>
                </a:solidFill>
              </a:rPr>
              <a:t>Architected a hybrid micro-frontend bridge allowing new Angular and React modules to communicate with legacy Flex components via a shared event bus. Migrated sub-apps incrementally with zero downtime.</a:t>
            </a:r>
          </a:p>
          <a:p>
            <a:pPr>
              <a:spcAft>
                <a:spcPts val="400"/>
              </a:spcAft>
              <a:defRPr sz="1550" b="1">
                <a:solidFill>
                  <a:srgbClr val="0E7490"/>
                </a:solidFill>
              </a:defRPr>
            </a:pPr>
            <a:r>
              <a:t>Challenge 2: 24/7 Clinical Bedside Memory Stability &amp; Security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 The Challenge: </a:t>
            </a:r>
            <a:r>
              <a:rPr b="0" sz="1200">
                <a:solidFill>
                  <a:srgbClr val="475569"/>
                </a:solidFill>
              </a:rPr>
              <a:t>Philips ICU software operates non-stop for days. Memory leaks or UI freezes in bedside patient monitoring could lead to catastrophic clinical outcomes, amidst strict HIPAA/cybersecurity rules.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 Resolution Implemented: </a:t>
            </a:r>
            <a:r>
              <a:rPr b="0" sz="1200">
                <a:solidFill>
                  <a:srgbClr val="475569"/>
                </a:solidFill>
              </a:rPr>
              <a:t>Enforced strict browser profiling, deterministic lifecycle cleanup on unmount, virtualized rendering for dense telemetry streams, and institutionalized MFA/RBAC security policies.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89888"/>
            <a:ext cx="5120640" cy="4892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50" b="1">
                <a:solidFill>
                  <a:srgbClr val="109563"/>
                </a:solidFill>
              </a:defRPr>
            </a:pPr>
            <a:r>
              <a:t>Challenge 4: Generative 3D Mesh Complexity &amp; Performance Lag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 The Challenge: </a:t>
            </a:r>
            <a:r>
              <a:rPr b="0" sz="1200">
                <a:solidFill>
                  <a:srgbClr val="475569"/>
                </a:solidFill>
              </a:rPr>
              <a:t>Different project teams at Moonraft / UST were independently building common UI widgets across React and Angular, leading to visual inconsistency, duplicated effort, and slower client delivery.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 Resolution Implemented: </a:t>
            </a:r>
            <a:r>
              <a:rPr b="0" sz="1200">
                <a:solidFill>
                  <a:srgbClr val="475569"/>
                </a:solidFill>
              </a:rPr>
              <a:t>Architected an enterprise-wide UI Design System using LitElement Web Components packaged via npm. Teams across any frontend framework seamlessly consumed identical, standardized components from one repo.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 The Challenge: </a:t>
            </a:r>
            <a:r>
              <a:rPr b="0" sz="1200">
                <a:solidFill>
                  <a:srgbClr val="475569"/>
                </a:solidFill>
              </a:rPr>
              <a:t>Raw AI-generated 3D meshes produced disorganized vertex topology and massive polygon counts that crashed WebGL browsers and caused severe frame drops in gaming engines.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 Resolution Implemented: </a:t>
            </a:r>
            <a:r>
              <a:rPr b="0" sz="1200">
                <a:solidFill>
                  <a:srgbClr val="475569"/>
                </a:solidFill>
              </a:rPr>
              <a:t>Engineered automated post-processing pipelines for polygon decimation, procedural retopology, UV unwrapping, and texture baking—generating optimized, lightweight 3D models instantly.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Maheshchandra Hegde · Technical Work Experience Presentation | Slide 11 of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Lessons Learned &amp; Best Practices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5120640" cy="4892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50" b="1">
                <a:solidFill>
                  <a:srgbClr val="0284C7"/>
                </a:solidFill>
              </a:defRPr>
            </a:pPr>
            <a:r>
              <a:t>1. Incremental Modernization Outperforms 'Big-Bang' Rewrites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 Lesson Learned: </a:t>
            </a:r>
            <a:r>
              <a:rPr b="0" sz="1200">
                <a:solidFill>
                  <a:srgbClr val="475569"/>
                </a:solidFill>
              </a:rPr>
              <a:t>Complete system rewrites carry high risk, long delay cycles, and potential customer rejection. Incremental migration allows continuous production value delivery.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 Best Practice: </a:t>
            </a:r>
            <a:r>
              <a:rPr b="0" sz="1200">
                <a:solidFill>
                  <a:srgbClr val="475569"/>
                </a:solidFill>
              </a:rPr>
              <a:t>Use strangler-fig patterns, modular micro-frontends, and backward-compatible APIs to modernize enterprise platforms step-by-step while maintaining uninterrupted business operations.</a:t>
            </a:r>
          </a:p>
          <a:p>
            <a:pPr>
              <a:spcAft>
                <a:spcPts val="400"/>
              </a:spcAft>
              <a:defRPr sz="1550" b="1">
                <a:solidFill>
                  <a:srgbClr val="0E7490"/>
                </a:solidFill>
              </a:defRPr>
            </a:pPr>
            <a:r>
              <a:t>2. Security &amp; Compliance Must Be Architected from Day Zero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 Lesson Learned: </a:t>
            </a:r>
            <a:r>
              <a:rPr b="0" sz="1200">
                <a:solidFill>
                  <a:srgbClr val="475569"/>
                </a:solidFill>
              </a:rPr>
              <a:t>Retrofitting authentication, RBAC, encryption, and audit trails into an established product is costly, disruptive, and prone to severe security vulnerabilities.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 Best Practice: </a:t>
            </a:r>
            <a:r>
              <a:rPr b="0" sz="1200">
                <a:solidFill>
                  <a:srgbClr val="475569"/>
                </a:solidFill>
              </a:rPr>
              <a:t>Embed security controls (MFA, automated dependency scanning, sanitization, role matrices) into the CI/CD pipeline from inception as standard enterprise non-negotiables.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89888"/>
            <a:ext cx="5120640" cy="4892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50" b="1">
                <a:solidFill>
                  <a:srgbClr val="D97706"/>
                </a:solidFill>
              </a:defRPr>
            </a:pPr>
            <a:r>
              <a:t>3. Centralized Design Systems Deliver Compounding ROI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 Lesson Learned: </a:t>
            </a:r>
            <a:r>
              <a:rPr b="0" sz="1200">
                <a:solidFill>
                  <a:srgbClr val="475569"/>
                </a:solidFill>
              </a:rPr>
              <a:t>Without shared component governance, engineering squads create fragmented code, brand inconsistency, and duplicate maintenance burdens across projects.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 Best Practice: </a:t>
            </a:r>
            <a:r>
              <a:rPr b="0" sz="1200">
                <a:solidFill>
                  <a:srgbClr val="475569"/>
                </a:solidFill>
              </a:rPr>
              <a:t>Treat internal design systems as first-class products with semantic versioning, comprehensive documentation, and framework-agnostic standards (Web Components).</a:t>
            </a:r>
          </a:p>
          <a:p>
            <a:pPr>
              <a:spcAft>
                <a:spcPts val="400"/>
              </a:spcAft>
              <a:defRPr sz="1550" b="1">
                <a:solidFill>
                  <a:srgbClr val="109563"/>
                </a:solidFill>
              </a:defRPr>
            </a:pPr>
            <a:r>
              <a:t>4. Early Interactive Prototyping Resolves Requirement Risk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 Lesson Learned: </a:t>
            </a:r>
            <a:r>
              <a:rPr b="0" sz="1200">
                <a:solidFill>
                  <a:srgbClr val="475569"/>
                </a:solidFill>
              </a:rPr>
              <a:t>Specification documents alone fail to capture operational nuances; misunderstandings surface late during production deployment when changes are 10x more costly.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 Best Practice: </a:t>
            </a:r>
            <a:r>
              <a:rPr b="0" sz="1200">
                <a:solidFill>
                  <a:srgbClr val="475569"/>
                </a:solidFill>
              </a:rPr>
              <a:t>Involve stakeholders and users early using clickable, interactive prototypes to validate workflows, usability, and data contracts before committing heavy backend engineering.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Maheshchandra Hegde · Technical Work Experience Presentation | Slide 12 of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Suggestions for Future Process Improvements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5120640" cy="4892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50" b="1">
                <a:solidFill>
                  <a:srgbClr val="0284C7"/>
                </a:solidFill>
              </a:defRPr>
            </a:pPr>
            <a:r>
              <a:t>1. Automated IT Governance &amp; Self-Service Developer Portals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 Objective: </a:t>
            </a:r>
            <a:r>
              <a:rPr b="0" sz="1200">
                <a:solidFill>
                  <a:srgbClr val="475569"/>
                </a:solidFill>
              </a:rPr>
              <a:t>Establish standardized internal developer platforms (IDPs) and automated infrastructure-as-code (IaC) templates for rapid, secure project spin-ups.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 Expected Benefit: </a:t>
            </a:r>
            <a:r>
              <a:rPr b="0" sz="1200">
                <a:solidFill>
                  <a:srgbClr val="475569"/>
                </a:solidFill>
              </a:rPr>
              <a:t>Cuts new system bootstrapping and environment provisioning time from weeks to hours while ensuring automated compliance with corporate security baselines.</a:t>
            </a:r>
          </a:p>
          <a:p>
            <a:pPr>
              <a:spcAft>
                <a:spcPts val="400"/>
              </a:spcAft>
              <a:defRPr sz="1550" b="1">
                <a:solidFill>
                  <a:srgbClr val="0E7490"/>
                </a:solidFill>
              </a:defRPr>
            </a:pPr>
            <a:r>
              <a:t>2. AI-Assisted Engineering Toolchains &amp; Code Quality Gates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 Objective: </a:t>
            </a:r>
            <a:r>
              <a:rPr b="0" sz="1200">
                <a:solidFill>
                  <a:srgbClr val="475569"/>
                </a:solidFill>
              </a:rPr>
              <a:t>Integrate generative AI tooling into enterprise workflows for automated unit test generation, synthetic data simulation, and design-to-code asset generation.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 Expected Benefit: </a:t>
            </a:r>
            <a:r>
              <a:rPr b="0" sz="1200">
                <a:solidFill>
                  <a:srgbClr val="475569"/>
                </a:solidFill>
              </a:rPr>
              <a:t>Boosts developer productivity by 30–40%, accelerates testing cycles, reduces boilerplate coding, and frees engineering teams to focus on strategic core 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89888"/>
            <a:ext cx="5120640" cy="4892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50" b="1">
                <a:solidFill>
                  <a:srgbClr val="D97706"/>
                </a:solidFill>
              </a:defRPr>
            </a:pPr>
            <a:r>
              <a:t>3. Unified Enterprise Telemetry &amp; Proactive Observability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 Objective: </a:t>
            </a:r>
            <a:r>
              <a:rPr b="0" sz="1200">
                <a:solidFill>
                  <a:srgbClr val="475569"/>
                </a:solidFill>
              </a:rPr>
              <a:t>Synthesize application performance monitoring (APM), network health, and facility sensor telemetry (BMS) into unified operational command dashboards.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 Expected Benefit: </a:t>
            </a:r>
            <a:r>
              <a:rPr b="0" sz="1200">
                <a:solidFill>
                  <a:srgbClr val="475569"/>
                </a:solidFill>
              </a:rPr>
              <a:t>Transforms IT operations from reactive issue response to predictive anomaly detection, preventing service degradation and minimizing system downtime.</a:t>
            </a:r>
          </a:p>
          <a:p>
            <a:pPr>
              <a:spcAft>
                <a:spcPts val="400"/>
              </a:spcAft>
              <a:defRPr sz="1550" b="1">
                <a:solidFill>
                  <a:srgbClr val="109563"/>
                </a:solidFill>
              </a:defRPr>
            </a:pPr>
            <a:r>
              <a:t>4. Structured Knowledge Sharing &amp; Continuous Upskilling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 Objective: </a:t>
            </a:r>
            <a:r>
              <a:rPr b="0" sz="1200">
                <a:solidFill>
                  <a:srgbClr val="475569"/>
                </a:solidFill>
              </a:rPr>
              <a:t>Institute regular cross-functional architecture reviews, tech talk forums, and sponsored enterprise certification tracks (Cloud, Security, ITIL, Agile).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 Expected Benefit: </a:t>
            </a:r>
            <a:r>
              <a:rPr b="0" sz="1200">
                <a:solidFill>
                  <a:srgbClr val="475569"/>
                </a:solidFill>
              </a:rPr>
              <a:t>Breaks down engineering silos, accelerates cross-pollination between teams, and ensures enterprise alignment with rapidly evolving modern industry standards.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Maheshchandra Hegde · Technical Work Experience Presentation | Slide 13 of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728655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10728655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b="1" sz="1400">
                <a:solidFill>
                  <a:srgbClr val="38BDF8"/>
                </a:solidFill>
              </a:rPr>
              <a:t>✔  Design and Engineering Synthesis: </a:t>
            </a:r>
            <a:r>
              <a:rPr b="0" sz="1250">
                <a:solidFill>
                  <a:srgbClr val="E2E8F0"/>
                </a:solidFill>
              </a:rPr>
              <a:t>Holding a postgraduate degree in Human Interface Design (M.S. in Computing, UK) combined with an engineering degree in Electronics and Communication (B.E.), I bring a rare, balanced capability spanning both human-centered UX design and deep technical software architecture.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38BDF8"/>
                </a:solidFill>
              </a:rPr>
              <a:t>✔  Proven Breadth Across Startup Velocity &amp; Enterprise Scale: </a:t>
            </a:r>
            <a:r>
              <a:rPr b="0" sz="1250">
                <a:solidFill>
                  <a:srgbClr val="E2E8F0"/>
                </a:solidFill>
              </a:rPr>
              <a:t>My 18+ years of experience encompass leading agile, high-velocity startup product incubation (Technoyana, SrushtiLabs, Twitan, InnoBrik) as well as managing complex multi-year enterprise projects with stringent quality, security, and uptime mandates (Philips ICU Healthcare, Cisco Systems, UST Global, Ness).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38BDF8"/>
                </a:solidFill>
              </a:rPr>
              <a:t>✔  Handling Products Across Every Stage of the Lifecycle: </a:t>
            </a:r>
            <a:r>
              <a:rPr b="0" sz="1250">
                <a:solidFill>
                  <a:srgbClr val="E2E8F0"/>
                </a:solidFill>
              </a:rPr>
              <a:t>Demonstrated expertise across every product phase: early discovery prototypes, building reusable design systems, legacy system migrations (Flash to Angular/React), production deployment, security compliance, and long-term customer support.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38BDF8"/>
                </a:solidFill>
              </a:rPr>
              <a:t>✔  Pledge for Self-Training &amp; Certification: </a:t>
            </a:r>
            <a:r>
              <a:rPr b="0" sz="1250">
                <a:solidFill>
                  <a:srgbClr val="E2E8F0"/>
                </a:solidFill>
              </a:rPr>
              <a:t>I am fully committed to the success of the organization and team. As per the specific operational requirements of the Senior Manager – IT role, I pledge to proactively upskill myself and complete any required enterprise certifications (e.g., Cloud Architecture, ITIL, Cybersecurity, or project governance) to align completely with team goals and project needs.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Maheshchandra Hegde  |  hid.mahesh@gmail.com  |  +91 9535253329 / 7022407280  |  hegdemahesh.in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Maheshchandra Hegde · Technical Work Experience Presentation | Slide 14 of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